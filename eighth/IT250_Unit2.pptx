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Draw out the paradox (owns nothing, worth the most). Agenda: pipe vs platform → what a multi-sided platform is → how platforms create value.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Use the diagram. The key shift: a platform's suppliers are its users, so it scales without making the goods itself.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Stress interdependence and 'matching problem'. Have students name the sides of eSewa (users, banks, merchants, billers).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Trust is the underrated one — ratings let you buy from a stranger on Hamrobazar you'd never trust offline.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Cement 'users create the value' and interdependence — the foundation for network effects (S10).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Ask which messaging app everyone uses and why. Agenda: network effects &amp; positive feedback → the four types → the limits (negative network effects).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Use the loop diagram. The fax/phone example makes 'value is in the network' concrete before the four types.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Use the comparison table. TikTok is the clearest DATA network effect — every swipe trains the feed.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 Balance the winner-take-all story: Clubhouse grew fast then collapsed when the novelty and network thinned. Growth isn't destiny.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Drill the four types and the viral-vs-network distinction — both common confusions.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Ask 'if it's free, how is Google worth trillions?'. Agenda: the money side vs subsidy side → zero marginal cost &amp; scale → the chicken-and-egg launch problem.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Use the cross-subsidy diagram. Hammer: the free side is bait — it is monetised indirectly through the paying side.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Contrast with a physical business (each extra unit costs materials). This is the mechanism behind Unit 1's 'scalability' claim.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Tie to liquidity: below critical mass the platform is dead; the launch strategies exist to reach it. Pathao subsidising early drivers is the local example.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This is the deferred-economics session — make sure cross-subsidy and falling average cost land.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Ask who has considered switching a service and didn't — why not? Agenda: the flywheel (designed feedback) → five switching costs → how platforms engineer lock-in.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Use the flywheel diagram. The natural-vs-designed contrast is the exam point; the flywheel is how firms operationalise the network effect.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Walk through WhatsApp: leaving means losing groups (network), chat history (data), and relearning (effort) — three at once.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Note the tension: users benefit from multi-homing (choice, competition); platforms fight it. Nepal: drivers multi-home across Pathao/InDrive.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Nail flywheel-vs-network-effect and the five switching-cost types.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Contrast a street of many tea shops with search (one giant). Agenda: winner-take-most &amp; tipping → the six forces → market types (incl. buyer power) &amp; entry barriers.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Use the tipping S-curve. Stress the nuance: markets tip when effects + scale + lock-in are strong; otherwise they stay contested.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These are the whole unit converging — S10 (network effects), S11 (scale/marginal cost), S12 (switching costs) plus scope and data. They reinforce each other.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Monopsony is the fresh idea — Amazon as the dominant BUYER squeezing sellers; ad-space bought mostly by Google/Meta. Barriers explain why incumbents stay.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Reinforce increasing returns, the six forces, and buyer-side power (monopsony).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Complicate the 'free = harmless' intuition. Agenda: the risks → why regulation is hard + the tools → the counter-narrative (monopolies aren't inevitable).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The '30% tax' and 'buy-or-bury' are concrete harms behind 'but it's free'. Consumer welfare isn't only price.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Data portability &amp; interoperability directly attack the switching costs (S12) that create lock-in — regulation targeting the mechanism, not just the outcome.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This balances the whole unit's winner-take-all story — a hopeful, South-Asia-relevant close. ONDC ties back to regulation-as-design.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Tie regulation tools back to switching costs (S12) and end on the not-inevitable counter-narrative.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Contrast Estonia's e-government with a Nepali government queue. Agenda: what digital adoption means + the World Bank DAI (3 pillars) → the OECD DGI (6 dimensions) → Nepal's position.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Use the DAI pillar graphic. Stress adoption = usage, not access — a country can have phones but low adoption.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This is the syllabus's 'OECD digital-adoption government index'. Contrast DGI (government maturity/quality) with DAI (broad adoption across society).</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 Close the unit by connecting adoption gaps back to the fundamentals: weak business/government adoption limits the very network effects and platforms the unit studied.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Cement the DAI pillars, the DGI 'digital-by-design' idea, and Nepal's uneven position.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as a 15–20 min in-class quiz or take-home review. (No genuine IT 250 past-paper exists — built from the syllabus + the in-lecture recap activity.)</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Consolidated quiz Section A.</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Consolidated quiz Sections B–D. Model answers on the concept slides and in Unit2_material.md.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3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4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2B4A"/>
        </a:solidFill>
        <a:effectLst/>
      </p:bgPr>
    </p:bg>
    <p:spTree>
      <p:nvGrpSpPr>
        <p:cNvPr id="1" name=""/>
        <p:cNvGrpSpPr/>
        <p:nvPr/>
      </p:nvGrpSpPr>
      <p:grpSpPr/>
      <p:sp>
        <p:nvSpPr>
          <p:cNvPr id="2" name="Rectangle 1"/>
          <p:cNvSpPr/>
          <p:nvPr/>
        </p:nvSpPr>
        <p:spPr>
          <a:xfrm>
            <a:off x="822960" y="2788920"/>
            <a:ext cx="1463040" cy="91440"/>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1005840"/>
          </a:xfrm>
          <a:prstGeom prst="rect">
            <a:avLst/>
          </a:prstGeom>
          <a:noFill/>
        </p:spPr>
        <p:txBody>
          <a:bodyPr wrap="square">
            <a:spAutoFit/>
          </a:bodyPr>
          <a:lstStyle/>
          <a:p>
            <a:r>
              <a:rPr sz="3300" b="1">
                <a:solidFill>
                  <a:srgbClr val="FFFFFF"/>
                </a:solidFill>
              </a:rPr>
              <a:t>Unit 2 — Fundamentals of the Digital Economy</a:t>
            </a:r>
          </a:p>
        </p:txBody>
      </p:sp>
      <p:sp>
        <p:nvSpPr>
          <p:cNvPr id="4" name="TextBox 3"/>
          <p:cNvSpPr txBox="1"/>
          <p:nvPr/>
        </p:nvSpPr>
        <p:spPr>
          <a:xfrm>
            <a:off x="822960" y="3017520"/>
            <a:ext cx="10515600" cy="1097280"/>
          </a:xfrm>
          <a:prstGeom prst="rect">
            <a:avLst/>
          </a:prstGeom>
          <a:noFill/>
        </p:spPr>
        <p:txBody>
          <a:bodyPr wrap="square">
            <a:spAutoFit/>
          </a:bodyPr>
          <a:lstStyle/>
          <a:p>
            <a:r>
              <a:rPr sz="1800">
                <a:solidFill>
                  <a:srgbClr val="CFDDEA"/>
                </a:solidFill>
              </a:rPr>
              <a:t>IT 250: Digital Economy  ·  BIM 8th Semester  ·  Sessions S9–S15 (7 lecture hours)</a:t>
            </a:r>
          </a:p>
        </p:txBody>
      </p:sp>
      <p:sp>
        <p:nvSpPr>
          <p:cNvPr id="5" name="TextBox 4"/>
          <p:cNvSpPr txBox="1"/>
          <p:nvPr/>
        </p:nvSpPr>
        <p:spPr>
          <a:xfrm>
            <a:off x="822960" y="5852160"/>
            <a:ext cx="10515600" cy="731520"/>
          </a:xfrm>
          <a:prstGeom prst="rect">
            <a:avLst/>
          </a:prstGeom>
          <a:noFill/>
        </p:spPr>
        <p:txBody>
          <a:bodyPr wrap="square">
            <a:spAutoFit/>
          </a:bodyPr>
          <a:lstStyle/>
          <a:p>
            <a:r>
              <a:rPr sz="1300">
                <a:solidFill>
                  <a:srgbClr val="9AB2C6"/>
                </a:solidFill>
              </a:rPr>
              <a:t>Self-contained slides with depth: every concept grounded in comparison &amp; concrete-example TABLES (Nepal-localised) — no abstraction without instances. Exports to PDF with no information lost.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 / 100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FUNDAMENTALS  ·  S9–S15</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Unit 2 — Learning Outcomes</a:t>
            </a:r>
          </a:p>
        </p:txBody>
      </p:sp>
      <p:sp>
        <p:nvSpPr>
          <p:cNvPr id="5" name="TextBox 4"/>
          <p:cNvSpPr txBox="1"/>
          <p:nvPr/>
        </p:nvSpPr>
        <p:spPr>
          <a:xfrm>
            <a:off x="640080" y="1600200"/>
            <a:ext cx="10972800" cy="4206240"/>
          </a:xfrm>
          <a:prstGeom prst="rect">
            <a:avLst/>
          </a:prstGeom>
          <a:noFill/>
        </p:spPr>
        <p:txBody>
          <a:bodyPr wrap="square">
            <a:spAutoFit/>
          </a:bodyPr>
          <a:lstStyle/>
          <a:p>
            <a:pPr>
              <a:spcAft>
                <a:spcPts val="800"/>
              </a:spcAft>
            </a:pPr>
            <a:r>
              <a:rPr sz="1600" b="1">
                <a:solidFill>
                  <a:srgbClr val="0C2B4A"/>
                </a:solidFill>
              </a:rPr>
              <a:t>By the end of this unit, you will be able to:</a:t>
            </a:r>
          </a:p>
          <a:p>
            <a:pPr>
              <a:spcAft>
                <a:spcPts val="500"/>
              </a:spcAft>
            </a:pPr>
            <a:r>
              <a:rPr sz="1450">
                <a:solidFill>
                  <a:srgbClr val="1A1A1A"/>
                </a:solidFill>
              </a:rPr>
              <a:t>•  Distinguish a platform business from a traditional (pipe) business and define a multi-sided platform (S9)</a:t>
            </a:r>
          </a:p>
          <a:p>
            <a:pPr>
              <a:spcAft>
                <a:spcPts val="500"/>
              </a:spcAft>
            </a:pPr>
            <a:r>
              <a:rPr sz="1450">
                <a:solidFill>
                  <a:srgbClr val="1A1A1A"/>
                </a:solidFill>
              </a:rPr>
              <a:t>•  Explain network effects (direct, indirect, data, standard) and positive feedback, and their limits (S10)</a:t>
            </a:r>
          </a:p>
          <a:p>
            <a:pPr>
              <a:spcAft>
                <a:spcPts val="500"/>
              </a:spcAft>
            </a:pPr>
            <a:r>
              <a:rPr sz="1450">
                <a:solidFill>
                  <a:srgbClr val="1A1A1A"/>
                </a:solidFill>
              </a:rPr>
              <a:t>•  Explain two-sided pricing — cross-subsidy, the money side vs the subsidy side, why one side is free (S11)</a:t>
            </a:r>
          </a:p>
          <a:p>
            <a:pPr>
              <a:spcAft>
                <a:spcPts val="500"/>
              </a:spcAft>
            </a:pPr>
            <a:r>
              <a:rPr sz="1450">
                <a:solidFill>
                  <a:srgbClr val="1A1A1A"/>
                </a:solidFill>
              </a:rPr>
              <a:t>•  Explain lock-in and switching costs (five types), the flywheel, and multi-homing (S12)</a:t>
            </a:r>
          </a:p>
          <a:p>
            <a:pPr>
              <a:spcAft>
                <a:spcPts val="500"/>
              </a:spcAft>
            </a:pPr>
            <a:r>
              <a:rPr sz="1450">
                <a:solidFill>
                  <a:srgbClr val="1A1A1A"/>
                </a:solidFill>
              </a:rPr>
              <a:t>•  Explain how digital monopolies form (the six forces, tipping), their risks, and how they are regulated (S13–S14)</a:t>
            </a:r>
          </a:p>
          <a:p>
            <a:pPr>
              <a:spcAft>
                <a:spcPts val="500"/>
              </a:spcAft>
            </a:pPr>
            <a:r>
              <a:rPr sz="1450">
                <a:solidFill>
                  <a:srgbClr val="1A1A1A"/>
                </a:solidFill>
              </a:rPr>
              <a:t>•  Describe the World Bank DAI (3 pillars) &amp; OECD DGI (6 dimensions) and assess Nepal's position (S15)</a:t>
            </a:r>
          </a:p>
        </p:txBody>
      </p:sp>
      <p:sp>
        <p:nvSpPr>
          <p:cNvPr id="6" name="Rounded Rectangle 5"/>
          <p:cNvSpPr/>
          <p:nvPr/>
        </p:nvSpPr>
        <p:spPr>
          <a:xfrm>
            <a:off x="640080" y="5806440"/>
            <a:ext cx="10972800" cy="77724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Course context</a:t>
            </a:r>
          </a:p>
          <a:p>
            <a:pPr>
              <a:spcBef>
                <a:spcPts val="300"/>
              </a:spcBef>
            </a:pPr>
            <a:r>
              <a:rPr sz="1300">
                <a:solidFill>
                  <a:srgbClr val="1A1A1A"/>
                </a:solidFill>
              </a:rPr>
              <a:t>This is Unit 2 of IT 250. It opens the 'engine room' of the digital economy: WHY platforms win, how value and prices really work in two-sided markets (the economics deferred from Unit 1), and how dominance — and the tools to check it — arise.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 / 100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2 — ROADMAP</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Where each session fits (S9–S15)</a:t>
            </a:r>
          </a:p>
        </p:txBody>
      </p:sp>
      <p:sp>
        <p:nvSpPr>
          <p:cNvPr id="5" name="Rounded Rectangle 4"/>
          <p:cNvSpPr/>
          <p:nvPr/>
        </p:nvSpPr>
        <p:spPr>
          <a:xfrm>
            <a:off x="640080" y="1645920"/>
            <a:ext cx="5349240" cy="416052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THIS UNIT  ·  S1–S5</a:t>
            </a:r>
          </a:p>
          <a:p>
            <a:pPr>
              <a:spcBef>
                <a:spcPts val="300"/>
              </a:spcBef>
            </a:pPr>
            <a:r>
              <a:rPr sz="1400">
                <a:solidFill>
                  <a:srgbClr val="1A1A1A"/>
                </a:solidFill>
              </a:rPr>
              <a:t>S9   Multi-sided platforms (pipes vs platforms)
S10  Network effects &amp; positive feedback
S11  Two-sided pricing — who pays, who's subsidised ⭐
S12  Lock-in, switching costs &amp; the flywheel
S13  Formation of monopolies (the six forces)
S14  Monopoly risks, regulation &amp; counter-cases
S15  Measuring digital adoption (DAI &amp; OECD DGI)</a:t>
            </a:r>
          </a:p>
        </p:txBody>
      </p:sp>
      <p:sp>
        <p:nvSpPr>
          <p:cNvPr id="6" name="Rounded Rectangle 5"/>
          <p:cNvSpPr/>
          <p:nvPr/>
        </p:nvSpPr>
        <p:spPr>
          <a:xfrm>
            <a:off x="6199632" y="1645920"/>
            <a:ext cx="5349240" cy="4160520"/>
          </a:xfrm>
          <a:prstGeom prst="roundRect">
            <a:avLst/>
          </a:prstGeom>
          <a:solidFill>
            <a:srgbClr val="F2F5F8"/>
          </a:solidFill>
          <a:ln w="12700">
            <a:solidFill>
              <a:srgbClr val="55606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55606B"/>
                </a:solidFill>
              </a:rPr>
              <a:t>⏭️  LATER UNITS</a:t>
            </a:r>
          </a:p>
          <a:p>
            <a:pPr>
              <a:spcBef>
                <a:spcPts val="300"/>
              </a:spcBef>
            </a:pPr>
            <a:r>
              <a:rPr sz="1400">
                <a:solidFill>
                  <a:srgbClr val="1A1A1A"/>
                </a:solidFill>
              </a:rPr>
              <a:t>Unit 1  Introduction (digital/K-economy, 4IR) — done
Unit 3  Digital markets, strategy &amp; innovation
Unit 4  Digital transformation &amp; currencies
Unit 5  Economics of information
Unit 6  Digitalization — the Nepalese perspective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 / 100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9 · LECTURE HOUR 1 (OF 7)</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Multi-Sided Platforms: Pipes vs Platforms</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Daraz owns almost no products, Pathao owns no taxis, Airbnb owns no hotels — yet each is worth more than firms that own everything they sell. How does a company that MAKES nothing become so valuable? The answer is the platform business model — the core of the modern digital economy.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4 / 100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S9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Pipe (Linear) vs Platform Business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 pipe (linear) business creates a product or service and sells it to customers — value flows one way, Business → Customer. A platform business instead connects two or more groups and lets them create value for each other — value flows in many directions. The platform does not make all the value; it makes the interactions possible.</a:t>
            </a:r>
          </a:p>
          <a:p>
            <a:pPr>
              <a:spcAft>
                <a:spcPts val="500"/>
              </a:spcAft>
            </a:pPr>
            <a:r>
              <a:rPr sz="1200" b="1">
                <a:solidFill>
                  <a:srgbClr val="185FA5"/>
                </a:solidFill>
              </a:rPr>
              <a:t>HOW IT WORKS</a:t>
            </a:r>
          </a:p>
          <a:p>
            <a:pPr>
              <a:spcAft>
                <a:spcPts val="600"/>
              </a:spcAft>
            </a:pPr>
            <a:r>
              <a:rPr sz="1400">
                <a:solidFill>
                  <a:srgbClr val="1A1A1A"/>
                </a:solidFill>
              </a:rPr>
              <a:t>•  Pipe: the firm produces the value (Netflix originals, a software licence, a factory's goods).</a:t>
            </a:r>
          </a:p>
          <a:p>
            <a:pPr>
              <a:spcAft>
                <a:spcPts val="600"/>
              </a:spcAft>
            </a:pPr>
            <a:r>
              <a:rPr sz="1400">
                <a:solidFill>
                  <a:srgbClr val="1A1A1A"/>
                </a:solidFill>
              </a:rPr>
              <a:t>•  Platform: the firm produces the MARKETPLACE; users produce the value for each other.</a:t>
            </a:r>
          </a:p>
          <a:p>
            <a:pPr>
              <a:spcAft>
                <a:spcPts val="600"/>
              </a:spcAft>
            </a:pPr>
            <a:r>
              <a:rPr sz="1400">
                <a:solidFill>
                  <a:srgbClr val="1A1A1A"/>
                </a:solidFill>
              </a:rPr>
              <a:t>•  A pipe grows by making/selling more units; a platform grows by adding more participants.</a:t>
            </a:r>
          </a:p>
          <a:p>
            <a:pPr>
              <a:spcAft>
                <a:spcPts val="600"/>
              </a:spcAft>
            </a:pPr>
            <a:r>
              <a:rPr sz="1400">
                <a:solidFill>
                  <a:srgbClr val="1A1A1A"/>
                </a:solidFill>
              </a:rPr>
              <a:t>•  Most valuable digital firms are platforms because participants — not the firm — do the producing.</a:t>
            </a:r>
          </a:p>
        </p:txBody>
      </p:sp>
      <p:pic>
        <p:nvPicPr>
          <p:cNvPr id="6" name="Picture 5" descr="s9_pipe_platform.png"/>
          <p:cNvPicPr>
            <a:picLocks noChangeAspect="1"/>
          </p:cNvPicPr>
          <p:nvPr/>
        </p:nvPicPr>
        <p:blipFill>
          <a:blip r:embed="rId2"/>
          <a:stretch>
            <a:fillRect/>
          </a:stretch>
        </p:blipFill>
        <p:spPr>
          <a:xfrm>
            <a:off x="6355080" y="2392193"/>
            <a:ext cx="5532120" cy="2850852"/>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Pipe MAKES &amp; sells value (one way); platform CONNECTS groups (many ways).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 / 100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S9 · CONCEPT 1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Pipe business vs platform business</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981739"/>
                <a:gridCol w="4141304"/>
                <a:gridCol w="4306956"/>
              </a:tblGrid>
              <a:tr h="630936">
                <a:tc>
                  <a:txBody>
                    <a:bodyPr wrap="square"/>
                    <a:lstStyle/>
                    <a:p>
                      <a:r>
                        <a:rPr sz="1150" b="1">
                          <a:solidFill>
                            <a:srgbClr val="FFFFFF"/>
                          </a:solidFill>
                        </a:rPr>
                        <a:t>Question</a:t>
                      </a:r>
                    </a:p>
                  </a:txBody>
                  <a:tcPr anchor="ctr" marL="73152" marR="54864" marT="27432" marB="27432">
                    <a:solidFill>
                      <a:srgbClr val="0C2B4A"/>
                    </a:solidFill>
                  </a:tcPr>
                </a:tc>
                <a:tc>
                  <a:txBody>
                    <a:bodyPr wrap="square"/>
                    <a:lstStyle/>
                    <a:p>
                      <a:r>
                        <a:rPr sz="1150" b="1">
                          <a:solidFill>
                            <a:srgbClr val="FFFFFF"/>
                          </a:solidFill>
                        </a:rPr>
                        <a:t>Pipe (linear) business</a:t>
                      </a:r>
                    </a:p>
                  </a:txBody>
                  <a:tcPr anchor="ctr" marL="73152" marR="54864" marT="27432" marB="27432">
                    <a:solidFill>
                      <a:srgbClr val="0C2B4A"/>
                    </a:solidFill>
                  </a:tcPr>
                </a:tc>
                <a:tc>
                  <a:txBody>
                    <a:bodyPr wrap="square"/>
                    <a:lstStyle/>
                    <a:p>
                      <a:r>
                        <a:rPr sz="1150" b="1">
                          <a:solidFill>
                            <a:srgbClr val="FFFFFF"/>
                          </a:solidFill>
                        </a:rPr>
                        <a:t>Platform business</a:t>
                      </a:r>
                    </a:p>
                  </a:txBody>
                  <a:tcPr anchor="ctr" marL="73152" marR="54864" marT="27432" marB="27432">
                    <a:solidFill>
                      <a:srgbClr val="0C2B4A"/>
                    </a:solidFill>
                  </a:tcPr>
                </a:tc>
              </a:tr>
              <a:tr h="630936">
                <a:tc>
                  <a:txBody>
                    <a:bodyPr wrap="square"/>
                    <a:lstStyle/>
                    <a:p>
                      <a:r>
                        <a:rPr sz="1100" b="1">
                          <a:solidFill>
                            <a:srgbClr val="0C2B4A"/>
                          </a:solidFill>
                        </a:rPr>
                        <a:t>Who creates the value?</a:t>
                      </a:r>
                    </a:p>
                  </a:txBody>
                  <a:tcPr anchor="ctr" marL="73152" marR="54864" marT="27432" marB="27432">
                    <a:solidFill>
                      <a:srgbClr val="FFFFFF"/>
                    </a:solidFill>
                  </a:tcPr>
                </a:tc>
                <a:tc>
                  <a:txBody>
                    <a:bodyPr wrap="square"/>
                    <a:lstStyle/>
                    <a:p>
                      <a:r>
                        <a:rPr sz="1100">
                          <a:solidFill>
                            <a:srgbClr val="1A1A1A"/>
                          </a:solidFill>
                        </a:rPr>
                        <a:t>The firm itself</a:t>
                      </a:r>
                    </a:p>
                  </a:txBody>
                  <a:tcPr anchor="ctr" marL="73152" marR="54864" marT="27432" marB="27432">
                    <a:solidFill>
                      <a:srgbClr val="FFFFFF"/>
                    </a:solidFill>
                  </a:tcPr>
                </a:tc>
                <a:tc>
                  <a:txBody>
                    <a:bodyPr wrap="square"/>
                    <a:lstStyle/>
                    <a:p>
                      <a:r>
                        <a:rPr sz="1100">
                          <a:solidFill>
                            <a:srgbClr val="1A1A1A"/>
                          </a:solidFill>
                        </a:rPr>
                        <a:t>The users, for each other</a:t>
                      </a:r>
                    </a:p>
                  </a:txBody>
                  <a:tcPr anchor="ctr" marL="73152" marR="54864" marT="27432" marB="27432">
                    <a:solidFill>
                      <a:srgbClr val="FFFFFF"/>
                    </a:solidFill>
                  </a:tcPr>
                </a:tc>
              </a:tr>
              <a:tr h="630936">
                <a:tc>
                  <a:txBody>
                    <a:bodyPr wrap="square"/>
                    <a:lstStyle/>
                    <a:p>
                      <a:r>
                        <a:rPr sz="1100" b="1">
                          <a:solidFill>
                            <a:srgbClr val="0C2B4A"/>
                          </a:solidFill>
                        </a:rPr>
                        <a:t>Direction of value</a:t>
                      </a:r>
                    </a:p>
                  </a:txBody>
                  <a:tcPr anchor="ctr" marL="73152" marR="54864" marT="27432" marB="27432">
                    <a:solidFill>
                      <a:srgbClr val="EEF3F8"/>
                    </a:solidFill>
                  </a:tcPr>
                </a:tc>
                <a:tc>
                  <a:txBody>
                    <a:bodyPr wrap="square"/>
                    <a:lstStyle/>
                    <a:p>
                      <a:r>
                        <a:rPr sz="1100">
                          <a:solidFill>
                            <a:srgbClr val="1A1A1A"/>
                          </a:solidFill>
                        </a:rPr>
                        <a:t>One way: business → customer</a:t>
                      </a:r>
                    </a:p>
                  </a:txBody>
                  <a:tcPr anchor="ctr" marL="73152" marR="54864" marT="27432" marB="27432">
                    <a:solidFill>
                      <a:srgbClr val="EEF3F8"/>
                    </a:solidFill>
                  </a:tcPr>
                </a:tc>
                <a:tc>
                  <a:txBody>
                    <a:bodyPr wrap="square"/>
                    <a:lstStyle/>
                    <a:p>
                      <a:r>
                        <a:rPr sz="1100">
                          <a:solidFill>
                            <a:srgbClr val="1A1A1A"/>
                          </a:solidFill>
                        </a:rPr>
                        <a:t>Many ways: user ↔ platform ↔ user</a:t>
                      </a:r>
                    </a:p>
                  </a:txBody>
                  <a:tcPr anchor="ctr" marL="73152" marR="54864" marT="27432" marB="27432">
                    <a:solidFill>
                      <a:srgbClr val="EEF3F8"/>
                    </a:solidFill>
                  </a:tcPr>
                </a:tc>
              </a:tr>
              <a:tr h="630936">
                <a:tc>
                  <a:txBody>
                    <a:bodyPr wrap="square"/>
                    <a:lstStyle/>
                    <a:p>
                      <a:r>
                        <a:rPr sz="1100" b="1">
                          <a:solidFill>
                            <a:srgbClr val="0C2B4A"/>
                          </a:solidFill>
                        </a:rPr>
                        <a:t>How it grows</a:t>
                      </a:r>
                    </a:p>
                  </a:txBody>
                  <a:tcPr anchor="ctr" marL="73152" marR="54864" marT="27432" marB="27432">
                    <a:solidFill>
                      <a:srgbClr val="FFFFFF"/>
                    </a:solidFill>
                  </a:tcPr>
                </a:tc>
                <a:tc>
                  <a:txBody>
                    <a:bodyPr wrap="square"/>
                    <a:lstStyle/>
                    <a:p>
                      <a:r>
                        <a:rPr sz="1100">
                          <a:solidFill>
                            <a:srgbClr val="1A1A1A"/>
                          </a:solidFill>
                        </a:rPr>
                        <a:t>Make/sell more units</a:t>
                      </a:r>
                    </a:p>
                  </a:txBody>
                  <a:tcPr anchor="ctr" marL="73152" marR="54864" marT="27432" marB="27432">
                    <a:solidFill>
                      <a:srgbClr val="FFFFFF"/>
                    </a:solidFill>
                  </a:tcPr>
                </a:tc>
                <a:tc>
                  <a:txBody>
                    <a:bodyPr wrap="square"/>
                    <a:lstStyle/>
                    <a:p>
                      <a:r>
                        <a:rPr sz="1100">
                          <a:solidFill>
                            <a:srgbClr val="1A1A1A"/>
                          </a:solidFill>
                        </a:rPr>
                        <a:t>Add more participants</a:t>
                      </a:r>
                    </a:p>
                  </a:txBody>
                  <a:tcPr anchor="ctr" marL="73152" marR="54864" marT="27432" marB="27432">
                    <a:solidFill>
                      <a:srgbClr val="FFFFFF"/>
                    </a:solidFill>
                  </a:tcPr>
                </a:tc>
              </a:tr>
              <a:tr h="630936">
                <a:tc>
                  <a:txBody>
                    <a:bodyPr wrap="square"/>
                    <a:lstStyle/>
                    <a:p>
                      <a:r>
                        <a:rPr sz="1100" b="1">
                          <a:solidFill>
                            <a:srgbClr val="0C2B4A"/>
                          </a:solidFill>
                        </a:rPr>
                        <a:t>Main asset</a:t>
                      </a:r>
                    </a:p>
                  </a:txBody>
                  <a:tcPr anchor="ctr" marL="73152" marR="54864" marT="27432" marB="27432">
                    <a:solidFill>
                      <a:srgbClr val="EEF3F8"/>
                    </a:solidFill>
                  </a:tcPr>
                </a:tc>
                <a:tc>
                  <a:txBody>
                    <a:bodyPr wrap="square"/>
                    <a:lstStyle/>
                    <a:p>
                      <a:r>
                        <a:rPr sz="1100">
                          <a:solidFill>
                            <a:srgbClr val="1A1A1A"/>
                          </a:solidFill>
                        </a:rPr>
                        <a:t>Products, factories, inventory</a:t>
                      </a:r>
                    </a:p>
                  </a:txBody>
                  <a:tcPr anchor="ctr" marL="73152" marR="54864" marT="27432" marB="27432">
                    <a:solidFill>
                      <a:srgbClr val="EEF3F8"/>
                    </a:solidFill>
                  </a:tcPr>
                </a:tc>
                <a:tc>
                  <a:txBody>
                    <a:bodyPr wrap="square"/>
                    <a:lstStyle/>
                    <a:p>
                      <a:r>
                        <a:rPr sz="1100">
                          <a:solidFill>
                            <a:srgbClr val="1A1A1A"/>
                          </a:solidFill>
                        </a:rPr>
                        <a:t>The network of users &amp; the matching</a:t>
                      </a:r>
                    </a:p>
                  </a:txBody>
                  <a:tcPr anchor="ctr" marL="73152" marR="54864" marT="27432" marB="27432">
                    <a:solidFill>
                      <a:srgbClr val="EEF3F8"/>
                    </a:solidFill>
                  </a:tcPr>
                </a:tc>
              </a:tr>
              <a:tr h="630936">
                <a:tc>
                  <a:txBody>
                    <a:bodyPr wrap="square"/>
                    <a:lstStyle/>
                    <a:p>
                      <a:r>
                        <a:rPr sz="1100" b="1">
                          <a:solidFill>
                            <a:srgbClr val="0C2B4A"/>
                          </a:solidFill>
                        </a:rPr>
                        <a:t>Cost of one more unit</a:t>
                      </a:r>
                    </a:p>
                  </a:txBody>
                  <a:tcPr anchor="ctr" marL="73152" marR="54864" marT="27432" marB="27432">
                    <a:solidFill>
                      <a:srgbClr val="FFFFFF"/>
                    </a:solidFill>
                  </a:tcPr>
                </a:tc>
                <a:tc>
                  <a:txBody>
                    <a:bodyPr wrap="square"/>
                    <a:lstStyle/>
                    <a:p>
                      <a:r>
                        <a:rPr sz="1100">
                          <a:solidFill>
                            <a:srgbClr val="1A1A1A"/>
                          </a:solidFill>
                        </a:rPr>
                        <a:t>Real (materials, labour)</a:t>
                      </a:r>
                    </a:p>
                  </a:txBody>
                  <a:tcPr anchor="ctr" marL="73152" marR="54864" marT="27432" marB="27432">
                    <a:solidFill>
                      <a:srgbClr val="FFFFFF"/>
                    </a:solidFill>
                  </a:tcPr>
                </a:tc>
                <a:tc>
                  <a:txBody>
                    <a:bodyPr wrap="square"/>
                    <a:lstStyle/>
                    <a:p>
                      <a:r>
                        <a:rPr sz="1100">
                          <a:solidFill>
                            <a:srgbClr val="1A1A1A"/>
                          </a:solidFill>
                        </a:rPr>
                        <a:t>Near-zero (a new listing/user)</a:t>
                      </a:r>
                    </a:p>
                  </a:txBody>
                  <a:tcPr anchor="ctr" marL="73152" marR="54864" marT="27432" marB="27432">
                    <a:solidFill>
                      <a:srgbClr val="FFFFFF"/>
                    </a:solidFill>
                  </a:tcPr>
                </a:tc>
              </a:tr>
              <a:tr h="630936">
                <a:tc>
                  <a:txBody>
                    <a:bodyPr wrap="square"/>
                    <a:lstStyle/>
                    <a:p>
                      <a:r>
                        <a:rPr sz="1100" b="1">
                          <a:solidFill>
                            <a:srgbClr val="0C2B4A"/>
                          </a:solidFill>
                        </a:rPr>
                        <a:t>Nepal example</a:t>
                      </a:r>
                    </a:p>
                  </a:txBody>
                  <a:tcPr anchor="ctr" marL="73152" marR="54864" marT="27432" marB="27432">
                    <a:solidFill>
                      <a:srgbClr val="EEF3F8"/>
                    </a:solidFill>
                  </a:tcPr>
                </a:tc>
                <a:tc>
                  <a:txBody>
                    <a:bodyPr wrap="square"/>
                    <a:lstStyle/>
                    <a:p>
                      <a:r>
                        <a:rPr sz="1100">
                          <a:solidFill>
                            <a:srgbClr val="1A1A1A"/>
                          </a:solidFill>
                        </a:rPr>
                        <a:t>A shop selling its own goods</a:t>
                      </a:r>
                    </a:p>
                  </a:txBody>
                  <a:tcPr anchor="ctr" marL="73152" marR="54864" marT="27432" marB="27432">
                    <a:solidFill>
                      <a:srgbClr val="EEF3F8"/>
                    </a:solidFill>
                  </a:tcPr>
                </a:tc>
                <a:tc>
                  <a:txBody>
                    <a:bodyPr wrap="square"/>
                    <a:lstStyle/>
                    <a:p>
                      <a:r>
                        <a:rPr sz="1100">
                          <a:solidFill>
                            <a:srgbClr val="1A1A1A"/>
                          </a:solidFill>
                        </a:rPr>
                        <a:t>Daraz, Pathao, Hamrobazar, Foodmandu</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platform's genius is that its 'suppliers' are its users — so it can scale to millions of listings or rides without ever making a product itself.</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 / 100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S9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Pipe vs Platform Business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Foodmandu makes no food and owns no kitchens — it connects restaurants, riders, and hungry customers, and takes a cut of the interactions it enables. That is a platform. A traditional restaurant that cooks and sells its own meals is a pipe. Foodmandu can add a thousand restaurants without building a single kitchen; the restaurant can only grow by cooking more — that is the structural difference.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 platform is just a website or a middleman." A website is a channel; a platform is a business model where value is created by users interacting, not by the firm producing. The firm builds and governs the marketplace (matching, trust, tools) — it does not make the goods, which is exactly why it scales.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pipe (linear) business creates a product or service and sells it to customers, with value flowing one way (business → customer) and growth coming from making/selling more units. A platform business connects two or more groups and enables them to create value for each other, with value flowing in many directions and growth coming from adding participants. The most valuable digital firms are platforms because their users, not the firm, do the producing.</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pipe vs platform · one-way vs multi-way value · users create value · scale by adding participants · Daraz/Pathao</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 / 100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S9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a Multi-Sided Platform Is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 multi-sided platform (MSP) is a business model that connects two or more interdependent user groups to enable interactions and create value. It solves a matching problem — buyers↔sellers, riders↔drivers, creators↔audiences — where each side needs the other. Its defining trait: the value to any one side rises as more participants join the other side.</a:t>
            </a:r>
          </a:p>
          <a:p>
            <a:pPr>
              <a:spcAft>
                <a:spcPts val="500"/>
              </a:spcAft>
            </a:pPr>
            <a:r>
              <a:rPr sz="1200" b="1">
                <a:solidFill>
                  <a:srgbClr val="185FA5"/>
                </a:solidFill>
              </a:rPr>
              <a:t>HOW IT WORKS</a:t>
            </a:r>
          </a:p>
          <a:p>
            <a:pPr>
              <a:spcAft>
                <a:spcPts val="600"/>
              </a:spcAft>
            </a:pPr>
            <a:r>
              <a:rPr sz="1400">
                <a:solidFill>
                  <a:srgbClr val="1A1A1A"/>
                </a:solidFill>
              </a:rPr>
              <a:t>•  Interdependent groups: sellers are useless without buyers, drivers useless without riders.</a:t>
            </a:r>
          </a:p>
          <a:p>
            <a:pPr>
              <a:spcAft>
                <a:spcPts val="600"/>
              </a:spcAft>
            </a:pPr>
            <a:r>
              <a:rPr sz="1400">
                <a:solidFill>
                  <a:srgbClr val="1A1A1A"/>
                </a:solidFill>
              </a:rPr>
              <a:t>•  The platform solves the MATCHING problem (who connects with whom, at what price).</a:t>
            </a:r>
          </a:p>
          <a:p>
            <a:pPr>
              <a:spcAft>
                <a:spcPts val="600"/>
              </a:spcAft>
            </a:pPr>
            <a:r>
              <a:rPr sz="1400">
                <a:solidFill>
                  <a:srgbClr val="1A1A1A"/>
                </a:solidFill>
              </a:rPr>
              <a:t>•  Five features: facilitation (not production), 2+ groups, interaction-based value, low marginal cost, scalability.</a:t>
            </a:r>
          </a:p>
          <a:p>
            <a:pPr>
              <a:spcAft>
                <a:spcPts val="600"/>
              </a:spcAft>
            </a:pPr>
            <a:r>
              <a:rPr sz="1400">
                <a:solidFill>
                  <a:srgbClr val="1A1A1A"/>
                </a:solidFill>
              </a:rPr>
              <a:t>•  'Sides' can be more than two: Daraz has buyers, sellers, advertisers, and delivery partners.</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MSP = connects 2+ interdependent groups to interact; value rises as each side grows.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 / 100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S9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Multi-sided platforms — the sides they connect</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1860697"/>
                <a:gridCol w="2259418"/>
                <a:gridCol w="3322674"/>
                <a:gridCol w="3987209"/>
              </a:tblGrid>
              <a:tr h="630936">
                <a:tc>
                  <a:txBody>
                    <a:bodyPr wrap="square"/>
                    <a:lstStyle/>
                    <a:p>
                      <a:r>
                        <a:rPr sz="1100" b="1">
                          <a:solidFill>
                            <a:srgbClr val="FFFFFF"/>
                          </a:solidFill>
                        </a:rPr>
                        <a:t>Platform</a:t>
                      </a:r>
                    </a:p>
                  </a:txBody>
                  <a:tcPr anchor="ctr" marL="73152" marR="54864" marT="27432" marB="27432">
                    <a:solidFill>
                      <a:srgbClr val="0C2B4A"/>
                    </a:solidFill>
                  </a:tcPr>
                </a:tc>
                <a:tc>
                  <a:txBody>
                    <a:bodyPr wrap="square"/>
                    <a:lstStyle/>
                    <a:p>
                      <a:r>
                        <a:rPr sz="1100" b="1">
                          <a:solidFill>
                            <a:srgbClr val="FFFFFF"/>
                          </a:solidFill>
                        </a:rPr>
                        <a:t>Side A</a:t>
                      </a:r>
                    </a:p>
                  </a:txBody>
                  <a:tcPr anchor="ctr" marL="73152" marR="54864" marT="27432" marB="27432">
                    <a:solidFill>
                      <a:srgbClr val="0C2B4A"/>
                    </a:solidFill>
                  </a:tcPr>
                </a:tc>
                <a:tc>
                  <a:txBody>
                    <a:bodyPr wrap="square"/>
                    <a:lstStyle/>
                    <a:p>
                      <a:r>
                        <a:rPr sz="1100" b="1">
                          <a:solidFill>
                            <a:srgbClr val="FFFFFF"/>
                          </a:solidFill>
                        </a:rPr>
                        <a:t>Side B (and more)</a:t>
                      </a:r>
                    </a:p>
                  </a:txBody>
                  <a:tcPr anchor="ctr" marL="73152" marR="54864" marT="27432" marB="27432">
                    <a:solidFill>
                      <a:srgbClr val="0C2B4A"/>
                    </a:solidFill>
                  </a:tcPr>
                </a:tc>
                <a:tc>
                  <a:txBody>
                    <a:bodyPr wrap="square"/>
                    <a:lstStyle/>
                    <a:p>
                      <a:r>
                        <a:rPr sz="1100" b="1">
                          <a:solidFill>
                            <a:srgbClr val="FFFFFF"/>
                          </a:solidFill>
                        </a:rPr>
                        <a:t>The matching problem solved</a:t>
                      </a:r>
                    </a:p>
                  </a:txBody>
                  <a:tcPr anchor="ctr" marL="73152" marR="54864" marT="27432" marB="27432">
                    <a:solidFill>
                      <a:srgbClr val="0C2B4A"/>
                    </a:solidFill>
                  </a:tcPr>
                </a:tc>
              </a:tr>
              <a:tr h="630936">
                <a:tc>
                  <a:txBody>
                    <a:bodyPr wrap="square"/>
                    <a:lstStyle/>
                    <a:p>
                      <a:r>
                        <a:rPr sz="1050" b="1">
                          <a:solidFill>
                            <a:srgbClr val="0C2B4A"/>
                          </a:solidFill>
                        </a:rPr>
                        <a:t>Pathao</a:t>
                      </a:r>
                    </a:p>
                  </a:txBody>
                  <a:tcPr anchor="ctr" marL="73152" marR="54864" marT="27432" marB="27432">
                    <a:solidFill>
                      <a:srgbClr val="FFFFFF"/>
                    </a:solidFill>
                  </a:tcPr>
                </a:tc>
                <a:tc>
                  <a:txBody>
                    <a:bodyPr wrap="square"/>
                    <a:lstStyle/>
                    <a:p>
                      <a:r>
                        <a:rPr sz="1050">
                          <a:solidFill>
                            <a:srgbClr val="1A1A1A"/>
                          </a:solidFill>
                        </a:rPr>
                        <a:t>Riders/passengers</a:t>
                      </a:r>
                    </a:p>
                  </a:txBody>
                  <a:tcPr anchor="ctr" marL="73152" marR="54864" marT="27432" marB="27432">
                    <a:solidFill>
                      <a:srgbClr val="FFFFFF"/>
                    </a:solidFill>
                  </a:tcPr>
                </a:tc>
                <a:tc>
                  <a:txBody>
                    <a:bodyPr wrap="square"/>
                    <a:lstStyle/>
                    <a:p>
                      <a:r>
                        <a:rPr sz="1050">
                          <a:solidFill>
                            <a:srgbClr val="1A1A1A"/>
                          </a:solidFill>
                        </a:rPr>
                        <a:t>Drivers (+ restaurants for Food)</a:t>
                      </a:r>
                    </a:p>
                  </a:txBody>
                  <a:tcPr anchor="ctr" marL="73152" marR="54864" marT="27432" marB="27432">
                    <a:solidFill>
                      <a:srgbClr val="FFFFFF"/>
                    </a:solidFill>
                  </a:tcPr>
                </a:tc>
                <a:tc>
                  <a:txBody>
                    <a:bodyPr wrap="square"/>
                    <a:lstStyle/>
                    <a:p>
                      <a:r>
                        <a:rPr sz="1050">
                          <a:solidFill>
                            <a:srgbClr val="1A1A1A"/>
                          </a:solidFill>
                        </a:rPr>
                        <a:t>Who gives whom a ride, at what price</a:t>
                      </a:r>
                    </a:p>
                  </a:txBody>
                  <a:tcPr anchor="ctr" marL="73152" marR="54864" marT="27432" marB="27432">
                    <a:solidFill>
                      <a:srgbClr val="FFFFFF"/>
                    </a:solidFill>
                  </a:tcPr>
                </a:tc>
              </a:tr>
              <a:tr h="630936">
                <a:tc>
                  <a:txBody>
                    <a:bodyPr wrap="square"/>
                    <a:lstStyle/>
                    <a:p>
                      <a:r>
                        <a:rPr sz="1050" b="1">
                          <a:solidFill>
                            <a:srgbClr val="0C2B4A"/>
                          </a:solidFill>
                        </a:rPr>
                        <a:t>Daraz</a:t>
                      </a:r>
                    </a:p>
                  </a:txBody>
                  <a:tcPr anchor="ctr" marL="73152" marR="54864" marT="27432" marB="27432">
                    <a:solidFill>
                      <a:srgbClr val="EEF3F8"/>
                    </a:solidFill>
                  </a:tcPr>
                </a:tc>
                <a:tc>
                  <a:txBody>
                    <a:bodyPr wrap="square"/>
                    <a:lstStyle/>
                    <a:p>
                      <a:r>
                        <a:rPr sz="1050">
                          <a:solidFill>
                            <a:srgbClr val="1A1A1A"/>
                          </a:solidFill>
                        </a:rPr>
                        <a:t>Buyers</a:t>
                      </a:r>
                    </a:p>
                  </a:txBody>
                  <a:tcPr anchor="ctr" marL="73152" marR="54864" marT="27432" marB="27432">
                    <a:solidFill>
                      <a:srgbClr val="EEF3F8"/>
                    </a:solidFill>
                  </a:tcPr>
                </a:tc>
                <a:tc>
                  <a:txBody>
                    <a:bodyPr wrap="square"/>
                    <a:lstStyle/>
                    <a:p>
                      <a:r>
                        <a:rPr sz="1050">
                          <a:solidFill>
                            <a:srgbClr val="1A1A1A"/>
                          </a:solidFill>
                        </a:rPr>
                        <a:t>Sellers (+ advertisers, couriers)</a:t>
                      </a:r>
                    </a:p>
                  </a:txBody>
                  <a:tcPr anchor="ctr" marL="73152" marR="54864" marT="27432" marB="27432">
                    <a:solidFill>
                      <a:srgbClr val="EEF3F8"/>
                    </a:solidFill>
                  </a:tcPr>
                </a:tc>
                <a:tc>
                  <a:txBody>
                    <a:bodyPr wrap="square"/>
                    <a:lstStyle/>
                    <a:p>
                      <a:r>
                        <a:rPr sz="1050">
                          <a:solidFill>
                            <a:srgbClr val="1A1A1A"/>
                          </a:solidFill>
                        </a:rPr>
                        <a:t>Which product from which seller</a:t>
                      </a:r>
                    </a:p>
                  </a:txBody>
                  <a:tcPr anchor="ctr" marL="73152" marR="54864" marT="27432" marB="27432">
                    <a:solidFill>
                      <a:srgbClr val="EEF3F8"/>
                    </a:solidFill>
                  </a:tcPr>
                </a:tc>
              </a:tr>
              <a:tr h="630936">
                <a:tc>
                  <a:txBody>
                    <a:bodyPr wrap="square"/>
                    <a:lstStyle/>
                    <a:p>
                      <a:r>
                        <a:rPr sz="1050" b="1">
                          <a:solidFill>
                            <a:srgbClr val="0C2B4A"/>
                          </a:solidFill>
                        </a:rPr>
                        <a:t>eSewa / Fonepay</a:t>
                      </a:r>
                    </a:p>
                  </a:txBody>
                  <a:tcPr anchor="ctr" marL="73152" marR="54864" marT="27432" marB="27432">
                    <a:solidFill>
                      <a:srgbClr val="FFFFFF"/>
                    </a:solidFill>
                  </a:tcPr>
                </a:tc>
                <a:tc>
                  <a:txBody>
                    <a:bodyPr wrap="square"/>
                    <a:lstStyle/>
                    <a:p>
                      <a:r>
                        <a:rPr sz="1050">
                          <a:solidFill>
                            <a:srgbClr val="1A1A1A"/>
                          </a:solidFill>
                        </a:rPr>
                        <a:t>Users/payers</a:t>
                      </a:r>
                    </a:p>
                  </a:txBody>
                  <a:tcPr anchor="ctr" marL="73152" marR="54864" marT="27432" marB="27432">
                    <a:solidFill>
                      <a:srgbClr val="FFFFFF"/>
                    </a:solidFill>
                  </a:tcPr>
                </a:tc>
                <a:tc>
                  <a:txBody>
                    <a:bodyPr wrap="square"/>
                    <a:lstStyle/>
                    <a:p>
                      <a:r>
                        <a:rPr sz="1050">
                          <a:solidFill>
                            <a:srgbClr val="1A1A1A"/>
                          </a:solidFill>
                        </a:rPr>
                        <a:t>Merchants, banks, billers</a:t>
                      </a:r>
                    </a:p>
                  </a:txBody>
                  <a:tcPr anchor="ctr" marL="73152" marR="54864" marT="27432" marB="27432">
                    <a:solidFill>
                      <a:srgbClr val="FFFFFF"/>
                    </a:solidFill>
                  </a:tcPr>
                </a:tc>
                <a:tc>
                  <a:txBody>
                    <a:bodyPr wrap="square"/>
                    <a:lstStyle/>
                    <a:p>
                      <a:r>
                        <a:rPr sz="1050">
                          <a:solidFill>
                            <a:srgbClr val="1A1A1A"/>
                          </a:solidFill>
                        </a:rPr>
                        <a:t>Who pays whom, settled instantly</a:t>
                      </a:r>
                    </a:p>
                  </a:txBody>
                  <a:tcPr anchor="ctr" marL="73152" marR="54864" marT="27432" marB="27432">
                    <a:solidFill>
                      <a:srgbClr val="FFFFFF"/>
                    </a:solidFill>
                  </a:tcPr>
                </a:tc>
              </a:tr>
              <a:tr h="630936">
                <a:tc>
                  <a:txBody>
                    <a:bodyPr wrap="square"/>
                    <a:lstStyle/>
                    <a:p>
                      <a:r>
                        <a:rPr sz="1050" b="1">
                          <a:solidFill>
                            <a:srgbClr val="0C2B4A"/>
                          </a:solidFill>
                        </a:rPr>
                        <a:t>Foodmandu</a:t>
                      </a:r>
                    </a:p>
                  </a:txBody>
                  <a:tcPr anchor="ctr" marL="73152" marR="54864" marT="27432" marB="27432">
                    <a:solidFill>
                      <a:srgbClr val="EEF3F8"/>
                    </a:solidFill>
                  </a:tcPr>
                </a:tc>
                <a:tc>
                  <a:txBody>
                    <a:bodyPr wrap="square"/>
                    <a:lstStyle/>
                    <a:p>
                      <a:r>
                        <a:rPr sz="1050">
                          <a:solidFill>
                            <a:srgbClr val="1A1A1A"/>
                          </a:solidFill>
                        </a:rPr>
                        <a:t>Hungry customers</a:t>
                      </a:r>
                    </a:p>
                  </a:txBody>
                  <a:tcPr anchor="ctr" marL="73152" marR="54864" marT="27432" marB="27432">
                    <a:solidFill>
                      <a:srgbClr val="EEF3F8"/>
                    </a:solidFill>
                  </a:tcPr>
                </a:tc>
                <a:tc>
                  <a:txBody>
                    <a:bodyPr wrap="square"/>
                    <a:lstStyle/>
                    <a:p>
                      <a:r>
                        <a:rPr sz="1050">
                          <a:solidFill>
                            <a:srgbClr val="1A1A1A"/>
                          </a:solidFill>
                        </a:rPr>
                        <a:t>Restaurants (+ delivery riders)</a:t>
                      </a:r>
                    </a:p>
                  </a:txBody>
                  <a:tcPr anchor="ctr" marL="73152" marR="54864" marT="27432" marB="27432">
                    <a:solidFill>
                      <a:srgbClr val="EEF3F8"/>
                    </a:solidFill>
                  </a:tcPr>
                </a:tc>
                <a:tc>
                  <a:txBody>
                    <a:bodyPr wrap="square"/>
                    <a:lstStyle/>
                    <a:p>
                      <a:r>
                        <a:rPr sz="1050">
                          <a:solidFill>
                            <a:srgbClr val="1A1A1A"/>
                          </a:solidFill>
                        </a:rPr>
                        <a:t>Which meal, cooked &amp; delivered by whom</a:t>
                      </a:r>
                    </a:p>
                  </a:txBody>
                  <a:tcPr anchor="ctr" marL="73152" marR="54864" marT="27432" marB="27432">
                    <a:solidFill>
                      <a:srgbClr val="EEF3F8"/>
                    </a:solidFill>
                  </a:tcPr>
                </a:tc>
              </a:tr>
              <a:tr h="630936">
                <a:tc>
                  <a:txBody>
                    <a:bodyPr wrap="square"/>
                    <a:lstStyle/>
                    <a:p>
                      <a:r>
                        <a:rPr sz="1050" b="1">
                          <a:solidFill>
                            <a:srgbClr val="0C2B4A"/>
                          </a:solidFill>
                        </a:rPr>
                        <a:t>Hamrobazar</a:t>
                      </a:r>
                    </a:p>
                  </a:txBody>
                  <a:tcPr anchor="ctr" marL="73152" marR="54864" marT="27432" marB="27432">
                    <a:solidFill>
                      <a:srgbClr val="FFFFFF"/>
                    </a:solidFill>
                  </a:tcPr>
                </a:tc>
                <a:tc>
                  <a:txBody>
                    <a:bodyPr wrap="square"/>
                    <a:lstStyle/>
                    <a:p>
                      <a:r>
                        <a:rPr sz="1050">
                          <a:solidFill>
                            <a:srgbClr val="1A1A1A"/>
                          </a:solidFill>
                        </a:rPr>
                        <a:t>Buyers</a:t>
                      </a:r>
                    </a:p>
                  </a:txBody>
                  <a:tcPr anchor="ctr" marL="73152" marR="54864" marT="27432" marB="27432">
                    <a:solidFill>
                      <a:srgbClr val="FFFFFF"/>
                    </a:solidFill>
                  </a:tcPr>
                </a:tc>
                <a:tc>
                  <a:txBody>
                    <a:bodyPr wrap="square"/>
                    <a:lstStyle/>
                    <a:p>
                      <a:r>
                        <a:rPr sz="1050">
                          <a:solidFill>
                            <a:srgbClr val="1A1A1A"/>
                          </a:solidFill>
                        </a:rPr>
                        <a:t>Individual sellers</a:t>
                      </a:r>
                    </a:p>
                  </a:txBody>
                  <a:tcPr anchor="ctr" marL="73152" marR="54864" marT="27432" marB="27432">
                    <a:solidFill>
                      <a:srgbClr val="FFFFFF"/>
                    </a:solidFill>
                  </a:tcPr>
                </a:tc>
                <a:tc>
                  <a:txBody>
                    <a:bodyPr wrap="square"/>
                    <a:lstStyle/>
                    <a:p>
                      <a:r>
                        <a:rPr sz="1050">
                          <a:solidFill>
                            <a:srgbClr val="1A1A1A"/>
                          </a:solidFill>
                        </a:rPr>
                        <a:t>Matching second-hand supply &amp; demand</a:t>
                      </a:r>
                    </a:p>
                  </a:txBody>
                  <a:tcPr anchor="ctr" marL="73152" marR="54864" marT="27432" marB="27432">
                    <a:solidFill>
                      <a:srgbClr val="FFFFFF"/>
                    </a:solidFill>
                  </a:tcPr>
                </a:tc>
              </a:tr>
              <a:tr h="630936">
                <a:tc>
                  <a:txBody>
                    <a:bodyPr wrap="square"/>
                    <a:lstStyle/>
                    <a:p>
                      <a:r>
                        <a:rPr sz="1050" b="1">
                          <a:solidFill>
                            <a:srgbClr val="0C2B4A"/>
                          </a:solidFill>
                        </a:rPr>
                        <a:t>YouTube</a:t>
                      </a:r>
                    </a:p>
                  </a:txBody>
                  <a:tcPr anchor="ctr" marL="73152" marR="54864" marT="27432" marB="27432">
                    <a:solidFill>
                      <a:srgbClr val="EEF3F8"/>
                    </a:solidFill>
                  </a:tcPr>
                </a:tc>
                <a:tc>
                  <a:txBody>
                    <a:bodyPr wrap="square"/>
                    <a:lstStyle/>
                    <a:p>
                      <a:r>
                        <a:rPr sz="1050">
                          <a:solidFill>
                            <a:srgbClr val="1A1A1A"/>
                          </a:solidFill>
                        </a:rPr>
                        <a:t>Viewers</a:t>
                      </a:r>
                    </a:p>
                  </a:txBody>
                  <a:tcPr anchor="ctr" marL="73152" marR="54864" marT="27432" marB="27432">
                    <a:solidFill>
                      <a:srgbClr val="EEF3F8"/>
                    </a:solidFill>
                  </a:tcPr>
                </a:tc>
                <a:tc>
                  <a:txBody>
                    <a:bodyPr wrap="square"/>
                    <a:lstStyle/>
                    <a:p>
                      <a:r>
                        <a:rPr sz="1050">
                          <a:solidFill>
                            <a:srgbClr val="1A1A1A"/>
                          </a:solidFill>
                        </a:rPr>
                        <a:t>Creators (+ advertisers)</a:t>
                      </a:r>
                    </a:p>
                  </a:txBody>
                  <a:tcPr anchor="ctr" marL="73152" marR="54864" marT="27432" marB="27432">
                    <a:solidFill>
                      <a:srgbClr val="EEF3F8"/>
                    </a:solidFill>
                  </a:tcPr>
                </a:tc>
                <a:tc>
                  <a:txBody>
                    <a:bodyPr wrap="square"/>
                    <a:lstStyle/>
                    <a:p>
                      <a:r>
                        <a:rPr sz="1050">
                          <a:solidFill>
                            <a:srgbClr val="1A1A1A"/>
                          </a:solidFill>
                        </a:rPr>
                        <a:t>Which video for which viewer</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Notice the interdependence in every row: each side is worthless to the platform without the other. Getting BOTH sides on board at once is the 'chicken-and-egg' problem (S11).</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 / 100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S9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a Multi-Sided Platform Is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eSewa is a multi-sided platform: it links users who want to pay, merchants who want to be paid, banks that hold the money, and billers (NEA, water, ISPs) who want collection. None of these sides is useful to eSewa alone — the value is in matching them so a payment flows instantly. Add more merchants and the wallet is more useful to users; add more users and it is more useful to merchants.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 multi-sided platform is just a company with many customers." The difference is interdependence: the groups need EACH OTHER, and the platform's job is to match them. A supermarket has many customers but one side; eSewa's users and merchants are two interdependent sides whose value to each other the platform creates.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multi-sided platform (MSP) is a business model connecting two or more interdependent user groups to enable interactions and create value, solving a matching problem (buyers↔sellers, riders↔drivers, creators↔audiences) where each side needs the other. Its five features are facilitation (not production), two-or-more groups, interaction-based value, low marginal cost, and scalability — and the value to any side rises as the other side grows.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multi-sided platform · interdependent groups · matching problem · facilitation not production · value rises with each side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10 / 100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S9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How Platforms Create Value</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Platforms create value in five ways, even though they make nothing themselves: they reduce transaction costs (search, negotiation, enforcement), match efficiently using data and algorithms, build trust through reputation systems (ratings, reviews, verification), provide tools and infrastructure (payments, logistics, dashboards), and create network value (each user makes the platform more useful).</a:t>
            </a:r>
          </a:p>
          <a:p>
            <a:pPr>
              <a:spcAft>
                <a:spcPts val="500"/>
              </a:spcAft>
            </a:pPr>
            <a:r>
              <a:rPr sz="1200" b="1">
                <a:solidFill>
                  <a:srgbClr val="185FA5"/>
                </a:solidFill>
              </a:rPr>
              <a:t>HOW IT WORKS</a:t>
            </a:r>
          </a:p>
          <a:p>
            <a:pPr>
              <a:spcAft>
                <a:spcPts val="600"/>
              </a:spcAft>
            </a:pPr>
            <a:r>
              <a:rPr sz="1400">
                <a:solidFill>
                  <a:srgbClr val="1A1A1A"/>
                </a:solidFill>
              </a:rPr>
              <a:t>•  Reduce transaction costs: finding and trusting a stranger to transact with becomes cheap.</a:t>
            </a:r>
          </a:p>
          <a:p>
            <a:pPr>
              <a:spcAft>
                <a:spcPts val="600"/>
              </a:spcAft>
            </a:pPr>
            <a:r>
              <a:rPr sz="1400">
                <a:solidFill>
                  <a:srgbClr val="1A1A1A"/>
                </a:solidFill>
              </a:rPr>
              <a:t>•  Efficient matching: algorithms pair the right buyer/seller, rider/driver faster than any market square.</a:t>
            </a:r>
          </a:p>
          <a:p>
            <a:pPr>
              <a:spcAft>
                <a:spcPts val="600"/>
              </a:spcAft>
            </a:pPr>
            <a:r>
              <a:rPr sz="1400">
                <a:solidFill>
                  <a:srgbClr val="1A1A1A"/>
                </a:solidFill>
              </a:rPr>
              <a:t>•  Trust: ratings, reviews, verification, and dispute resolution let strangers transact safely.</a:t>
            </a:r>
          </a:p>
          <a:p>
            <a:pPr>
              <a:spcAft>
                <a:spcPts val="600"/>
              </a:spcAft>
            </a:pPr>
            <a:r>
              <a:rPr sz="1400">
                <a:solidFill>
                  <a:srgbClr val="1A1A1A"/>
                </a:solidFill>
              </a:rPr>
              <a:t>•  Tools + network value: payment gateways, tracking, and the sheer number of users add value.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Platforms add value 5 ways: lower transaction costs · matching · trust · tools · network value.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11 / 100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S9 · CONCEPT 3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five ways platforms create value — with Nepal examples</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3016250"/>
                <a:gridCol w="4286250"/>
                <a:gridCol w="4127500"/>
              </a:tblGrid>
              <a:tr h="736092">
                <a:tc>
                  <a:txBody>
                    <a:bodyPr wrap="square"/>
                    <a:lstStyle/>
                    <a:p>
                      <a:r>
                        <a:rPr sz="1150" b="1">
                          <a:solidFill>
                            <a:srgbClr val="FFFFFF"/>
                          </a:solidFill>
                        </a:rPr>
                        <a:t>Value mechanism</a:t>
                      </a:r>
                    </a:p>
                  </a:txBody>
                  <a:tcPr anchor="ctr" marL="73152" marR="54864" marT="27432" marB="27432">
                    <a:solidFill>
                      <a:srgbClr val="0C2B4A"/>
                    </a:solidFill>
                  </a:tcPr>
                </a:tc>
                <a:tc>
                  <a:txBody>
                    <a:bodyPr wrap="square"/>
                    <a:lstStyle/>
                    <a:p>
                      <a:r>
                        <a:rPr sz="1150" b="1">
                          <a:solidFill>
                            <a:srgbClr val="FFFFFF"/>
                          </a:solidFill>
                        </a:rPr>
                        <a:t>What it does</a:t>
                      </a:r>
                    </a:p>
                  </a:txBody>
                  <a:tcPr anchor="ctr" marL="73152" marR="54864" marT="27432" marB="27432">
                    <a:solidFill>
                      <a:srgbClr val="0C2B4A"/>
                    </a:solidFill>
                  </a:tcPr>
                </a:tc>
                <a:tc>
                  <a:txBody>
                    <a:bodyPr wrap="square"/>
                    <a:lstStyle/>
                    <a:p>
                      <a:r>
                        <a:rPr sz="1150" b="1">
                          <a:solidFill>
                            <a:srgbClr val="FFFFFF"/>
                          </a:solidFill>
                        </a:rPr>
                        <a:t>Nepal example</a:t>
                      </a:r>
                    </a:p>
                  </a:txBody>
                  <a:tcPr anchor="ctr" marL="73152" marR="54864" marT="27432" marB="27432">
                    <a:solidFill>
                      <a:srgbClr val="0C2B4A"/>
                    </a:solidFill>
                  </a:tcPr>
                </a:tc>
              </a:tr>
              <a:tr h="736092">
                <a:tc>
                  <a:txBody>
                    <a:bodyPr wrap="square"/>
                    <a:lstStyle/>
                    <a:p>
                      <a:r>
                        <a:rPr sz="1100" b="1">
                          <a:solidFill>
                            <a:srgbClr val="0C2B4A"/>
                          </a:solidFill>
                        </a:rPr>
                        <a:t>Reduce transaction costs</a:t>
                      </a:r>
                    </a:p>
                  </a:txBody>
                  <a:tcPr anchor="ctr" marL="73152" marR="54864" marT="27432" marB="27432">
                    <a:solidFill>
                      <a:srgbClr val="FFFFFF"/>
                    </a:solidFill>
                  </a:tcPr>
                </a:tc>
                <a:tc>
                  <a:txBody>
                    <a:bodyPr wrap="square"/>
                    <a:lstStyle/>
                    <a:p>
                      <a:r>
                        <a:rPr sz="1100">
                          <a:solidFill>
                            <a:srgbClr val="1A1A1A"/>
                          </a:solidFill>
                        </a:rPr>
                        <a:t>Cuts search, negotiation, enforcement effort</a:t>
                      </a:r>
                    </a:p>
                  </a:txBody>
                  <a:tcPr anchor="ctr" marL="73152" marR="54864" marT="27432" marB="27432">
                    <a:solidFill>
                      <a:srgbClr val="FFFFFF"/>
                    </a:solidFill>
                  </a:tcPr>
                </a:tc>
                <a:tc>
                  <a:txBody>
                    <a:bodyPr wrap="square"/>
                    <a:lstStyle/>
                    <a:p>
                      <a:r>
                        <a:rPr sz="1100">
                          <a:solidFill>
                            <a:srgbClr val="1A1A1A"/>
                          </a:solidFill>
                        </a:rPr>
                        <a:t>Daraz: find &amp; buy without visiting shops</a:t>
                      </a:r>
                    </a:p>
                  </a:txBody>
                  <a:tcPr anchor="ctr" marL="73152" marR="54864" marT="27432" marB="27432">
                    <a:solidFill>
                      <a:srgbClr val="FFFFFF"/>
                    </a:solidFill>
                  </a:tcPr>
                </a:tc>
              </a:tr>
              <a:tr h="736092">
                <a:tc>
                  <a:txBody>
                    <a:bodyPr wrap="square"/>
                    <a:lstStyle/>
                    <a:p>
                      <a:r>
                        <a:rPr sz="1100" b="1">
                          <a:solidFill>
                            <a:srgbClr val="0C2B4A"/>
                          </a:solidFill>
                        </a:rPr>
                        <a:t>Efficient matching</a:t>
                      </a:r>
                    </a:p>
                  </a:txBody>
                  <a:tcPr anchor="ctr" marL="73152" marR="54864" marT="27432" marB="27432">
                    <a:solidFill>
                      <a:srgbClr val="EEF3F8"/>
                    </a:solidFill>
                  </a:tcPr>
                </a:tc>
                <a:tc>
                  <a:txBody>
                    <a:bodyPr wrap="square"/>
                    <a:lstStyle/>
                    <a:p>
                      <a:r>
                        <a:rPr sz="1100">
                          <a:solidFill>
                            <a:srgbClr val="1A1A1A"/>
                          </a:solidFill>
                        </a:rPr>
                        <a:t>Algorithms pair the right two sides fast</a:t>
                      </a:r>
                    </a:p>
                  </a:txBody>
                  <a:tcPr anchor="ctr" marL="73152" marR="54864" marT="27432" marB="27432">
                    <a:solidFill>
                      <a:srgbClr val="EEF3F8"/>
                    </a:solidFill>
                  </a:tcPr>
                </a:tc>
                <a:tc>
                  <a:txBody>
                    <a:bodyPr wrap="square"/>
                    <a:lstStyle/>
                    <a:p>
                      <a:r>
                        <a:rPr sz="1100">
                          <a:solidFill>
                            <a:srgbClr val="1A1A1A"/>
                          </a:solidFill>
                        </a:rPr>
                        <a:t>Pathao matches nearest driver to rider</a:t>
                      </a:r>
                    </a:p>
                  </a:txBody>
                  <a:tcPr anchor="ctr" marL="73152" marR="54864" marT="27432" marB="27432">
                    <a:solidFill>
                      <a:srgbClr val="EEF3F8"/>
                    </a:solidFill>
                  </a:tcPr>
                </a:tc>
              </a:tr>
              <a:tr h="736092">
                <a:tc>
                  <a:txBody>
                    <a:bodyPr wrap="square"/>
                    <a:lstStyle/>
                    <a:p>
                      <a:r>
                        <a:rPr sz="1100" b="1">
                          <a:solidFill>
                            <a:srgbClr val="0C2B4A"/>
                          </a:solidFill>
                        </a:rPr>
                        <a:t>Trust / reputation</a:t>
                      </a:r>
                    </a:p>
                  </a:txBody>
                  <a:tcPr anchor="ctr" marL="73152" marR="54864" marT="27432" marB="27432">
                    <a:solidFill>
                      <a:srgbClr val="FFFFFF"/>
                    </a:solidFill>
                  </a:tcPr>
                </a:tc>
                <a:tc>
                  <a:txBody>
                    <a:bodyPr wrap="square"/>
                    <a:lstStyle/>
                    <a:p>
                      <a:r>
                        <a:rPr sz="1100">
                          <a:solidFill>
                            <a:srgbClr val="1A1A1A"/>
                          </a:solidFill>
                        </a:rPr>
                        <a:t>Ratings, reviews, verification, disputes</a:t>
                      </a:r>
                    </a:p>
                  </a:txBody>
                  <a:tcPr anchor="ctr" marL="73152" marR="54864" marT="27432" marB="27432">
                    <a:solidFill>
                      <a:srgbClr val="FFFFFF"/>
                    </a:solidFill>
                  </a:tcPr>
                </a:tc>
                <a:tc>
                  <a:txBody>
                    <a:bodyPr wrap="square"/>
                    <a:lstStyle/>
                    <a:p>
                      <a:r>
                        <a:rPr sz="1100">
                          <a:solidFill>
                            <a:srgbClr val="1A1A1A"/>
                          </a:solidFill>
                        </a:rPr>
                        <a:t>Hamrobazar seller ratings; Daraz returns</a:t>
                      </a:r>
                    </a:p>
                  </a:txBody>
                  <a:tcPr anchor="ctr" marL="73152" marR="54864" marT="27432" marB="27432">
                    <a:solidFill>
                      <a:srgbClr val="FFFFFF"/>
                    </a:solidFill>
                  </a:tcPr>
                </a:tc>
              </a:tr>
              <a:tr h="736092">
                <a:tc>
                  <a:txBody>
                    <a:bodyPr wrap="square"/>
                    <a:lstStyle/>
                    <a:p>
                      <a:r>
                        <a:rPr sz="1100" b="1">
                          <a:solidFill>
                            <a:srgbClr val="0C2B4A"/>
                          </a:solidFill>
                        </a:rPr>
                        <a:t>Tools &amp; infrastructure</a:t>
                      </a:r>
                    </a:p>
                  </a:txBody>
                  <a:tcPr anchor="ctr" marL="73152" marR="54864" marT="27432" marB="27432">
                    <a:solidFill>
                      <a:srgbClr val="EEF3F8"/>
                    </a:solidFill>
                  </a:tcPr>
                </a:tc>
                <a:tc>
                  <a:txBody>
                    <a:bodyPr wrap="square"/>
                    <a:lstStyle/>
                    <a:p>
                      <a:r>
                        <a:rPr sz="1100">
                          <a:solidFill>
                            <a:srgbClr val="1A1A1A"/>
                          </a:solidFill>
                        </a:rPr>
                        <a:t>Payments, logistics, tracking, dashboards</a:t>
                      </a:r>
                    </a:p>
                  </a:txBody>
                  <a:tcPr anchor="ctr" marL="73152" marR="54864" marT="27432" marB="27432">
                    <a:solidFill>
                      <a:srgbClr val="EEF3F8"/>
                    </a:solidFill>
                  </a:tcPr>
                </a:tc>
                <a:tc>
                  <a:txBody>
                    <a:bodyPr wrap="square"/>
                    <a:lstStyle/>
                    <a:p>
                      <a:r>
                        <a:rPr sz="1100">
                          <a:solidFill>
                            <a:srgbClr val="1A1A1A"/>
                          </a:solidFill>
                        </a:rPr>
                        <a:t>eSewa payment gateway; Foodmandu tracking</a:t>
                      </a:r>
                    </a:p>
                  </a:txBody>
                  <a:tcPr anchor="ctr" marL="73152" marR="54864" marT="27432" marB="27432">
                    <a:solidFill>
                      <a:srgbClr val="EEF3F8"/>
                    </a:solidFill>
                  </a:tcPr>
                </a:tc>
              </a:tr>
              <a:tr h="736092">
                <a:tc>
                  <a:txBody>
                    <a:bodyPr wrap="square"/>
                    <a:lstStyle/>
                    <a:p>
                      <a:r>
                        <a:rPr sz="1100" b="1">
                          <a:solidFill>
                            <a:srgbClr val="0C2B4A"/>
                          </a:solidFill>
                        </a:rPr>
                        <a:t>Network value</a:t>
                      </a:r>
                    </a:p>
                  </a:txBody>
                  <a:tcPr anchor="ctr" marL="73152" marR="54864" marT="27432" marB="27432">
                    <a:solidFill>
                      <a:srgbClr val="FFFFFF"/>
                    </a:solidFill>
                  </a:tcPr>
                </a:tc>
                <a:tc>
                  <a:txBody>
                    <a:bodyPr wrap="square"/>
                    <a:lstStyle/>
                    <a:p>
                      <a:r>
                        <a:rPr sz="1100">
                          <a:solidFill>
                            <a:srgbClr val="1A1A1A"/>
                          </a:solidFill>
                        </a:rPr>
                        <a:t>More users → more useful for everyone</a:t>
                      </a:r>
                    </a:p>
                  </a:txBody>
                  <a:tcPr anchor="ctr" marL="73152" marR="54864" marT="27432" marB="27432">
                    <a:solidFill>
                      <a:srgbClr val="FFFFFF"/>
                    </a:solidFill>
                  </a:tcPr>
                </a:tc>
                <a:tc>
                  <a:txBody>
                    <a:bodyPr wrap="square"/>
                    <a:lstStyle/>
                    <a:p>
                      <a:r>
                        <a:rPr sz="1100">
                          <a:solidFill>
                            <a:srgbClr val="1A1A1A"/>
                          </a:solidFill>
                        </a:rPr>
                        <a:t>Fonepay: accepted almost everywhere</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 platform earns its cut by removing friction (cost, matching, trust) that individuals could not remove alone. This is the value it captures via commissions, ads, or subscriptions.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12 / 100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S9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How Platforms Create Value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On Hamrobazar you buy a used phone from a stranger you'll never meet — something risky in a newspaper classified — because ratings, reviews, and the platform's dispute process create trust. Daraz reduces your search cost (no visiting ten shops), matches you to sellers, handles payment and returns, and is more useful because millions already use it. Those are the five mechanisms in one purchase.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"Platforms just take a commission for doing nothing." They capture value because they REMOVE real friction — search cost, matching, trust, payments, logistics — that buyers and sellers could not remove alone. The commission is the price of the friction they eliminate, not a toll for nothing.</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Platforms create value in five ways despite making nothing themselves: reducing transaction costs (search, negotiation, enforcement), enabling efficient matching (data/algorithms), building trust (ratings, reviews, verification, dispute resolution), providing tools and infrastructure (payments, logistics, dashboards), and creating network value (each user makes the platform more useful). They capture a share of this value through commissions, advertising, or subscriptions.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reduce transaction costs · efficient matching · trust/reputation · tools &amp; infrastructure · network value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13 / 100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S9 — 'Name the sides'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pick a Nepali platform (eSewa, Pathao, Daraz, Foodmandu, Hamrobazar).</a:t>
            </a:r>
          </a:p>
          <a:p>
            <a:pPr>
              <a:spcAft>
                <a:spcPts val="700"/>
              </a:spcAft>
            </a:pPr>
            <a:r>
              <a:rPr sz="1550">
                <a:solidFill>
                  <a:srgbClr val="1A1A1A"/>
                </a:solidFill>
              </a:rPr>
              <a:t>•  List every distinct SIDE it connects, and the matching problem it solves.</a:t>
            </a:r>
          </a:p>
          <a:p>
            <a:pPr>
              <a:spcAft>
                <a:spcPts val="700"/>
              </a:spcAft>
            </a:pPr>
            <a:r>
              <a:rPr sz="1550">
                <a:solidFill>
                  <a:srgbClr val="1A1A1A"/>
                </a:solidFill>
              </a:rPr>
              <a:t>•  Name which of the 5 value mechanisms it relies on most.</a:t>
            </a:r>
          </a:p>
          <a:p>
            <a:pPr>
              <a:spcAft>
                <a:spcPts val="700"/>
              </a:spcAft>
            </a:pPr>
            <a:r>
              <a:rPr sz="1550">
                <a:solidFill>
                  <a:srgbClr val="1A1A1A"/>
                </a:solidFill>
              </a:rPr>
              <a:t>•  Take 3 answers aloud (3 min); check each named at least two interdependent sides.</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Good answer for Daraz: buyers, sellers, advertisers, couriers; matching product↔buyer; relies on trust (ratings/returns) + reduced transaction cost. Reward spotting more than two sides and the interdependence.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14 / 100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S9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The key difference between a pipe and a platform business is:</a:t>
            </a:r>
          </a:p>
          <a:p>
            <a:pPr lvl="1"/>
            <a:r>
              <a:rPr sz="1500" b="1">
                <a:solidFill>
                  <a:srgbClr val="0F6E56"/>
                </a:solidFill>
              </a:rPr>
              <a:t>a) size   b) ✅ who creates the value — the firm (pipe) vs the users, for each other (platform)   c) profit   d) age</a:t>
            </a:r>
          </a:p>
          <a:p>
            <a:pPr lvl="1">
              <a:spcBef>
                <a:spcPts val="600"/>
              </a:spcBef>
            </a:pPr>
            <a:r>
              <a:rPr sz="1500" i="1">
                <a:solidFill>
                  <a:srgbClr val="1A1A1A"/>
                </a:solidFill>
              </a:rPr>
              <a:t>     Why: a pipe produces and sells value; a platform enables users to create value for each other.</a:t>
            </a:r>
          </a:p>
          <a:p>
            <a:pPr>
              <a:spcBef>
                <a:spcPts val="900"/>
              </a:spcBef>
            </a:pPr>
            <a:r>
              <a:rPr sz="1700" b="1">
                <a:solidFill>
                  <a:srgbClr val="0C2B4A"/>
                </a:solidFill>
              </a:rPr>
              <a:t>Q2.  A multi-sided platform's defining feature is that its user groups are:</a:t>
            </a:r>
          </a:p>
          <a:p>
            <a:pPr lvl="1"/>
            <a:r>
              <a:rPr sz="1500" b="1">
                <a:solidFill>
                  <a:srgbClr val="0F6E56"/>
                </a:solidFill>
              </a:rPr>
              <a:t>a) unrelated   b) all buyers   c) ✅ interdependent — each side needs the other   d) employees</a:t>
            </a:r>
          </a:p>
          <a:p>
            <a:pPr lvl="1">
              <a:spcBef>
                <a:spcPts val="600"/>
              </a:spcBef>
            </a:pPr>
            <a:r>
              <a:rPr sz="1500" i="1">
                <a:solidFill>
                  <a:srgbClr val="1A1A1A"/>
                </a:solidFill>
              </a:rPr>
              <a:t>     Why: sellers are useless without buyers and vice versa; the platform's job is to match interdependent sides.</a:t>
            </a:r>
          </a:p>
          <a:p>
            <a:pPr lvl="1">
              <a:spcBef>
                <a:spcPts val="600"/>
              </a:spcBef>
            </a:pPr>
            <a:r>
              <a:rPr sz="1500" i="1">
                <a:solidFill>
                  <a:srgbClr val="1A1A1A"/>
                </a:solidFill>
              </a:rPr>
              <a:t>Discussion: name a Nepali platform and every side it connects.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15 / 100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S9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Pipe business MAKES &amp; sells value one way; a platform CONNECTS groups so users create value for each other.</a:t>
            </a:r>
          </a:p>
          <a:p>
            <a:pPr>
              <a:spcAft>
                <a:spcPts val="800"/>
              </a:spcAft>
            </a:pPr>
            <a:r>
              <a:rPr sz="1500">
                <a:solidFill>
                  <a:srgbClr val="1A1A1A"/>
                </a:solidFill>
              </a:rPr>
              <a:t>2.  A multi-sided platform links 2+ interdependent groups and solves a matching problem; value rises as each side grows.</a:t>
            </a:r>
          </a:p>
          <a:p>
            <a:pPr>
              <a:spcAft>
                <a:spcPts val="800"/>
              </a:spcAft>
            </a:pPr>
            <a:r>
              <a:rPr sz="1500">
                <a:solidFill>
                  <a:srgbClr val="1A1A1A"/>
                </a:solidFill>
              </a:rPr>
              <a:t>3.  Platforms create value 5 ways: lower transaction costs, matching, trust, tools/infrastructure, network value.</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Almost every fast-growing Nepali digital business is a platform, not a pipe — understanding the model explains why they scale so fast and where their money comes from, which you'll need whether you build one or compete with one.</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S10 — the force that makes platforms win: network effects and positive feedback.</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16 / 100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10 · LECTURE HOUR 2 (OF 7)</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Network Effects &amp; Positive Feedback</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Why don't we juggle 20 messaging apps? Why did WhatsApp take over Nepal while Viber quietly faded? WhatsApp isn't twenty times better as software — but its USERS are. The value isn't only in the app; it's in who else is on it. That is the network effect, the single most important force in the digital economy.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17 / 100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S10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Network Effects &amp; the Positive Feedback Loop</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 network effect exists when a product becomes more valuable as more people use it. One fax machine is useless; a million are essential. This creates a positive feedback loop: more users → more value → attracts more users → more value. Because digital goods scale cheaply, this loop can run explosively — a rough intuition (Metcalfe) is that value grows with the number of possible connections, not just the number of users.</a:t>
            </a:r>
          </a:p>
          <a:p>
            <a:pPr>
              <a:spcAft>
                <a:spcPts val="500"/>
              </a:spcAft>
            </a:pPr>
            <a:r>
              <a:rPr sz="1200" b="1">
                <a:solidFill>
                  <a:srgbClr val="185FA5"/>
                </a:solidFill>
              </a:rPr>
              <a:t>HOW IT WORKS</a:t>
            </a:r>
          </a:p>
          <a:p>
            <a:pPr>
              <a:spcAft>
                <a:spcPts val="600"/>
              </a:spcAft>
            </a:pPr>
            <a:r>
              <a:rPr sz="1400">
                <a:solidFill>
                  <a:srgbClr val="1A1A1A"/>
                </a:solidFill>
              </a:rPr>
              <a:t>•  The value is in the network, not just the product — a phone nobody else has is worthless.</a:t>
            </a:r>
          </a:p>
          <a:p>
            <a:pPr>
              <a:spcAft>
                <a:spcPts val="600"/>
              </a:spcAft>
            </a:pPr>
            <a:r>
              <a:rPr sz="1400">
                <a:solidFill>
                  <a:srgbClr val="1A1A1A"/>
                </a:solidFill>
              </a:rPr>
              <a:t>•  Positive feedback: success breeds success (users → value → more users).</a:t>
            </a:r>
          </a:p>
          <a:p>
            <a:pPr>
              <a:spcAft>
                <a:spcPts val="600"/>
              </a:spcAft>
            </a:pPr>
            <a:r>
              <a:rPr sz="1400">
                <a:solidFill>
                  <a:srgbClr val="1A1A1A"/>
                </a:solidFill>
              </a:rPr>
              <a:t>•  Metcalfe intuition: 2 users = 1 link, 5 users = 10 links — value rises faster than user count.</a:t>
            </a:r>
          </a:p>
          <a:p>
            <a:pPr>
              <a:spcAft>
                <a:spcPts val="600"/>
              </a:spcAft>
            </a:pPr>
            <a:r>
              <a:rPr sz="1400">
                <a:solidFill>
                  <a:srgbClr val="1A1A1A"/>
                </a:solidFill>
              </a:rPr>
              <a:t>•  Digital + low marginal cost lets the loop spin fast, unlike physical networks (roads, rail).</a:t>
            </a:r>
          </a:p>
        </p:txBody>
      </p:sp>
      <p:pic>
        <p:nvPicPr>
          <p:cNvPr id="6" name="Picture 5" descr="s10_networkloop.png"/>
          <p:cNvPicPr>
            <a:picLocks noChangeAspect="1"/>
          </p:cNvPicPr>
          <p:nvPr/>
        </p:nvPicPr>
        <p:blipFill>
          <a:blip r:embed="rId2"/>
          <a:stretch>
            <a:fillRect/>
          </a:stretch>
        </p:blipFill>
        <p:spPr>
          <a:xfrm>
            <a:off x="6355080" y="2392193"/>
            <a:ext cx="5532120" cy="2850852"/>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Network effect: more users → more value → more users (positive feedback).</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18 / 100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S10 · CONCEPT 1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Network effect vs viral effect — often confused</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3175000"/>
                <a:gridCol w="4127500"/>
                <a:gridCol w="4127500"/>
              </a:tblGrid>
              <a:tr h="736092">
                <a:tc>
                  <a:txBody>
                    <a:bodyPr wrap="square"/>
                    <a:lstStyle/>
                    <a:p>
                      <a:r>
                        <a:rPr sz="1150" b="1">
                          <a:solidFill>
                            <a:srgbClr val="FFFFFF"/>
                          </a:solidFill>
                        </a:rPr>
                        <a:t>Question</a:t>
                      </a:r>
                    </a:p>
                  </a:txBody>
                  <a:tcPr anchor="ctr" marL="73152" marR="54864" marT="27432" marB="27432">
                    <a:solidFill>
                      <a:srgbClr val="0C2B4A"/>
                    </a:solidFill>
                  </a:tcPr>
                </a:tc>
                <a:tc>
                  <a:txBody>
                    <a:bodyPr wrap="square"/>
                    <a:lstStyle/>
                    <a:p>
                      <a:r>
                        <a:rPr sz="1150" b="1">
                          <a:solidFill>
                            <a:srgbClr val="FFFFFF"/>
                          </a:solidFill>
                        </a:rPr>
                        <a:t>Network effect</a:t>
                      </a:r>
                    </a:p>
                  </a:txBody>
                  <a:tcPr anchor="ctr" marL="73152" marR="54864" marT="27432" marB="27432">
                    <a:solidFill>
                      <a:srgbClr val="0C2B4A"/>
                    </a:solidFill>
                  </a:tcPr>
                </a:tc>
                <a:tc>
                  <a:txBody>
                    <a:bodyPr wrap="square"/>
                    <a:lstStyle/>
                    <a:p>
                      <a:r>
                        <a:rPr sz="1150" b="1">
                          <a:solidFill>
                            <a:srgbClr val="FFFFFF"/>
                          </a:solidFill>
                        </a:rPr>
                        <a:t>Viral effect</a:t>
                      </a:r>
                    </a:p>
                  </a:txBody>
                  <a:tcPr anchor="ctr" marL="73152" marR="54864" marT="27432" marB="27432">
                    <a:solidFill>
                      <a:srgbClr val="0C2B4A"/>
                    </a:solidFill>
                  </a:tcPr>
                </a:tc>
              </a:tr>
              <a:tr h="736092">
                <a:tc>
                  <a:txBody>
                    <a:bodyPr wrap="square"/>
                    <a:lstStyle/>
                    <a:p>
                      <a:r>
                        <a:rPr sz="1100" b="1">
                          <a:solidFill>
                            <a:srgbClr val="0C2B4A"/>
                          </a:solidFill>
                        </a:rPr>
                        <a:t>What happens</a:t>
                      </a:r>
                    </a:p>
                  </a:txBody>
                  <a:tcPr anchor="ctr" marL="73152" marR="54864" marT="27432" marB="27432">
                    <a:solidFill>
                      <a:srgbClr val="FFFFFF"/>
                    </a:solidFill>
                  </a:tcPr>
                </a:tc>
                <a:tc>
                  <a:txBody>
                    <a:bodyPr wrap="square"/>
                    <a:lstStyle/>
                    <a:p>
                      <a:r>
                        <a:rPr sz="1100">
                          <a:solidFill>
                            <a:srgbClr val="1A1A1A"/>
                          </a:solidFill>
                        </a:rPr>
                        <a:t>Product gets more USEFUL as users join</a:t>
                      </a:r>
                    </a:p>
                  </a:txBody>
                  <a:tcPr anchor="ctr" marL="73152" marR="54864" marT="27432" marB="27432">
                    <a:solidFill>
                      <a:srgbClr val="FFFFFF"/>
                    </a:solidFill>
                  </a:tcPr>
                </a:tc>
                <a:tc>
                  <a:txBody>
                    <a:bodyPr wrap="square"/>
                    <a:lstStyle/>
                    <a:p>
                      <a:r>
                        <a:rPr sz="1100">
                          <a:solidFill>
                            <a:srgbClr val="1A1A1A"/>
                          </a:solidFill>
                        </a:rPr>
                        <a:t>Content SPREADS fast via sharing</a:t>
                      </a:r>
                    </a:p>
                  </a:txBody>
                  <a:tcPr anchor="ctr" marL="73152" marR="54864" marT="27432" marB="27432">
                    <a:solidFill>
                      <a:srgbClr val="FFFFFF"/>
                    </a:solidFill>
                  </a:tcPr>
                </a:tc>
              </a:tr>
              <a:tr h="736092">
                <a:tc>
                  <a:txBody>
                    <a:bodyPr wrap="square"/>
                    <a:lstStyle/>
                    <a:p>
                      <a:r>
                        <a:rPr sz="1100" b="1">
                          <a:solidFill>
                            <a:srgbClr val="0C2B4A"/>
                          </a:solidFill>
                        </a:rPr>
                        <a:t>Does it add lasting value?</a:t>
                      </a:r>
                    </a:p>
                  </a:txBody>
                  <a:tcPr anchor="ctr" marL="73152" marR="54864" marT="27432" marB="27432">
                    <a:solidFill>
                      <a:srgbClr val="EEF3F8"/>
                    </a:solidFill>
                  </a:tcPr>
                </a:tc>
                <a:tc>
                  <a:txBody>
                    <a:bodyPr wrap="square"/>
                    <a:lstStyle/>
                    <a:p>
                      <a:r>
                        <a:rPr sz="1100">
                          <a:solidFill>
                            <a:srgbClr val="1A1A1A"/>
                          </a:solidFill>
                        </a:rPr>
                        <a:t>Yes — each user improves the product</a:t>
                      </a:r>
                    </a:p>
                  </a:txBody>
                  <a:tcPr anchor="ctr" marL="73152" marR="54864" marT="27432" marB="27432">
                    <a:solidFill>
                      <a:srgbClr val="EEF3F8"/>
                    </a:solidFill>
                  </a:tcPr>
                </a:tc>
                <a:tc>
                  <a:txBody>
                    <a:bodyPr wrap="square"/>
                    <a:lstStyle/>
                    <a:p>
                      <a:r>
                        <a:rPr sz="1100">
                          <a:solidFill>
                            <a:srgbClr val="1A1A1A"/>
                          </a:solidFill>
                        </a:rPr>
                        <a:t>Not necessarily — a meme fades</a:t>
                      </a:r>
                    </a:p>
                  </a:txBody>
                  <a:tcPr anchor="ctr" marL="73152" marR="54864" marT="27432" marB="27432">
                    <a:solidFill>
                      <a:srgbClr val="EEF3F8"/>
                    </a:solidFill>
                  </a:tcPr>
                </a:tc>
              </a:tr>
              <a:tr h="736092">
                <a:tc>
                  <a:txBody>
                    <a:bodyPr wrap="square"/>
                    <a:lstStyle/>
                    <a:p>
                      <a:r>
                        <a:rPr sz="1100" b="1">
                          <a:solidFill>
                            <a:srgbClr val="0C2B4A"/>
                          </a:solidFill>
                        </a:rPr>
                        <a:t>Time horizon</a:t>
                      </a:r>
                    </a:p>
                  </a:txBody>
                  <a:tcPr anchor="ctr" marL="73152" marR="54864" marT="27432" marB="27432">
                    <a:solidFill>
                      <a:srgbClr val="FFFFFF"/>
                    </a:solidFill>
                  </a:tcPr>
                </a:tc>
                <a:tc>
                  <a:txBody>
                    <a:bodyPr wrap="square"/>
                    <a:lstStyle/>
                    <a:p>
                      <a:r>
                        <a:rPr sz="1100">
                          <a:solidFill>
                            <a:srgbClr val="1A1A1A"/>
                          </a:solidFill>
                        </a:rPr>
                        <a:t>Long-term competitive advantage</a:t>
                      </a:r>
                    </a:p>
                  </a:txBody>
                  <a:tcPr anchor="ctr" marL="73152" marR="54864" marT="27432" marB="27432">
                    <a:solidFill>
                      <a:srgbClr val="FFFFFF"/>
                    </a:solidFill>
                  </a:tcPr>
                </a:tc>
                <a:tc>
                  <a:txBody>
                    <a:bodyPr wrap="square"/>
                    <a:lstStyle/>
                    <a:p>
                      <a:r>
                        <a:rPr sz="1100">
                          <a:solidFill>
                            <a:srgbClr val="1A1A1A"/>
                          </a:solidFill>
                        </a:rPr>
                        <a:t>Often a short-lived spike</a:t>
                      </a:r>
                    </a:p>
                  </a:txBody>
                  <a:tcPr anchor="ctr" marL="73152" marR="54864" marT="27432" marB="27432">
                    <a:solidFill>
                      <a:srgbClr val="FFFFFF"/>
                    </a:solidFill>
                  </a:tcPr>
                </a:tc>
              </a:tr>
              <a:tr h="736092">
                <a:tc>
                  <a:txBody>
                    <a:bodyPr wrap="square"/>
                    <a:lstStyle/>
                    <a:p>
                      <a:r>
                        <a:rPr sz="1100" b="1">
                          <a:solidFill>
                            <a:srgbClr val="0C2B4A"/>
                          </a:solidFill>
                        </a:rPr>
                        <a:t>Example</a:t>
                      </a:r>
                    </a:p>
                  </a:txBody>
                  <a:tcPr anchor="ctr" marL="73152" marR="54864" marT="27432" marB="27432">
                    <a:solidFill>
                      <a:srgbClr val="EEF3F8"/>
                    </a:solidFill>
                  </a:tcPr>
                </a:tc>
                <a:tc>
                  <a:txBody>
                    <a:bodyPr wrap="square"/>
                    <a:lstStyle/>
                    <a:p>
                      <a:r>
                        <a:rPr sz="1100">
                          <a:solidFill>
                            <a:srgbClr val="1A1A1A"/>
                          </a:solidFill>
                        </a:rPr>
                        <a:t>WhatsApp more useful as friends join</a:t>
                      </a:r>
                    </a:p>
                  </a:txBody>
                  <a:tcPr anchor="ctr" marL="73152" marR="54864" marT="27432" marB="27432">
                    <a:solidFill>
                      <a:srgbClr val="EEF3F8"/>
                    </a:solidFill>
                  </a:tcPr>
                </a:tc>
                <a:tc>
                  <a:txBody>
                    <a:bodyPr wrap="square"/>
                    <a:lstStyle/>
                    <a:p>
                      <a:r>
                        <a:rPr sz="1100">
                          <a:solidFill>
                            <a:srgbClr val="1A1A1A"/>
                          </a:solidFill>
                        </a:rPr>
                        <a:t>A viral TikTok clip or forwarded joke</a:t>
                      </a:r>
                    </a:p>
                  </a:txBody>
                  <a:tcPr anchor="ctr" marL="73152" marR="54864" marT="27432" marB="27432">
                    <a:solidFill>
                      <a:srgbClr val="EEF3F8"/>
                    </a:solidFill>
                  </a:tcPr>
                </a:tc>
              </a:tr>
              <a:tr h="736092">
                <a:tc>
                  <a:txBody>
                    <a:bodyPr wrap="square"/>
                    <a:lstStyle/>
                    <a:p>
                      <a:r>
                        <a:rPr sz="1100" b="1">
                          <a:solidFill>
                            <a:srgbClr val="0C2B4A"/>
                          </a:solidFill>
                        </a:rPr>
                        <a:t>Can you have one without the other?</a:t>
                      </a:r>
                    </a:p>
                  </a:txBody>
                  <a:tcPr anchor="ctr" marL="73152" marR="54864" marT="27432" marB="27432">
                    <a:solidFill>
                      <a:srgbClr val="FFFFFF"/>
                    </a:solidFill>
                  </a:tcPr>
                </a:tc>
                <a:tc>
                  <a:txBody>
                    <a:bodyPr wrap="square"/>
                    <a:lstStyle/>
                    <a:p>
                      <a:r>
                        <a:rPr sz="1100">
                          <a:solidFill>
                            <a:srgbClr val="1A1A1A"/>
                          </a:solidFill>
                        </a:rPr>
                        <a:t>Yes — a useful tool few share</a:t>
                      </a:r>
                    </a:p>
                  </a:txBody>
                  <a:tcPr anchor="ctr" marL="73152" marR="54864" marT="27432" marB="27432">
                    <a:solidFill>
                      <a:srgbClr val="FFFFFF"/>
                    </a:solidFill>
                  </a:tcPr>
                </a:tc>
                <a:tc>
                  <a:txBody>
                    <a:bodyPr wrap="square"/>
                    <a:lstStyle/>
                    <a:p>
                      <a:r>
                        <a:rPr sz="1100">
                          <a:solidFill>
                            <a:srgbClr val="1A1A1A"/>
                          </a:solidFill>
                        </a:rPr>
                        <a:t>Yes — viral content on a weak platform</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Going viral is not the same as a network effect: virality is fast spread; a network effect is durable added value. Google+ went viral on launch but had no lasting network effect and died.</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19 / 100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S10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Network Effects &amp; Positive Feedback</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WhatsApp won Nepal not by being the best-engineered app but because everyone's family, college group, and workplace is already on it — each new user made it more useful to the rest. Viber and others faced the reverse: fewer contacts meant less value, so users drifted to where the network was. The positive feedback loop rewarded the platform that got ahead first.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"The best app always wins." In network markets the best-CONNECTED app wins, not necessarily the best-built one. A technically superior messenger with few of your contacts is less useful to you than a plainer one where everyone already is — value lives in the network, not only the features.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network effect exists when a product becomes more valuable as more people use it, creating a positive feedback loop (more users → more value → more users). A rough intuition from Metcalfe is that value rises with the number of possible connections, faster than the raw user count. Because digital goods scale at low marginal cost, the loop can run explosively — which is why the best-connected platform, not always the best-built one, tends to win.</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network effect · value rises with users · positive feedback loop · Metcalfe intuition · best-connected wins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20 / 100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S10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Four Types of Network Effect</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Network effects come in four kinds. Direct (same-side): more users of the SAME type add value — WhatsApp, Facebook. Indirect (cross-side): more users on one side attract the other — Uber riders↔drivers, app developers↔users. Data: more users → more data → a better product → more users — Google Maps, TikTok. Standard/technology: a technical standard grows more valuable as it dominates — Fonepay QR, USB-C.</a:t>
            </a:r>
          </a:p>
          <a:p>
            <a:pPr>
              <a:spcAft>
                <a:spcPts val="500"/>
              </a:spcAft>
            </a:pPr>
            <a:r>
              <a:rPr sz="1200" b="1">
                <a:solidFill>
                  <a:srgbClr val="185FA5"/>
                </a:solidFill>
              </a:rPr>
              <a:t>HOW IT WORKS</a:t>
            </a:r>
          </a:p>
          <a:p>
            <a:pPr>
              <a:spcAft>
                <a:spcPts val="600"/>
              </a:spcAft>
            </a:pPr>
            <a:r>
              <a:rPr sz="1400">
                <a:solidFill>
                  <a:srgbClr val="1A1A1A"/>
                </a:solidFill>
              </a:rPr>
              <a:t>•  Direct / same-side: value from others LIKE you (more friends on the same app).</a:t>
            </a:r>
          </a:p>
          <a:p>
            <a:pPr>
              <a:spcAft>
                <a:spcPts val="600"/>
              </a:spcAft>
            </a:pPr>
            <a:r>
              <a:rPr sz="1400">
                <a:solidFill>
                  <a:srgbClr val="1A1A1A"/>
                </a:solidFill>
              </a:rPr>
              <a:t>•  Indirect / cross-side: value from the OTHER side (more drivers → better for riders).</a:t>
            </a:r>
          </a:p>
          <a:p>
            <a:pPr>
              <a:spcAft>
                <a:spcPts val="600"/>
              </a:spcAft>
            </a:pPr>
            <a:r>
              <a:rPr sz="1400">
                <a:solidFill>
                  <a:srgbClr val="1A1A1A"/>
                </a:solidFill>
              </a:rPr>
              <a:t>•  Data network effect: usage generates data that makes the product smarter (TikTok's feed).</a:t>
            </a:r>
          </a:p>
          <a:p>
            <a:pPr>
              <a:spcAft>
                <a:spcPts val="600"/>
              </a:spcAft>
            </a:pPr>
            <a:r>
              <a:rPr sz="1400">
                <a:solidFill>
                  <a:srgbClr val="1A1A1A"/>
                </a:solidFill>
              </a:rPr>
              <a:t>•  Standard/technology: the more a standard is adopted, the more valuable it is (QR, USB-C).</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Four types: direct (same-side) · indirect (cross-side) · data · standard/technology.</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21 / 100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S10 · CONCEPT 2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four types of network effect</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934729"/>
                <a:gridCol w="4479324"/>
                <a:gridCol w="4015945"/>
              </a:tblGrid>
              <a:tr h="883310">
                <a:tc>
                  <a:txBody>
                    <a:bodyPr wrap="square"/>
                    <a:lstStyle/>
                    <a:p>
                      <a:r>
                        <a:rPr sz="1150" b="1">
                          <a:solidFill>
                            <a:srgbClr val="FFFFFF"/>
                          </a:solidFill>
                        </a:rPr>
                        <a:t>Type</a:t>
                      </a:r>
                    </a:p>
                  </a:txBody>
                  <a:tcPr anchor="ctr" marL="73152" marR="54864" marT="27432" marB="27432">
                    <a:solidFill>
                      <a:srgbClr val="0C2B4A"/>
                    </a:solidFill>
                  </a:tcPr>
                </a:tc>
                <a:tc>
                  <a:txBody>
                    <a:bodyPr wrap="square"/>
                    <a:lstStyle/>
                    <a:p>
                      <a:r>
                        <a:rPr sz="1150" b="1">
                          <a:solidFill>
                            <a:srgbClr val="FFFFFF"/>
                          </a:solidFill>
                        </a:rPr>
                        <a:t>How value grows</a:t>
                      </a:r>
                    </a:p>
                  </a:txBody>
                  <a:tcPr anchor="ctr" marL="73152" marR="54864" marT="27432" marB="27432">
                    <a:solidFill>
                      <a:srgbClr val="0C2B4A"/>
                    </a:solidFill>
                  </a:tcPr>
                </a:tc>
                <a:tc>
                  <a:txBody>
                    <a:bodyPr wrap="square"/>
                    <a:lstStyle/>
                    <a:p>
                      <a:r>
                        <a:rPr sz="1150" b="1">
                          <a:solidFill>
                            <a:srgbClr val="FFFFFF"/>
                          </a:solidFill>
                        </a:rPr>
                        <a:t>Nepal / global example</a:t>
                      </a:r>
                    </a:p>
                  </a:txBody>
                  <a:tcPr anchor="ctr" marL="73152" marR="54864" marT="27432" marB="27432">
                    <a:solidFill>
                      <a:srgbClr val="0C2B4A"/>
                    </a:solidFill>
                  </a:tcPr>
                </a:tc>
              </a:tr>
              <a:tr h="883310">
                <a:tc>
                  <a:txBody>
                    <a:bodyPr wrap="square"/>
                    <a:lstStyle/>
                    <a:p>
                      <a:r>
                        <a:rPr sz="1100" b="1">
                          <a:solidFill>
                            <a:srgbClr val="0C2B4A"/>
                          </a:solidFill>
                        </a:rPr>
                        <a:t>Direct (same-side)</a:t>
                      </a:r>
                    </a:p>
                  </a:txBody>
                  <a:tcPr anchor="ctr" marL="73152" marR="54864" marT="27432" marB="27432">
                    <a:solidFill>
                      <a:srgbClr val="FFFFFF"/>
                    </a:solidFill>
                  </a:tcPr>
                </a:tc>
                <a:tc>
                  <a:txBody>
                    <a:bodyPr wrap="square"/>
                    <a:lstStyle/>
                    <a:p>
                      <a:r>
                        <a:rPr sz="1100">
                          <a:solidFill>
                            <a:srgbClr val="1A1A1A"/>
                          </a:solidFill>
                        </a:rPr>
                        <a:t>More users of the SAME group add value</a:t>
                      </a:r>
                    </a:p>
                  </a:txBody>
                  <a:tcPr anchor="ctr" marL="73152" marR="54864" marT="27432" marB="27432">
                    <a:solidFill>
                      <a:srgbClr val="FFFFFF"/>
                    </a:solidFill>
                  </a:tcPr>
                </a:tc>
                <a:tc>
                  <a:txBody>
                    <a:bodyPr wrap="square"/>
                    <a:lstStyle/>
                    <a:p>
                      <a:r>
                        <a:rPr sz="1100">
                          <a:solidFill>
                            <a:srgbClr val="1A1A1A"/>
                          </a:solidFill>
                        </a:rPr>
                        <a:t>WhatsApp, Facebook, online games</a:t>
                      </a:r>
                    </a:p>
                  </a:txBody>
                  <a:tcPr anchor="ctr" marL="73152" marR="54864" marT="27432" marB="27432">
                    <a:solidFill>
                      <a:srgbClr val="FFFFFF"/>
                    </a:solidFill>
                  </a:tcPr>
                </a:tc>
              </a:tr>
              <a:tr h="883310">
                <a:tc>
                  <a:txBody>
                    <a:bodyPr wrap="square"/>
                    <a:lstStyle/>
                    <a:p>
                      <a:r>
                        <a:rPr sz="1100" b="1">
                          <a:solidFill>
                            <a:srgbClr val="0C2B4A"/>
                          </a:solidFill>
                        </a:rPr>
                        <a:t>Indirect (cross-side)</a:t>
                      </a:r>
                    </a:p>
                  </a:txBody>
                  <a:tcPr anchor="ctr" marL="73152" marR="54864" marT="27432" marB="27432">
                    <a:solidFill>
                      <a:srgbClr val="EEF3F8"/>
                    </a:solidFill>
                  </a:tcPr>
                </a:tc>
                <a:tc>
                  <a:txBody>
                    <a:bodyPr wrap="square"/>
                    <a:lstStyle/>
                    <a:p>
                      <a:r>
                        <a:rPr sz="1100">
                          <a:solidFill>
                            <a:srgbClr val="1A1A1A"/>
                          </a:solidFill>
                        </a:rPr>
                        <a:t>More users on one side attract the other</a:t>
                      </a:r>
                    </a:p>
                  </a:txBody>
                  <a:tcPr anchor="ctr" marL="73152" marR="54864" marT="27432" marB="27432">
                    <a:solidFill>
                      <a:srgbClr val="EEF3F8"/>
                    </a:solidFill>
                  </a:tcPr>
                </a:tc>
                <a:tc>
                  <a:txBody>
                    <a:bodyPr wrap="square"/>
                    <a:lstStyle/>
                    <a:p>
                      <a:r>
                        <a:rPr sz="1100">
                          <a:solidFill>
                            <a:srgbClr val="1A1A1A"/>
                          </a:solidFill>
                        </a:rPr>
                        <a:t>Pathao riders↔drivers; app stores</a:t>
                      </a:r>
                    </a:p>
                  </a:txBody>
                  <a:tcPr anchor="ctr" marL="73152" marR="54864" marT="27432" marB="27432">
                    <a:solidFill>
                      <a:srgbClr val="EEF3F8"/>
                    </a:solidFill>
                  </a:tcPr>
                </a:tc>
              </a:tr>
              <a:tr h="883310">
                <a:tc>
                  <a:txBody>
                    <a:bodyPr wrap="square"/>
                    <a:lstStyle/>
                    <a:p>
                      <a:r>
                        <a:rPr sz="1100" b="1">
                          <a:solidFill>
                            <a:srgbClr val="0C2B4A"/>
                          </a:solidFill>
                        </a:rPr>
                        <a:t>Data</a:t>
                      </a:r>
                    </a:p>
                  </a:txBody>
                  <a:tcPr anchor="ctr" marL="73152" marR="54864" marT="27432" marB="27432">
                    <a:solidFill>
                      <a:srgbClr val="FFFFFF"/>
                    </a:solidFill>
                  </a:tcPr>
                </a:tc>
                <a:tc>
                  <a:txBody>
                    <a:bodyPr wrap="square"/>
                    <a:lstStyle/>
                    <a:p>
                      <a:r>
                        <a:rPr sz="1100">
                          <a:solidFill>
                            <a:srgbClr val="1A1A1A"/>
                          </a:solidFill>
                        </a:rPr>
                        <a:t>Usage → data → smarter product → users</a:t>
                      </a:r>
                    </a:p>
                  </a:txBody>
                  <a:tcPr anchor="ctr" marL="73152" marR="54864" marT="27432" marB="27432">
                    <a:solidFill>
                      <a:srgbClr val="FFFFFF"/>
                    </a:solidFill>
                  </a:tcPr>
                </a:tc>
                <a:tc>
                  <a:txBody>
                    <a:bodyPr wrap="square"/>
                    <a:lstStyle/>
                    <a:p>
                      <a:r>
                        <a:rPr sz="1100">
                          <a:solidFill>
                            <a:srgbClr val="1A1A1A"/>
                          </a:solidFill>
                        </a:rPr>
                        <a:t>TikTok feed; Google Maps traffic</a:t>
                      </a:r>
                    </a:p>
                  </a:txBody>
                  <a:tcPr anchor="ctr" marL="73152" marR="54864" marT="27432" marB="27432">
                    <a:solidFill>
                      <a:srgbClr val="FFFFFF"/>
                    </a:solidFill>
                  </a:tcPr>
                </a:tc>
              </a:tr>
              <a:tr h="883312">
                <a:tc>
                  <a:txBody>
                    <a:bodyPr wrap="square"/>
                    <a:lstStyle/>
                    <a:p>
                      <a:r>
                        <a:rPr sz="1100" b="1">
                          <a:solidFill>
                            <a:srgbClr val="0C2B4A"/>
                          </a:solidFill>
                        </a:rPr>
                        <a:t>Standard / technology</a:t>
                      </a:r>
                    </a:p>
                  </a:txBody>
                  <a:tcPr anchor="ctr" marL="73152" marR="54864" marT="27432" marB="27432">
                    <a:solidFill>
                      <a:srgbClr val="EEF3F8"/>
                    </a:solidFill>
                  </a:tcPr>
                </a:tc>
                <a:tc>
                  <a:txBody>
                    <a:bodyPr wrap="square"/>
                    <a:lstStyle/>
                    <a:p>
                      <a:r>
                        <a:rPr sz="1100">
                          <a:solidFill>
                            <a:srgbClr val="1A1A1A"/>
                          </a:solidFill>
                        </a:rPr>
                        <a:t>A standard grows more valuable as it dominates</a:t>
                      </a:r>
                    </a:p>
                  </a:txBody>
                  <a:tcPr anchor="ctr" marL="73152" marR="54864" marT="27432" marB="27432">
                    <a:solidFill>
                      <a:srgbClr val="EEF3F8"/>
                    </a:solidFill>
                  </a:tcPr>
                </a:tc>
                <a:tc>
                  <a:txBody>
                    <a:bodyPr wrap="square"/>
                    <a:lstStyle/>
                    <a:p>
                      <a:r>
                        <a:rPr sz="1100">
                          <a:solidFill>
                            <a:srgbClr val="1A1A1A"/>
                          </a:solidFill>
                        </a:rPr>
                        <a:t>Fonepay QR; USB-C; GSM; PDF</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Many platforms have several at once: Daraz has indirect (buyers↔sellers) AND data (recommendations) effects. Identifying which type is at work tells you how the platform defends its lead.</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22 / 100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S10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Four Types of Network Effect</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TikTok shows the data network effect vividly: every swipe, watch-time, and replay trains its algorithm, so the feed gets more addictive the more you (and everyone) use it — a better product that attracts more users who generate more data. Fonepay shows the standard effect: once most Nepali merchants display a Fonepay QR, every wallet wants to work with it, and every user expects it — the standard's dominance is its value.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"All network effects are the same 'more users = better' idea." They differ in HOW value grows: same-side (friends), cross-side (the other group), data (a smarter product), or a standard (adoption itself). Knowing the type matters — a data effect is defended by data, a standard effect by ubiquity.</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Network effects come in four types: direct/same-side (more users of the same group add value — WhatsApp), indirect/cross-side (more users on one side attract the other — Pathao riders↔drivers), data (usage generates data that makes the product smarter — TikTok, Google Maps), and standard/technology (a standard grows more valuable as it dominates — Fonepay QR, USB-C). A platform often has several at once, and the type determines how it defends its lead.</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direct/same-side · indirect/cross-side · data network effect · standard/technology effect · often combined</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23 / 100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S10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Limits: Negative Network Effects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Network effects are not infinite or always positive. Beyond some point, more users can REDUCE value — congestion (a video call that lags at peak), spam and low-quality content, toxicity, or price surges that anger users. These negative network effects, plus failure cases like Google+ and Clubhouse, show the loop can stall or reverse; growth must be managed, not assumed.</a:t>
            </a:r>
          </a:p>
          <a:p>
            <a:pPr>
              <a:spcAft>
                <a:spcPts val="500"/>
              </a:spcAft>
            </a:pPr>
            <a:r>
              <a:rPr sz="1200" b="1">
                <a:solidFill>
                  <a:srgbClr val="185FA5"/>
                </a:solidFill>
              </a:rPr>
              <a:t>HOW IT WORKS</a:t>
            </a:r>
          </a:p>
          <a:p>
            <a:pPr>
              <a:spcAft>
                <a:spcPts val="600"/>
              </a:spcAft>
            </a:pPr>
            <a:r>
              <a:rPr sz="1400">
                <a:solidFill>
                  <a:srgbClr val="1A1A1A"/>
                </a:solidFill>
              </a:rPr>
              <a:t>•  Congestion: too many users strain capacity (peak-time app slowdowns).</a:t>
            </a:r>
          </a:p>
          <a:p>
            <a:pPr>
              <a:spcAft>
                <a:spcPts val="600"/>
              </a:spcAft>
            </a:pPr>
            <a:r>
              <a:rPr sz="1400">
                <a:solidFill>
                  <a:srgbClr val="1A1A1A"/>
                </a:solidFill>
              </a:rPr>
              <a:t>•  Quality dilution: too many low-quality sellers/posts crowd out the good ones.</a:t>
            </a:r>
          </a:p>
          <a:p>
            <a:pPr>
              <a:spcAft>
                <a:spcPts val="600"/>
              </a:spcAft>
            </a:pPr>
            <a:r>
              <a:rPr sz="1400">
                <a:solidFill>
                  <a:srgbClr val="1A1A1A"/>
                </a:solidFill>
              </a:rPr>
              <a:t>•  Toxicity &amp; noise: unmoderated growth drives good users away.</a:t>
            </a:r>
          </a:p>
          <a:p>
            <a:pPr>
              <a:spcAft>
                <a:spcPts val="600"/>
              </a:spcAft>
            </a:pPr>
            <a:r>
              <a:rPr sz="1400">
                <a:solidFill>
                  <a:srgbClr val="1A1A1A"/>
                </a:solidFill>
              </a:rPr>
              <a:t>•  The loop can reverse: users leaving makes a platform less valuable, accelerating decline.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More users can HURT: congestion, spam, toxicity, surge — network effects have limits &amp; can reverse.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24 / 100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S10 · CONCEPT 3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Positive vs negative network effects</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2857500"/>
                <a:gridCol w="3968750"/>
                <a:gridCol w="4603750"/>
              </a:tblGrid>
              <a:tr h="736092">
                <a:tc>
                  <a:txBody>
                    <a:bodyPr wrap="square"/>
                    <a:lstStyle/>
                    <a:p>
                      <a:r>
                        <a:rPr sz="1100" b="1">
                          <a:solidFill>
                            <a:srgbClr val="FFFFFF"/>
                          </a:solidFill>
                        </a:rPr>
                        <a:t>Situation</a:t>
                      </a:r>
                    </a:p>
                  </a:txBody>
                  <a:tcPr anchor="ctr" marL="73152" marR="54864" marT="27432" marB="27432">
                    <a:solidFill>
                      <a:srgbClr val="0C2B4A"/>
                    </a:solidFill>
                  </a:tcPr>
                </a:tc>
                <a:tc>
                  <a:txBody>
                    <a:bodyPr wrap="square"/>
                    <a:lstStyle/>
                    <a:p>
                      <a:r>
                        <a:rPr sz="1100" b="1">
                          <a:solidFill>
                            <a:srgbClr val="FFFFFF"/>
                          </a:solidFill>
                        </a:rPr>
                        <a:t>Positive network effect</a:t>
                      </a:r>
                    </a:p>
                  </a:txBody>
                  <a:tcPr anchor="ctr" marL="73152" marR="54864" marT="27432" marB="27432">
                    <a:solidFill>
                      <a:srgbClr val="0C2B4A"/>
                    </a:solidFill>
                  </a:tcPr>
                </a:tc>
                <a:tc>
                  <a:txBody>
                    <a:bodyPr wrap="square"/>
                    <a:lstStyle/>
                    <a:p>
                      <a:r>
                        <a:rPr sz="1100" b="1">
                          <a:solidFill>
                            <a:srgbClr val="FFFFFF"/>
                          </a:solidFill>
                        </a:rPr>
                        <a:t>Negative network effect (too many / wrong users)</a:t>
                      </a:r>
                    </a:p>
                  </a:txBody>
                  <a:tcPr anchor="ctr" marL="73152" marR="54864" marT="27432" marB="27432">
                    <a:solidFill>
                      <a:srgbClr val="0C2B4A"/>
                    </a:solidFill>
                  </a:tcPr>
                </a:tc>
              </a:tr>
              <a:tr h="736092">
                <a:tc>
                  <a:txBody>
                    <a:bodyPr wrap="square"/>
                    <a:lstStyle/>
                    <a:p>
                      <a:r>
                        <a:rPr sz="1050" b="1">
                          <a:solidFill>
                            <a:srgbClr val="0C2B4A"/>
                          </a:solidFill>
                        </a:rPr>
                        <a:t>Messaging app</a:t>
                      </a:r>
                    </a:p>
                  </a:txBody>
                  <a:tcPr anchor="ctr" marL="73152" marR="54864" marT="27432" marB="27432">
                    <a:solidFill>
                      <a:srgbClr val="FFFFFF"/>
                    </a:solidFill>
                  </a:tcPr>
                </a:tc>
                <a:tc>
                  <a:txBody>
                    <a:bodyPr wrap="square"/>
                    <a:lstStyle/>
                    <a:p>
                      <a:r>
                        <a:rPr sz="1050">
                          <a:solidFill>
                            <a:srgbClr val="1A1A1A"/>
                          </a:solidFill>
                        </a:rPr>
                        <a:t>More friends → more useful</a:t>
                      </a:r>
                    </a:p>
                  </a:txBody>
                  <a:tcPr anchor="ctr" marL="73152" marR="54864" marT="27432" marB="27432">
                    <a:solidFill>
                      <a:srgbClr val="FFFFFF"/>
                    </a:solidFill>
                  </a:tcPr>
                </a:tc>
                <a:tc>
                  <a:txBody>
                    <a:bodyPr wrap="square"/>
                    <a:lstStyle/>
                    <a:p>
                      <a:r>
                        <a:rPr sz="1050">
                          <a:solidFill>
                            <a:srgbClr val="1A1A1A"/>
                          </a:solidFill>
                        </a:rPr>
                        <a:t>(few negatives — scales well)</a:t>
                      </a:r>
                    </a:p>
                  </a:txBody>
                  <a:tcPr anchor="ctr" marL="73152" marR="54864" marT="27432" marB="27432">
                    <a:solidFill>
                      <a:srgbClr val="FFFFFF"/>
                    </a:solidFill>
                  </a:tcPr>
                </a:tc>
              </a:tr>
              <a:tr h="736092">
                <a:tc>
                  <a:txBody>
                    <a:bodyPr wrap="square"/>
                    <a:lstStyle/>
                    <a:p>
                      <a:r>
                        <a:rPr sz="1050" b="1">
                          <a:solidFill>
                            <a:srgbClr val="0C2B4A"/>
                          </a:solidFill>
                        </a:rPr>
                        <a:t>Ride-hailing at peak</a:t>
                      </a:r>
                    </a:p>
                  </a:txBody>
                  <a:tcPr anchor="ctr" marL="73152" marR="54864" marT="27432" marB="27432">
                    <a:solidFill>
                      <a:srgbClr val="EEF3F8"/>
                    </a:solidFill>
                  </a:tcPr>
                </a:tc>
                <a:tc>
                  <a:txBody>
                    <a:bodyPr wrap="square"/>
                    <a:lstStyle/>
                    <a:p>
                      <a:r>
                        <a:rPr sz="1050">
                          <a:solidFill>
                            <a:srgbClr val="1A1A1A"/>
                          </a:solidFill>
                        </a:rPr>
                        <a:t>More drivers → shorter waits</a:t>
                      </a:r>
                    </a:p>
                  </a:txBody>
                  <a:tcPr anchor="ctr" marL="73152" marR="54864" marT="27432" marB="27432">
                    <a:solidFill>
                      <a:srgbClr val="EEF3F8"/>
                    </a:solidFill>
                  </a:tcPr>
                </a:tc>
                <a:tc>
                  <a:txBody>
                    <a:bodyPr wrap="square"/>
                    <a:lstStyle/>
                    <a:p>
                      <a:r>
                        <a:rPr sz="1050">
                          <a:solidFill>
                            <a:srgbClr val="1A1A1A"/>
                          </a:solidFill>
                        </a:rPr>
                        <a:t>Too many riders → surge pricing, long waits</a:t>
                      </a:r>
                    </a:p>
                  </a:txBody>
                  <a:tcPr anchor="ctr" marL="73152" marR="54864" marT="27432" marB="27432">
                    <a:solidFill>
                      <a:srgbClr val="EEF3F8"/>
                    </a:solidFill>
                  </a:tcPr>
                </a:tc>
              </a:tr>
              <a:tr h="736092">
                <a:tc>
                  <a:txBody>
                    <a:bodyPr wrap="square"/>
                    <a:lstStyle/>
                    <a:p>
                      <a:r>
                        <a:rPr sz="1050" b="1">
                          <a:solidFill>
                            <a:srgbClr val="0C2B4A"/>
                          </a:solidFill>
                        </a:rPr>
                        <a:t>Marketplace</a:t>
                      </a:r>
                    </a:p>
                  </a:txBody>
                  <a:tcPr anchor="ctr" marL="73152" marR="54864" marT="27432" marB="27432">
                    <a:solidFill>
                      <a:srgbClr val="FFFFFF"/>
                    </a:solidFill>
                  </a:tcPr>
                </a:tc>
                <a:tc>
                  <a:txBody>
                    <a:bodyPr wrap="square"/>
                    <a:lstStyle/>
                    <a:p>
                      <a:r>
                        <a:rPr sz="1050">
                          <a:solidFill>
                            <a:srgbClr val="1A1A1A"/>
                          </a:solidFill>
                        </a:rPr>
                        <a:t>More sellers → more choice</a:t>
                      </a:r>
                    </a:p>
                  </a:txBody>
                  <a:tcPr anchor="ctr" marL="73152" marR="54864" marT="27432" marB="27432">
                    <a:solidFill>
                      <a:srgbClr val="FFFFFF"/>
                    </a:solidFill>
                  </a:tcPr>
                </a:tc>
                <a:tc>
                  <a:txBody>
                    <a:bodyPr wrap="square"/>
                    <a:lstStyle/>
                    <a:p>
                      <a:r>
                        <a:rPr sz="1050">
                          <a:solidFill>
                            <a:srgbClr val="1A1A1A"/>
                          </a:solidFill>
                        </a:rPr>
                        <a:t>Too many low-quality sellers → hard to trust</a:t>
                      </a:r>
                    </a:p>
                  </a:txBody>
                  <a:tcPr anchor="ctr" marL="73152" marR="54864" marT="27432" marB="27432">
                    <a:solidFill>
                      <a:srgbClr val="FFFFFF"/>
                    </a:solidFill>
                  </a:tcPr>
                </a:tc>
              </a:tr>
              <a:tr h="736092">
                <a:tc>
                  <a:txBody>
                    <a:bodyPr wrap="square"/>
                    <a:lstStyle/>
                    <a:p>
                      <a:r>
                        <a:rPr sz="1050" b="1">
                          <a:solidFill>
                            <a:srgbClr val="0C2B4A"/>
                          </a:solidFill>
                        </a:rPr>
                        <a:t>Social feed</a:t>
                      </a:r>
                    </a:p>
                  </a:txBody>
                  <a:tcPr anchor="ctr" marL="73152" marR="54864" marT="27432" marB="27432">
                    <a:solidFill>
                      <a:srgbClr val="EEF3F8"/>
                    </a:solidFill>
                  </a:tcPr>
                </a:tc>
                <a:tc>
                  <a:txBody>
                    <a:bodyPr wrap="square"/>
                    <a:lstStyle/>
                    <a:p>
                      <a:r>
                        <a:rPr sz="1050">
                          <a:solidFill>
                            <a:srgbClr val="1A1A1A"/>
                          </a:solidFill>
                        </a:rPr>
                        <a:t>More friends → more relevant</a:t>
                      </a:r>
                    </a:p>
                  </a:txBody>
                  <a:tcPr anchor="ctr" marL="73152" marR="54864" marT="27432" marB="27432">
                    <a:solidFill>
                      <a:srgbClr val="EEF3F8"/>
                    </a:solidFill>
                  </a:tcPr>
                </a:tc>
                <a:tc>
                  <a:txBody>
                    <a:bodyPr wrap="square"/>
                    <a:lstStyle/>
                    <a:p>
                      <a:r>
                        <a:rPr sz="1050">
                          <a:solidFill>
                            <a:srgbClr val="1A1A1A"/>
                          </a:solidFill>
                        </a:rPr>
                        <a:t>Too many ads/spam → users leave</a:t>
                      </a:r>
                    </a:p>
                  </a:txBody>
                  <a:tcPr anchor="ctr" marL="73152" marR="54864" marT="27432" marB="27432">
                    <a:solidFill>
                      <a:srgbClr val="EEF3F8"/>
                    </a:solidFill>
                  </a:tcPr>
                </a:tc>
              </a:tr>
              <a:tr h="736092">
                <a:tc>
                  <a:txBody>
                    <a:bodyPr wrap="square"/>
                    <a:lstStyle/>
                    <a:p>
                      <a:r>
                        <a:rPr sz="1050" b="1">
                          <a:solidFill>
                            <a:srgbClr val="0C2B4A"/>
                          </a:solidFill>
                        </a:rPr>
                        <a:t>Video calls</a:t>
                      </a:r>
                    </a:p>
                  </a:txBody>
                  <a:tcPr anchor="ctr" marL="73152" marR="54864" marT="27432" marB="27432">
                    <a:solidFill>
                      <a:srgbClr val="FFFFFF"/>
                    </a:solidFill>
                  </a:tcPr>
                </a:tc>
                <a:tc>
                  <a:txBody>
                    <a:bodyPr wrap="square"/>
                    <a:lstStyle/>
                    <a:p>
                      <a:r>
                        <a:rPr sz="1050">
                          <a:solidFill>
                            <a:srgbClr val="1A1A1A"/>
                          </a:solidFill>
                        </a:rPr>
                        <a:t>More contacts reachable</a:t>
                      </a:r>
                    </a:p>
                  </a:txBody>
                  <a:tcPr anchor="ctr" marL="73152" marR="54864" marT="27432" marB="27432">
                    <a:solidFill>
                      <a:srgbClr val="FFFFFF"/>
                    </a:solidFill>
                  </a:tcPr>
                </a:tc>
                <a:tc>
                  <a:txBody>
                    <a:bodyPr wrap="square"/>
                    <a:lstStyle/>
                    <a:p>
                      <a:r>
                        <a:rPr sz="1050">
                          <a:solidFill>
                            <a:srgbClr val="1A1A1A"/>
                          </a:solidFill>
                        </a:rPr>
                        <a:t>Peak congestion → lag, dropped calls</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same growth that creates value can, unmanaged, destroy it. Platforms invest in moderation, capacity, and quality control precisely to keep the network effect positive.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25 / 100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S10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Limits: Negative Network Effects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Pathao at rush hour shows both edges: normally more drivers mean shorter waits (positive), but when demand spikes, surge pricing and long waits frustrate riders (negative). A marketplace flooded with low-quality or scam sellers becomes harder to trust, driving good buyers away. Platforms spend heavily on moderation, capacity, and quality control to keep the loop positive.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"Network effects mean a platform's growth is unstoppable." Growth can dilute quality, congest capacity, or turn toxic — and the loop can reverse when users leave (Google+, Clubhouse). Network effects are powerful but must be managed; they are not a guarantee of permanent dominance.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Network effects have limits and can turn negative: beyond a point more users can reduce value through congestion (peak lag), quality dilution (too many low-quality sellers/posts), toxicity, or anger-inducing surge pricing. Failure cases like Google+ and Clubhouse show the positive feedback loop can stall or reverse when users leave. Platforms actively manage growth — moderation, capacity, quality control — to keep the effect positive.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negative network effects · congestion · quality dilution · toxicity · loop can reverse · growth must be managed</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26 / 100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S10 — 'Which effect, and could it reverse?'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pick a platform and identify which of the 4 network-effect types it relies on.</a:t>
            </a:r>
          </a:p>
          <a:p>
            <a:pPr>
              <a:spcAft>
                <a:spcPts val="700"/>
              </a:spcAft>
            </a:pPr>
            <a:r>
              <a:rPr sz="1550">
                <a:solidFill>
                  <a:srgbClr val="1A1A1A"/>
                </a:solidFill>
              </a:rPr>
              <a:t>•  Name one way its network effect could turn NEGATIVE.</a:t>
            </a:r>
          </a:p>
          <a:p>
            <a:pPr>
              <a:spcAft>
                <a:spcPts val="700"/>
              </a:spcAft>
            </a:pPr>
            <a:r>
              <a:rPr sz="1550">
                <a:solidFill>
                  <a:srgbClr val="1A1A1A"/>
                </a:solidFill>
              </a:rPr>
              <a:t>•  Take 3–4 answers aloud (3 min); classify each effect type on the board.</a:t>
            </a:r>
          </a:p>
          <a:p>
            <a:pPr>
              <a:spcAft>
                <a:spcPts val="700"/>
              </a:spcAft>
            </a:pPr>
            <a:r>
              <a:rPr sz="1550">
                <a:solidFill>
                  <a:srgbClr val="1A1A1A"/>
                </a:solidFill>
              </a:rPr>
              <a:t>•  Close: strong platforms actively defend against the negative side.</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Seeds: TikTok (data; negative = toxic/low-quality flood), Pathao (indirect; negative = surge), Daraz (indirect+data; negative = scam sellers), WhatsApp (direct; negative = spam/forwarded misinformation).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27 / 100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S10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Uber/Pathao's riders-attract-drivers-attract-riders is which type?</a:t>
            </a:r>
          </a:p>
          <a:p>
            <a:pPr lvl="1"/>
            <a:r>
              <a:rPr sz="1500" b="1">
                <a:solidFill>
                  <a:srgbClr val="0F6E56"/>
                </a:solidFill>
              </a:rPr>
              <a:t>a) direct   b) ✅ indirect / cross-side   c) data   d) standard</a:t>
            </a:r>
          </a:p>
          <a:p>
            <a:pPr lvl="1">
              <a:spcBef>
                <a:spcPts val="600"/>
              </a:spcBef>
            </a:pPr>
            <a:r>
              <a:rPr sz="1500" i="1">
                <a:solidFill>
                  <a:srgbClr val="1A1A1A"/>
                </a:solidFill>
              </a:rPr>
              <a:t>     Why: value on one side (riders) grows the other side (drivers) — a cross-side (indirect) network effect.</a:t>
            </a:r>
          </a:p>
          <a:p>
            <a:pPr>
              <a:spcBef>
                <a:spcPts val="900"/>
              </a:spcBef>
            </a:pPr>
            <a:r>
              <a:rPr sz="1700" b="1">
                <a:solidFill>
                  <a:srgbClr val="0C2B4A"/>
                </a:solidFill>
              </a:rPr>
              <a:t>Q2.  Going viral is the same as a network effect:</a:t>
            </a:r>
          </a:p>
          <a:p>
            <a:pPr lvl="1"/>
            <a:r>
              <a:rPr sz="1500" b="1">
                <a:solidFill>
                  <a:srgbClr val="0F6E56"/>
                </a:solidFill>
              </a:rPr>
              <a:t>a) true   b) ✅ false — viral = fast spread; network effect = lasting added value   c) only for TikTok   d) only offline</a:t>
            </a:r>
          </a:p>
          <a:p>
            <a:pPr lvl="1">
              <a:spcBef>
                <a:spcPts val="600"/>
              </a:spcBef>
            </a:pPr>
            <a:r>
              <a:rPr sz="1500" i="1">
                <a:solidFill>
                  <a:srgbClr val="1A1A1A"/>
                </a:solidFill>
              </a:rPr>
              <a:t>     Why: a meme spreads (viral) without making the platform more useful; a network effect durably adds value.</a:t>
            </a:r>
          </a:p>
          <a:p>
            <a:pPr lvl="1">
              <a:spcBef>
                <a:spcPts val="600"/>
              </a:spcBef>
            </a:pPr>
            <a:r>
              <a:rPr sz="1500" i="1">
                <a:solidFill>
                  <a:srgbClr val="1A1A1A"/>
                </a:solidFill>
              </a:rPr>
              <a:t>Discussion: name a Nepali platform's network-effect type and one way it could turn negative.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28 / 100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S10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Network effect = a product gets more valuable as more use it → positive feedback loop (best-connected wins).</a:t>
            </a:r>
          </a:p>
          <a:p>
            <a:pPr>
              <a:spcAft>
                <a:spcPts val="800"/>
              </a:spcAft>
            </a:pPr>
            <a:r>
              <a:rPr sz="1500">
                <a:solidFill>
                  <a:srgbClr val="1A1A1A"/>
                </a:solidFill>
              </a:rPr>
              <a:t>2.  Four types: direct (same-side), indirect (cross-side), data, standard/technology — often combined.</a:t>
            </a:r>
          </a:p>
          <a:p>
            <a:pPr>
              <a:spcAft>
                <a:spcPts val="800"/>
              </a:spcAft>
            </a:pPr>
            <a:r>
              <a:rPr sz="1500">
                <a:solidFill>
                  <a:srgbClr val="1A1A1A"/>
                </a:solidFill>
              </a:rPr>
              <a:t>3.  Limits: more users can HURT (congestion, spam, toxicity, surge); the loop can reverse — growth must be managed.</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Network effects explain why one Nepali platform in each category tends to dominate — and why a better-built challenger still struggles. If you launch a platform, engineering a network effect (and defending its positive side) is the whole game.</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S11 — the economics Unit 1 promised: in a two-sided market, who actually pays, and who gets it free?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29 / 100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11 · LECTURE HOUR 3 (OF 7) — THE ECONOMICS UNIT 1 DEFERRED</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Two-Sided Pricing: Who Pays, Who's Subsidised</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Google Search is free. TikTok is free. Adobe Reader is free. Facebook is free. So who pays the enormous bills? Someone always does — and the genius of a platform is charging the RIGHT side while giving the other side away. This is two-sided pricing, the real economics behind 'free'.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30 / 100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S11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Money Side and the Subsidy Side</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In a two-sided market a platform charges one group (the money side) and subsidises the other (the subsidy side) — often giving it away free. This is cross-subsidy: you subsidise the side that ATTRACTS the side that pays. Google gives search to users free because their attention is what advertisers (the money side) pay for. The free side is bait, not charity.</a:t>
            </a:r>
          </a:p>
          <a:p>
            <a:pPr>
              <a:spcAft>
                <a:spcPts val="500"/>
              </a:spcAft>
            </a:pPr>
            <a:r>
              <a:rPr sz="1200" b="1">
                <a:solidFill>
                  <a:srgbClr val="185FA5"/>
                </a:solidFill>
              </a:rPr>
              <a:t>HOW IT WORKS</a:t>
            </a:r>
          </a:p>
          <a:p>
            <a:pPr>
              <a:spcAft>
                <a:spcPts val="600"/>
              </a:spcAft>
            </a:pPr>
            <a:r>
              <a:rPr sz="1400">
                <a:solidFill>
                  <a:srgbClr val="1A1A1A"/>
                </a:solidFill>
              </a:rPr>
              <a:t>•  Money side: the group that pays (advertisers, sellers, creators, premium users).</a:t>
            </a:r>
          </a:p>
          <a:p>
            <a:pPr>
              <a:spcAft>
                <a:spcPts val="600"/>
              </a:spcAft>
            </a:pPr>
            <a:r>
              <a:rPr sz="1400">
                <a:solidFill>
                  <a:srgbClr val="1A1A1A"/>
                </a:solidFill>
              </a:rPr>
              <a:t>•  Subsidy side: the group kept free/cheap because it attracts the money side (users, readers).</a:t>
            </a:r>
          </a:p>
          <a:p>
            <a:pPr>
              <a:spcAft>
                <a:spcPts val="600"/>
              </a:spcAft>
            </a:pPr>
            <a:r>
              <a:rPr sz="1400">
                <a:solidFill>
                  <a:srgbClr val="1A1A1A"/>
                </a:solidFill>
              </a:rPr>
              <a:t>•  Which side pays is a DESIGN choice: the platform charges where willingness-to-pay is highest.</a:t>
            </a:r>
          </a:p>
          <a:p>
            <a:pPr>
              <a:spcAft>
                <a:spcPts val="600"/>
              </a:spcAft>
            </a:pPr>
            <a:r>
              <a:rPr sz="1400">
                <a:solidFill>
                  <a:srgbClr val="1A1A1A"/>
                </a:solidFill>
              </a:rPr>
              <a:t>•  Get it wrong (charge the side you should subsidise) and the network never forms.</a:t>
            </a:r>
          </a:p>
        </p:txBody>
      </p:sp>
      <p:pic>
        <p:nvPicPr>
          <p:cNvPr id="6" name="Picture 5" descr="s11_crosssubsidy.png"/>
          <p:cNvPicPr>
            <a:picLocks noChangeAspect="1"/>
          </p:cNvPicPr>
          <p:nvPr/>
        </p:nvPicPr>
        <p:blipFill>
          <a:blip r:embed="rId2"/>
          <a:stretch>
            <a:fillRect/>
          </a:stretch>
        </p:blipFill>
        <p:spPr>
          <a:xfrm>
            <a:off x="6355080" y="2444902"/>
            <a:ext cx="5532120" cy="2745435"/>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Charge the money side; subsidise the side that attracts it. 'Free' has a payer.</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31 / 100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S11 · CONCEPT 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Who's free, who pays — two-sided pricing in practice</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496206"/>
                <a:gridCol w="3021724"/>
                <a:gridCol w="2496206"/>
                <a:gridCol w="3415862"/>
              </a:tblGrid>
              <a:tr h="630936">
                <a:tc>
                  <a:txBody>
                    <a:bodyPr wrap="square"/>
                    <a:lstStyle/>
                    <a:p>
                      <a:r>
                        <a:rPr sz="1100" b="1">
                          <a:solidFill>
                            <a:srgbClr val="FFFFFF"/>
                          </a:solidFill>
                        </a:rPr>
                        <a:t>Platform</a:t>
                      </a:r>
                    </a:p>
                  </a:txBody>
                  <a:tcPr anchor="ctr" marL="73152" marR="54864" marT="27432" marB="27432">
                    <a:solidFill>
                      <a:srgbClr val="0C2B4A"/>
                    </a:solidFill>
                  </a:tcPr>
                </a:tc>
                <a:tc>
                  <a:txBody>
                    <a:bodyPr wrap="square"/>
                    <a:lstStyle/>
                    <a:p>
                      <a:r>
                        <a:rPr sz="1100" b="1">
                          <a:solidFill>
                            <a:srgbClr val="FFFFFF"/>
                          </a:solidFill>
                        </a:rPr>
                        <a:t>Subsidy side (free/cheap)</a:t>
                      </a:r>
                    </a:p>
                  </a:txBody>
                  <a:tcPr anchor="ctr" marL="73152" marR="54864" marT="27432" marB="27432">
                    <a:solidFill>
                      <a:srgbClr val="0C2B4A"/>
                    </a:solidFill>
                  </a:tcPr>
                </a:tc>
                <a:tc>
                  <a:txBody>
                    <a:bodyPr wrap="square"/>
                    <a:lstStyle/>
                    <a:p>
                      <a:r>
                        <a:rPr sz="1100" b="1">
                          <a:solidFill>
                            <a:srgbClr val="FFFFFF"/>
                          </a:solidFill>
                        </a:rPr>
                        <a:t>Money side (pays)</a:t>
                      </a:r>
                    </a:p>
                  </a:txBody>
                  <a:tcPr anchor="ctr" marL="73152" marR="54864" marT="27432" marB="27432">
                    <a:solidFill>
                      <a:srgbClr val="0C2B4A"/>
                    </a:solidFill>
                  </a:tcPr>
                </a:tc>
                <a:tc>
                  <a:txBody>
                    <a:bodyPr wrap="square"/>
                    <a:lstStyle/>
                    <a:p>
                      <a:r>
                        <a:rPr sz="1100" b="1">
                          <a:solidFill>
                            <a:srgbClr val="FFFFFF"/>
                          </a:solidFill>
                        </a:rPr>
                        <a:t>Why this split</a:t>
                      </a:r>
                    </a:p>
                  </a:txBody>
                  <a:tcPr anchor="ctr" marL="73152" marR="54864" marT="27432" marB="27432">
                    <a:solidFill>
                      <a:srgbClr val="0C2B4A"/>
                    </a:solidFill>
                  </a:tcPr>
                </a:tc>
              </a:tr>
              <a:tr h="630936">
                <a:tc>
                  <a:txBody>
                    <a:bodyPr wrap="square"/>
                    <a:lstStyle/>
                    <a:p>
                      <a:r>
                        <a:rPr sz="1050" b="1">
                          <a:solidFill>
                            <a:srgbClr val="0C2B4A"/>
                          </a:solidFill>
                        </a:rPr>
                        <a:t>Google Search</a:t>
                      </a:r>
                    </a:p>
                  </a:txBody>
                  <a:tcPr anchor="ctr" marL="73152" marR="54864" marT="27432" marB="27432">
                    <a:solidFill>
                      <a:srgbClr val="FFFFFF"/>
                    </a:solidFill>
                  </a:tcPr>
                </a:tc>
                <a:tc>
                  <a:txBody>
                    <a:bodyPr wrap="square"/>
                    <a:lstStyle/>
                    <a:p>
                      <a:r>
                        <a:rPr sz="1050">
                          <a:solidFill>
                            <a:srgbClr val="1A1A1A"/>
                          </a:solidFill>
                        </a:rPr>
                        <a:t>Users (search free)</a:t>
                      </a:r>
                    </a:p>
                  </a:txBody>
                  <a:tcPr anchor="ctr" marL="73152" marR="54864" marT="27432" marB="27432">
                    <a:solidFill>
                      <a:srgbClr val="FFFFFF"/>
                    </a:solidFill>
                  </a:tcPr>
                </a:tc>
                <a:tc>
                  <a:txBody>
                    <a:bodyPr wrap="square"/>
                    <a:lstStyle/>
                    <a:p>
                      <a:r>
                        <a:rPr sz="1050">
                          <a:solidFill>
                            <a:srgbClr val="1A1A1A"/>
                          </a:solidFill>
                        </a:rPr>
                        <a:t>Advertisers</a:t>
                      </a:r>
                    </a:p>
                  </a:txBody>
                  <a:tcPr anchor="ctr" marL="73152" marR="54864" marT="27432" marB="27432">
                    <a:solidFill>
                      <a:srgbClr val="FFFFFF"/>
                    </a:solidFill>
                  </a:tcPr>
                </a:tc>
                <a:tc>
                  <a:txBody>
                    <a:bodyPr wrap="square"/>
                    <a:lstStyle/>
                    <a:p>
                      <a:r>
                        <a:rPr sz="1050">
                          <a:solidFill>
                            <a:srgbClr val="1A1A1A"/>
                          </a:solidFill>
                        </a:rPr>
                        <a:t>Users' attention is what advertisers buy</a:t>
                      </a:r>
                    </a:p>
                  </a:txBody>
                  <a:tcPr anchor="ctr" marL="73152" marR="54864" marT="27432" marB="27432">
                    <a:solidFill>
                      <a:srgbClr val="FFFFFF"/>
                    </a:solidFill>
                  </a:tcPr>
                </a:tc>
              </a:tr>
              <a:tr h="630936">
                <a:tc>
                  <a:txBody>
                    <a:bodyPr wrap="square"/>
                    <a:lstStyle/>
                    <a:p>
                      <a:r>
                        <a:rPr sz="1050" b="1">
                          <a:solidFill>
                            <a:srgbClr val="0C2B4A"/>
                          </a:solidFill>
                        </a:rPr>
                        <a:t>Daraz</a:t>
                      </a:r>
                    </a:p>
                  </a:txBody>
                  <a:tcPr anchor="ctr" marL="73152" marR="54864" marT="27432" marB="27432">
                    <a:solidFill>
                      <a:srgbClr val="EEF3F8"/>
                    </a:solidFill>
                  </a:tcPr>
                </a:tc>
                <a:tc>
                  <a:txBody>
                    <a:bodyPr wrap="square"/>
                    <a:lstStyle/>
                    <a:p>
                      <a:r>
                        <a:rPr sz="1050">
                          <a:solidFill>
                            <a:srgbClr val="1A1A1A"/>
                          </a:solidFill>
                        </a:rPr>
                        <a:t>Buyers (browse free)</a:t>
                      </a:r>
                    </a:p>
                  </a:txBody>
                  <a:tcPr anchor="ctr" marL="73152" marR="54864" marT="27432" marB="27432">
                    <a:solidFill>
                      <a:srgbClr val="EEF3F8"/>
                    </a:solidFill>
                  </a:tcPr>
                </a:tc>
                <a:tc>
                  <a:txBody>
                    <a:bodyPr wrap="square"/>
                    <a:lstStyle/>
                    <a:p>
                      <a:r>
                        <a:rPr sz="1050">
                          <a:solidFill>
                            <a:srgbClr val="1A1A1A"/>
                          </a:solidFill>
                        </a:rPr>
                        <a:t>Sellers (commission)</a:t>
                      </a:r>
                    </a:p>
                  </a:txBody>
                  <a:tcPr anchor="ctr" marL="73152" marR="54864" marT="27432" marB="27432">
                    <a:solidFill>
                      <a:srgbClr val="EEF3F8"/>
                    </a:solidFill>
                  </a:tcPr>
                </a:tc>
                <a:tc>
                  <a:txBody>
                    <a:bodyPr wrap="square"/>
                    <a:lstStyle/>
                    <a:p>
                      <a:r>
                        <a:rPr sz="1050">
                          <a:solidFill>
                            <a:srgbClr val="1A1A1A"/>
                          </a:solidFill>
                        </a:rPr>
                        <a:t>Buyers attract sellers who will pay to reach them</a:t>
                      </a:r>
                    </a:p>
                  </a:txBody>
                  <a:tcPr anchor="ctr" marL="73152" marR="54864" marT="27432" marB="27432">
                    <a:solidFill>
                      <a:srgbClr val="EEF3F8"/>
                    </a:solidFill>
                  </a:tcPr>
                </a:tc>
              </a:tr>
              <a:tr h="630936">
                <a:tc>
                  <a:txBody>
                    <a:bodyPr wrap="square"/>
                    <a:lstStyle/>
                    <a:p>
                      <a:r>
                        <a:rPr sz="1050" b="1">
                          <a:solidFill>
                            <a:srgbClr val="0C2B4A"/>
                          </a:solidFill>
                        </a:rPr>
                        <a:t>Facebook / TikTok</a:t>
                      </a:r>
                    </a:p>
                  </a:txBody>
                  <a:tcPr anchor="ctr" marL="73152" marR="54864" marT="27432" marB="27432">
                    <a:solidFill>
                      <a:srgbClr val="FFFFFF"/>
                    </a:solidFill>
                  </a:tcPr>
                </a:tc>
                <a:tc>
                  <a:txBody>
                    <a:bodyPr wrap="square"/>
                    <a:lstStyle/>
                    <a:p>
                      <a:r>
                        <a:rPr sz="1050">
                          <a:solidFill>
                            <a:srgbClr val="1A1A1A"/>
                          </a:solidFill>
                        </a:rPr>
                        <a:t>Users (free)</a:t>
                      </a:r>
                    </a:p>
                  </a:txBody>
                  <a:tcPr anchor="ctr" marL="73152" marR="54864" marT="27432" marB="27432">
                    <a:solidFill>
                      <a:srgbClr val="FFFFFF"/>
                    </a:solidFill>
                  </a:tcPr>
                </a:tc>
                <a:tc>
                  <a:txBody>
                    <a:bodyPr wrap="square"/>
                    <a:lstStyle/>
                    <a:p>
                      <a:r>
                        <a:rPr sz="1050">
                          <a:solidFill>
                            <a:srgbClr val="1A1A1A"/>
                          </a:solidFill>
                        </a:rPr>
                        <a:t>Advertisers</a:t>
                      </a:r>
                    </a:p>
                  </a:txBody>
                  <a:tcPr anchor="ctr" marL="73152" marR="54864" marT="27432" marB="27432">
                    <a:solidFill>
                      <a:srgbClr val="FFFFFF"/>
                    </a:solidFill>
                  </a:tcPr>
                </a:tc>
                <a:tc>
                  <a:txBody>
                    <a:bodyPr wrap="square"/>
                    <a:lstStyle/>
                    <a:p>
                      <a:r>
                        <a:rPr sz="1050">
                          <a:solidFill>
                            <a:srgbClr val="1A1A1A"/>
                          </a:solidFill>
                        </a:rPr>
                        <a:t>Engagement/data is sold to advertisers</a:t>
                      </a:r>
                    </a:p>
                  </a:txBody>
                  <a:tcPr anchor="ctr" marL="73152" marR="54864" marT="27432" marB="27432">
                    <a:solidFill>
                      <a:srgbClr val="FFFFFF"/>
                    </a:solidFill>
                  </a:tcPr>
                </a:tc>
              </a:tr>
              <a:tr h="630936">
                <a:tc>
                  <a:txBody>
                    <a:bodyPr wrap="square"/>
                    <a:lstStyle/>
                    <a:p>
                      <a:r>
                        <a:rPr sz="1050" b="1">
                          <a:solidFill>
                            <a:srgbClr val="0C2B4A"/>
                          </a:solidFill>
                        </a:rPr>
                        <a:t>Adobe Reader / PDF</a:t>
                      </a:r>
                    </a:p>
                  </a:txBody>
                  <a:tcPr anchor="ctr" marL="73152" marR="54864" marT="27432" marB="27432">
                    <a:solidFill>
                      <a:srgbClr val="EEF3F8"/>
                    </a:solidFill>
                  </a:tcPr>
                </a:tc>
                <a:tc>
                  <a:txBody>
                    <a:bodyPr wrap="square"/>
                    <a:lstStyle/>
                    <a:p>
                      <a:r>
                        <a:rPr sz="1050">
                          <a:solidFill>
                            <a:srgbClr val="1A1A1A"/>
                          </a:solidFill>
                        </a:rPr>
                        <a:t>Readers (free)</a:t>
                      </a:r>
                    </a:p>
                  </a:txBody>
                  <a:tcPr anchor="ctr" marL="73152" marR="54864" marT="27432" marB="27432">
                    <a:solidFill>
                      <a:srgbClr val="EEF3F8"/>
                    </a:solidFill>
                  </a:tcPr>
                </a:tc>
                <a:tc>
                  <a:txBody>
                    <a:bodyPr wrap="square"/>
                    <a:lstStyle/>
                    <a:p>
                      <a:r>
                        <a:rPr sz="1050">
                          <a:solidFill>
                            <a:srgbClr val="1A1A1A"/>
                          </a:solidFill>
                        </a:rPr>
                        <a:t>Creators (pay for Acrobat)</a:t>
                      </a:r>
                    </a:p>
                  </a:txBody>
                  <a:tcPr anchor="ctr" marL="73152" marR="54864" marT="27432" marB="27432">
                    <a:solidFill>
                      <a:srgbClr val="EEF3F8"/>
                    </a:solidFill>
                  </a:tcPr>
                </a:tc>
                <a:tc>
                  <a:txBody>
                    <a:bodyPr wrap="square"/>
                    <a:lstStyle/>
                    <a:p>
                      <a:r>
                        <a:rPr sz="1050">
                          <a:solidFill>
                            <a:srgbClr val="1A1A1A"/>
                          </a:solidFill>
                        </a:rPr>
                        <a:t>Free readers make the paid format worth buying</a:t>
                      </a:r>
                    </a:p>
                  </a:txBody>
                  <a:tcPr anchor="ctr" marL="73152" marR="54864" marT="27432" marB="27432">
                    <a:solidFill>
                      <a:srgbClr val="EEF3F8"/>
                    </a:solidFill>
                  </a:tcPr>
                </a:tc>
              </a:tr>
              <a:tr h="630936">
                <a:tc>
                  <a:txBody>
                    <a:bodyPr wrap="square"/>
                    <a:lstStyle/>
                    <a:p>
                      <a:r>
                        <a:rPr sz="1050" b="1">
                          <a:solidFill>
                            <a:srgbClr val="0C2B4A"/>
                          </a:solidFill>
                        </a:rPr>
                        <a:t>Credit / QR (Visa, Fonepay)</a:t>
                      </a:r>
                    </a:p>
                  </a:txBody>
                  <a:tcPr anchor="ctr" marL="73152" marR="54864" marT="27432" marB="27432">
                    <a:solidFill>
                      <a:srgbClr val="FFFFFF"/>
                    </a:solidFill>
                  </a:tcPr>
                </a:tc>
                <a:tc>
                  <a:txBody>
                    <a:bodyPr wrap="square"/>
                    <a:lstStyle/>
                    <a:p>
                      <a:r>
                        <a:rPr sz="1050">
                          <a:solidFill>
                            <a:srgbClr val="1A1A1A"/>
                          </a:solidFill>
                        </a:rPr>
                        <a:t>Cardholders/payers</a:t>
                      </a:r>
                    </a:p>
                  </a:txBody>
                  <a:tcPr anchor="ctr" marL="73152" marR="54864" marT="27432" marB="27432">
                    <a:solidFill>
                      <a:srgbClr val="FFFFFF"/>
                    </a:solidFill>
                  </a:tcPr>
                </a:tc>
                <a:tc>
                  <a:txBody>
                    <a:bodyPr wrap="square"/>
                    <a:lstStyle/>
                    <a:p>
                      <a:r>
                        <a:rPr sz="1050">
                          <a:solidFill>
                            <a:srgbClr val="1A1A1A"/>
                          </a:solidFill>
                        </a:rPr>
                        <a:t>Merchants (fees)</a:t>
                      </a:r>
                    </a:p>
                  </a:txBody>
                  <a:tcPr anchor="ctr" marL="73152" marR="54864" marT="27432" marB="27432">
                    <a:solidFill>
                      <a:srgbClr val="FFFFFF"/>
                    </a:solidFill>
                  </a:tcPr>
                </a:tc>
                <a:tc>
                  <a:txBody>
                    <a:bodyPr wrap="square"/>
                    <a:lstStyle/>
                    <a:p>
                      <a:r>
                        <a:rPr sz="1050">
                          <a:solidFill>
                            <a:srgbClr val="1A1A1A"/>
                          </a:solidFill>
                        </a:rPr>
                        <a:t>Shoppers attract merchants who pay to accept</a:t>
                      </a:r>
                    </a:p>
                  </a:txBody>
                  <a:tcPr anchor="ctr" marL="73152" marR="54864" marT="27432" marB="27432">
                    <a:solidFill>
                      <a:srgbClr val="FFFFFF"/>
                    </a:solidFill>
                  </a:tcPr>
                </a:tc>
              </a:tr>
              <a:tr h="630936">
                <a:tc>
                  <a:txBody>
                    <a:bodyPr wrap="square"/>
                    <a:lstStyle/>
                    <a:p>
                      <a:r>
                        <a:rPr sz="1050" b="1">
                          <a:solidFill>
                            <a:srgbClr val="0C2B4A"/>
                          </a:solidFill>
                        </a:rPr>
                        <a:t>Newspapers (classic)</a:t>
                      </a:r>
                    </a:p>
                  </a:txBody>
                  <a:tcPr anchor="ctr" marL="73152" marR="54864" marT="27432" marB="27432">
                    <a:solidFill>
                      <a:srgbClr val="EEF3F8"/>
                    </a:solidFill>
                  </a:tcPr>
                </a:tc>
                <a:tc>
                  <a:txBody>
                    <a:bodyPr wrap="square"/>
                    <a:lstStyle/>
                    <a:p>
                      <a:r>
                        <a:rPr sz="1050">
                          <a:solidFill>
                            <a:srgbClr val="1A1A1A"/>
                          </a:solidFill>
                        </a:rPr>
                        <a:t>Readers (cheap)</a:t>
                      </a:r>
                    </a:p>
                  </a:txBody>
                  <a:tcPr anchor="ctr" marL="73152" marR="54864" marT="27432" marB="27432">
                    <a:solidFill>
                      <a:srgbClr val="EEF3F8"/>
                    </a:solidFill>
                  </a:tcPr>
                </a:tc>
                <a:tc>
                  <a:txBody>
                    <a:bodyPr wrap="square"/>
                    <a:lstStyle/>
                    <a:p>
                      <a:r>
                        <a:rPr sz="1050">
                          <a:solidFill>
                            <a:srgbClr val="1A1A1A"/>
                          </a:solidFill>
                        </a:rPr>
                        <a:t>Advertisers</a:t>
                      </a:r>
                    </a:p>
                  </a:txBody>
                  <a:tcPr anchor="ctr" marL="73152" marR="54864" marT="27432" marB="27432">
                    <a:solidFill>
                      <a:srgbClr val="EEF3F8"/>
                    </a:solidFill>
                  </a:tcPr>
                </a:tc>
                <a:tc>
                  <a:txBody>
                    <a:bodyPr wrap="square"/>
                    <a:lstStyle/>
                    <a:p>
                      <a:r>
                        <a:rPr sz="1050">
                          <a:solidFill>
                            <a:srgbClr val="1A1A1A"/>
                          </a:solidFill>
                        </a:rPr>
                        <a:t>Readership is sold to advertisers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pattern: subsidise the side whose presence is most valuable to the other side, and charge the side willing to pay to reach them. 'Free to users' almost always means 'someone else is the customer'.</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32 / 100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S11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Money Side and the Subsidy Side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Daraz lets you browse and search for free, and charges sellers a commission. Why that way round? Buyers are the scarce, valuable side — sellers will happily pay to reach a crowd of ready buyers, but buyers would leave if charged to shop. Subsidising buyers builds the crowd; charging sellers monetises it. If Daraz charged buyers an entry fee, the crowd — and therefore the sellers — would vanish.</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 free service must be losing money or doing charity." Free-to-you usually means you are the bait, not the customer: the platform monetises your attention or data via the paying side (advertisers, sellers). Understanding this reveals who the real customer is — and why 'free' products still answer to someone.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In a two-sided market a platform charges one group (the money side) and subsidises another (the subsidy side), often giving it away free — a cross-subsidy where you subsidise the side that attracts the paying side. Which side pays is a deliberate design choice: charge where willingness-to-pay is highest, subsidise where presence is most valuable to the other side. Google users are free because advertisers pay for their attention; Daraz buyers are free because sellers pay to reach them.</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two-sided pricing · money side vs subsidy side · cross-subsidy · free side is bait · pricing is a design choice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33 / 100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S11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Zero Marginal Cost &amp; Economies of Scale</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Digital platforms have high fixed costs (build the software, the network) but a near-zero marginal cost — serving one more user costs almost nothing. So as users grow, the fixed cost is spread over more people and the average cost per user keeps falling. This is why platforms chase scale relentlessly and why a giant can undercut any small rival: its per-user cost is lower.</a:t>
            </a:r>
          </a:p>
          <a:p>
            <a:pPr>
              <a:spcAft>
                <a:spcPts val="500"/>
              </a:spcAft>
            </a:pPr>
            <a:r>
              <a:rPr sz="1200" b="1">
                <a:solidFill>
                  <a:srgbClr val="185FA5"/>
                </a:solidFill>
              </a:rPr>
              <a:t>HOW IT WORKS</a:t>
            </a:r>
          </a:p>
          <a:p>
            <a:pPr>
              <a:spcAft>
                <a:spcPts val="600"/>
              </a:spcAft>
            </a:pPr>
            <a:r>
              <a:rPr sz="1400">
                <a:solidFill>
                  <a:srgbClr val="1A1A1A"/>
                </a:solidFill>
              </a:rPr>
              <a:t>•  Fixed cost: large, one-time (engineering, infrastructure) — paid whether you have 1 user or 1M.</a:t>
            </a:r>
          </a:p>
          <a:p>
            <a:pPr>
              <a:spcAft>
                <a:spcPts val="600"/>
              </a:spcAft>
            </a:pPr>
            <a:r>
              <a:rPr sz="1400">
                <a:solidFill>
                  <a:srgbClr val="1A1A1A"/>
                </a:solidFill>
              </a:rPr>
              <a:t>•  Marginal cost: cost of ONE more user — near zero for digital goods (a copy, a login).</a:t>
            </a:r>
          </a:p>
          <a:p>
            <a:pPr>
              <a:spcAft>
                <a:spcPts val="600"/>
              </a:spcAft>
            </a:pPr>
            <a:r>
              <a:rPr sz="1400">
                <a:solidFill>
                  <a:srgbClr val="1A1A1A"/>
                </a:solidFill>
              </a:rPr>
              <a:t>•  Average cost falls with scale: fixed cost ÷ more users → cheaper per user.</a:t>
            </a:r>
          </a:p>
          <a:p>
            <a:pPr>
              <a:spcAft>
                <a:spcPts val="600"/>
              </a:spcAft>
            </a:pPr>
            <a:r>
              <a:rPr sz="1400">
                <a:solidFill>
                  <a:srgbClr val="1A1A1A"/>
                </a:solidFill>
              </a:rPr>
              <a:t>•  Consequence: bigger platforms are cheaper to run per user — a structural advantage over small rivals.</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High fixed cost + ~0 marginal cost → average cost falls with scale → big beats small.</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34 / 100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S11 · CONCEPT 2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Cost structure — traditional (pipe) vs digital platform</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492500"/>
                <a:gridCol w="4127499"/>
                <a:gridCol w="3809999"/>
              </a:tblGrid>
              <a:tr h="736092">
                <a:tc>
                  <a:txBody>
                    <a:bodyPr wrap="square"/>
                    <a:lstStyle/>
                    <a:p>
                      <a:r>
                        <a:rPr sz="1150" b="1">
                          <a:solidFill>
                            <a:srgbClr val="FFFFFF"/>
                          </a:solidFill>
                        </a:rPr>
                        <a:t>Cost question</a:t>
                      </a:r>
                    </a:p>
                  </a:txBody>
                  <a:tcPr anchor="ctr" marL="73152" marR="54864" marT="27432" marB="27432">
                    <a:solidFill>
                      <a:srgbClr val="0C2B4A"/>
                    </a:solidFill>
                  </a:tcPr>
                </a:tc>
                <a:tc>
                  <a:txBody>
                    <a:bodyPr wrap="square"/>
                    <a:lstStyle/>
                    <a:p>
                      <a:r>
                        <a:rPr sz="1150" b="1">
                          <a:solidFill>
                            <a:srgbClr val="FFFFFF"/>
                          </a:solidFill>
                        </a:rPr>
                        <a:t>Traditional / physical business</a:t>
                      </a:r>
                    </a:p>
                  </a:txBody>
                  <a:tcPr anchor="ctr" marL="73152" marR="54864" marT="27432" marB="27432">
                    <a:solidFill>
                      <a:srgbClr val="0C2B4A"/>
                    </a:solidFill>
                  </a:tcPr>
                </a:tc>
                <a:tc>
                  <a:txBody>
                    <a:bodyPr wrap="square"/>
                    <a:lstStyle/>
                    <a:p>
                      <a:r>
                        <a:rPr sz="1150" b="1">
                          <a:solidFill>
                            <a:srgbClr val="FFFFFF"/>
                          </a:solidFill>
                        </a:rPr>
                        <a:t>Digital platform</a:t>
                      </a:r>
                    </a:p>
                  </a:txBody>
                  <a:tcPr anchor="ctr" marL="73152" marR="54864" marT="27432" marB="27432">
                    <a:solidFill>
                      <a:srgbClr val="0C2B4A"/>
                    </a:solidFill>
                  </a:tcPr>
                </a:tc>
              </a:tr>
              <a:tr h="736092">
                <a:tc>
                  <a:txBody>
                    <a:bodyPr wrap="square"/>
                    <a:lstStyle/>
                    <a:p>
                      <a:r>
                        <a:rPr sz="1100" b="1">
                          <a:solidFill>
                            <a:srgbClr val="0C2B4A"/>
                          </a:solidFill>
                        </a:rPr>
                        <a:t>Cost of one more unit/user</a:t>
                      </a:r>
                    </a:p>
                  </a:txBody>
                  <a:tcPr anchor="ctr" marL="73152" marR="54864" marT="27432" marB="27432">
                    <a:solidFill>
                      <a:srgbClr val="FFFFFF"/>
                    </a:solidFill>
                  </a:tcPr>
                </a:tc>
                <a:tc>
                  <a:txBody>
                    <a:bodyPr wrap="square"/>
                    <a:lstStyle/>
                    <a:p>
                      <a:r>
                        <a:rPr sz="1100">
                          <a:solidFill>
                            <a:srgbClr val="1A1A1A"/>
                          </a:solidFill>
                        </a:rPr>
                        <a:t>Real &amp; repeated (materials, labour)</a:t>
                      </a:r>
                    </a:p>
                  </a:txBody>
                  <a:tcPr anchor="ctr" marL="73152" marR="54864" marT="27432" marB="27432">
                    <a:solidFill>
                      <a:srgbClr val="FFFFFF"/>
                    </a:solidFill>
                  </a:tcPr>
                </a:tc>
                <a:tc>
                  <a:txBody>
                    <a:bodyPr wrap="square"/>
                    <a:lstStyle/>
                    <a:p>
                      <a:r>
                        <a:rPr sz="1100">
                          <a:solidFill>
                            <a:srgbClr val="1A1A1A"/>
                          </a:solidFill>
                        </a:rPr>
                        <a:t>Near zero (a copy, a new account)</a:t>
                      </a:r>
                    </a:p>
                  </a:txBody>
                  <a:tcPr anchor="ctr" marL="73152" marR="54864" marT="27432" marB="27432">
                    <a:solidFill>
                      <a:srgbClr val="FFFFFF"/>
                    </a:solidFill>
                  </a:tcPr>
                </a:tc>
              </a:tr>
              <a:tr h="736092">
                <a:tc>
                  <a:txBody>
                    <a:bodyPr wrap="square"/>
                    <a:lstStyle/>
                    <a:p>
                      <a:r>
                        <a:rPr sz="1100" b="1">
                          <a:solidFill>
                            <a:srgbClr val="0C2B4A"/>
                          </a:solidFill>
                        </a:rPr>
                        <a:t>Main cost</a:t>
                      </a:r>
                    </a:p>
                  </a:txBody>
                  <a:tcPr anchor="ctr" marL="73152" marR="54864" marT="27432" marB="27432">
                    <a:solidFill>
                      <a:srgbClr val="EEF3F8"/>
                    </a:solidFill>
                  </a:tcPr>
                </a:tc>
                <a:tc>
                  <a:txBody>
                    <a:bodyPr wrap="square"/>
                    <a:lstStyle/>
                    <a:p>
                      <a:r>
                        <a:rPr sz="1100">
                          <a:solidFill>
                            <a:srgbClr val="1A1A1A"/>
                          </a:solidFill>
                        </a:rPr>
                        <a:t>Variable (rises with output)</a:t>
                      </a:r>
                    </a:p>
                  </a:txBody>
                  <a:tcPr anchor="ctr" marL="73152" marR="54864" marT="27432" marB="27432">
                    <a:solidFill>
                      <a:srgbClr val="EEF3F8"/>
                    </a:solidFill>
                  </a:tcPr>
                </a:tc>
                <a:tc>
                  <a:txBody>
                    <a:bodyPr wrap="square"/>
                    <a:lstStyle/>
                    <a:p>
                      <a:r>
                        <a:rPr sz="1100">
                          <a:solidFill>
                            <a:srgbClr val="1A1A1A"/>
                          </a:solidFill>
                        </a:rPr>
                        <a:t>Fixed (build once, up front)</a:t>
                      </a:r>
                    </a:p>
                  </a:txBody>
                  <a:tcPr anchor="ctr" marL="73152" marR="54864" marT="27432" marB="27432">
                    <a:solidFill>
                      <a:srgbClr val="EEF3F8"/>
                    </a:solidFill>
                  </a:tcPr>
                </a:tc>
              </a:tr>
              <a:tr h="736092">
                <a:tc>
                  <a:txBody>
                    <a:bodyPr wrap="square"/>
                    <a:lstStyle/>
                    <a:p>
                      <a:r>
                        <a:rPr sz="1100" b="1">
                          <a:solidFill>
                            <a:srgbClr val="0C2B4A"/>
                          </a:solidFill>
                        </a:rPr>
                        <a:t>Average cost as you grow</a:t>
                      </a:r>
                    </a:p>
                  </a:txBody>
                  <a:tcPr anchor="ctr" marL="73152" marR="54864" marT="27432" marB="27432">
                    <a:solidFill>
                      <a:srgbClr val="FFFFFF"/>
                    </a:solidFill>
                  </a:tcPr>
                </a:tc>
                <a:tc>
                  <a:txBody>
                    <a:bodyPr wrap="square"/>
                    <a:lstStyle/>
                    <a:p>
                      <a:r>
                        <a:rPr sz="1100">
                          <a:solidFill>
                            <a:srgbClr val="1A1A1A"/>
                          </a:solidFill>
                        </a:rPr>
                        <a:t>Roughly flat or rises</a:t>
                      </a:r>
                    </a:p>
                  </a:txBody>
                  <a:tcPr anchor="ctr" marL="73152" marR="54864" marT="27432" marB="27432">
                    <a:solidFill>
                      <a:srgbClr val="FFFFFF"/>
                    </a:solidFill>
                  </a:tcPr>
                </a:tc>
                <a:tc>
                  <a:txBody>
                    <a:bodyPr wrap="square"/>
                    <a:lstStyle/>
                    <a:p>
                      <a:r>
                        <a:rPr sz="1100">
                          <a:solidFill>
                            <a:srgbClr val="1A1A1A"/>
                          </a:solidFill>
                        </a:rPr>
                        <a:t>Falls — fixed cost spread thinner</a:t>
                      </a:r>
                    </a:p>
                  </a:txBody>
                  <a:tcPr anchor="ctr" marL="73152" marR="54864" marT="27432" marB="27432">
                    <a:solidFill>
                      <a:srgbClr val="FFFFFF"/>
                    </a:solidFill>
                  </a:tcPr>
                </a:tc>
              </a:tr>
              <a:tr h="736092">
                <a:tc>
                  <a:txBody>
                    <a:bodyPr wrap="square"/>
                    <a:lstStyle/>
                    <a:p>
                      <a:r>
                        <a:rPr sz="1100" b="1">
                          <a:solidFill>
                            <a:srgbClr val="0C2B4A"/>
                          </a:solidFill>
                        </a:rPr>
                        <a:t>Limit to scale</a:t>
                      </a:r>
                    </a:p>
                  </a:txBody>
                  <a:tcPr anchor="ctr" marL="73152" marR="54864" marT="27432" marB="27432">
                    <a:solidFill>
                      <a:srgbClr val="EEF3F8"/>
                    </a:solidFill>
                  </a:tcPr>
                </a:tc>
                <a:tc>
                  <a:txBody>
                    <a:bodyPr wrap="square"/>
                    <a:lstStyle/>
                    <a:p>
                      <a:r>
                        <a:rPr sz="1100">
                          <a:solidFill>
                            <a:srgbClr val="1A1A1A"/>
                          </a:solidFill>
                        </a:rPr>
                        <a:t>Capacity, materials, geography</a:t>
                      </a:r>
                    </a:p>
                  </a:txBody>
                  <a:tcPr anchor="ctr" marL="73152" marR="54864" marT="27432" marB="27432">
                    <a:solidFill>
                      <a:srgbClr val="EEF3F8"/>
                    </a:solidFill>
                  </a:tcPr>
                </a:tc>
                <a:tc>
                  <a:txBody>
                    <a:bodyPr wrap="square"/>
                    <a:lstStyle/>
                    <a:p>
                      <a:r>
                        <a:rPr sz="1100">
                          <a:solidFill>
                            <a:srgbClr val="1A1A1A"/>
                          </a:solidFill>
                        </a:rPr>
                        <a:t>Very high — software copies freely</a:t>
                      </a:r>
                    </a:p>
                  </a:txBody>
                  <a:tcPr anchor="ctr" marL="73152" marR="54864" marT="27432" marB="27432">
                    <a:solidFill>
                      <a:srgbClr val="EEF3F8"/>
                    </a:solidFill>
                  </a:tcPr>
                </a:tc>
              </a:tr>
              <a:tr h="736092">
                <a:tc>
                  <a:txBody>
                    <a:bodyPr wrap="square"/>
                    <a:lstStyle/>
                    <a:p>
                      <a:r>
                        <a:rPr sz="1100" b="1">
                          <a:solidFill>
                            <a:srgbClr val="0C2B4A"/>
                          </a:solidFill>
                        </a:rPr>
                        <a:t>Who can undercut whom</a:t>
                      </a:r>
                    </a:p>
                  </a:txBody>
                  <a:tcPr anchor="ctr" marL="73152" marR="54864" marT="27432" marB="27432">
                    <a:solidFill>
                      <a:srgbClr val="FFFFFF"/>
                    </a:solidFill>
                  </a:tcPr>
                </a:tc>
                <a:tc>
                  <a:txBody>
                    <a:bodyPr wrap="square"/>
                    <a:lstStyle/>
                    <a:p>
                      <a:r>
                        <a:rPr sz="1100">
                          <a:solidFill>
                            <a:srgbClr val="1A1A1A"/>
                          </a:solidFill>
                        </a:rPr>
                        <a:t>Similar-cost rivals compete</a:t>
                      </a:r>
                    </a:p>
                  </a:txBody>
                  <a:tcPr anchor="ctr" marL="73152" marR="54864" marT="27432" marB="27432">
                    <a:solidFill>
                      <a:srgbClr val="FFFFFF"/>
                    </a:solidFill>
                  </a:tcPr>
                </a:tc>
                <a:tc>
                  <a:txBody>
                    <a:bodyPr wrap="square"/>
                    <a:lstStyle/>
                    <a:p>
                      <a:r>
                        <a:rPr sz="1100">
                          <a:solidFill>
                            <a:srgbClr val="1A1A1A"/>
                          </a:solidFill>
                        </a:rPr>
                        <a:t>The biggest has the lowest per-user cost</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Near-zero marginal cost is the engine of digital scale — and a driver of monopoly (S13): the largest platform has the lowest cost per user, so it can invest more, charge less, and pull further ahead.</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35 / 100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S11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Zero Marginal Cost &amp; Economies of Scale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It cost eSewa a great deal to build its platform, banking integrations, and security — but processing your next transaction costs almost nothing. So the more Nepalis use eSewa, the lower its cost per user and the more it can spend improving the app. A new wallet with few users carries the same kind of fixed costs spread over far fewer people, so its per-user cost is higher — a structural disadvantage.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"Scale just means more customers." For digital platforms, scale changes the ECONOMICS: because marginal cost is near zero, average cost per user falls as you grow, so the leader gets cheaper to run than challengers. Scale is not just more revenue — it is a widening cost advantage that helps tip markets (S13).</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Digital platforms have high fixed costs (build the software and network) but near-zero marginal cost (serving one more user costs almost nothing), so average cost per user falls as the user base grows — economies of scale. This is the mechanism behind Unit 1's 'scalability': the largest platform has the lowest per-user cost, letting it invest more and undercut smaller rivals, which is also a force pushing digital markets toward concentration.</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high fixed + ~0 marginal cost · average cost falls with scale · economies of scale · size = cost advantage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36 / 100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S11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Chicken-and-Egg Problem</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Every new platform faces a chicken-and-egg problem: buyers won't come without sellers, and sellers won't come without buyers — neither side wants to be first. Platforms solve it with deliberate strategies: subsidise one side, seed inventory/supply manually, sign exclusive early partners, offer freemium or zero commission at launch, and use incentives to attract the first critical mass.</a:t>
            </a:r>
          </a:p>
          <a:p>
            <a:pPr>
              <a:spcAft>
                <a:spcPts val="500"/>
              </a:spcAft>
            </a:pPr>
            <a:r>
              <a:rPr sz="1200" b="1">
                <a:solidFill>
                  <a:srgbClr val="185FA5"/>
                </a:solidFill>
              </a:rPr>
              <a:t>HOW IT WORKS</a:t>
            </a:r>
          </a:p>
          <a:p>
            <a:pPr>
              <a:spcAft>
                <a:spcPts val="600"/>
              </a:spcAft>
            </a:pPr>
            <a:r>
              <a:rPr sz="1400">
                <a:solidFill>
                  <a:srgbClr val="1A1A1A"/>
                </a:solidFill>
              </a:rPr>
              <a:t>•  The launch trap: each side is waiting for the other, so the platform starts empty and useless.</a:t>
            </a:r>
          </a:p>
          <a:p>
            <a:pPr>
              <a:spcAft>
                <a:spcPts val="600"/>
              </a:spcAft>
            </a:pPr>
            <a:r>
              <a:rPr sz="1400">
                <a:solidFill>
                  <a:srgbClr val="1A1A1A"/>
                </a:solidFill>
              </a:rPr>
              <a:t>•  Subsidise/seed: pay or manually recruit the harder side first (drivers, sellers).</a:t>
            </a:r>
          </a:p>
          <a:p>
            <a:pPr>
              <a:spcAft>
                <a:spcPts val="600"/>
              </a:spcAft>
            </a:pPr>
            <a:r>
              <a:rPr sz="1400">
                <a:solidFill>
                  <a:srgbClr val="1A1A1A"/>
                </a:solidFill>
              </a:rPr>
              <a:t>•  Exclusive partners &amp; incentives: lock in a few big draws so users have a reason to come.</a:t>
            </a:r>
          </a:p>
          <a:p>
            <a:pPr>
              <a:spcAft>
                <a:spcPts val="600"/>
              </a:spcAft>
            </a:pPr>
            <a:r>
              <a:rPr sz="1400">
                <a:solidFill>
                  <a:srgbClr val="1A1A1A"/>
                </a:solidFill>
              </a:rPr>
              <a:t>•  Reach 'critical mass' / liquidity and the network effect (S10) takes over on its own.</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Neither side comes first — solve with: subsidise a side, seed supply, exclusives, freemium, incentives.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37 / 100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S11 · CONCEPT 3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Solving chicken-and-egg — five launch strategies</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3175000"/>
                <a:gridCol w="4286250"/>
                <a:gridCol w="3968750"/>
              </a:tblGrid>
              <a:tr h="736092">
                <a:tc>
                  <a:txBody>
                    <a:bodyPr wrap="square"/>
                    <a:lstStyle/>
                    <a:p>
                      <a:r>
                        <a:rPr sz="1150" b="1">
                          <a:solidFill>
                            <a:srgbClr val="FFFFFF"/>
                          </a:solidFill>
                        </a:rPr>
                        <a:t>Strategy</a:t>
                      </a:r>
                    </a:p>
                  </a:txBody>
                  <a:tcPr anchor="ctr" marL="73152" marR="54864" marT="27432" marB="27432">
                    <a:solidFill>
                      <a:srgbClr val="0C2B4A"/>
                    </a:solidFill>
                  </a:tcPr>
                </a:tc>
                <a:tc>
                  <a:txBody>
                    <a:bodyPr wrap="square"/>
                    <a:lstStyle/>
                    <a:p>
                      <a:r>
                        <a:rPr sz="1150" b="1">
                          <a:solidFill>
                            <a:srgbClr val="FFFFFF"/>
                          </a:solidFill>
                        </a:rPr>
                        <a:t>What the platform does</a:t>
                      </a:r>
                    </a:p>
                  </a:txBody>
                  <a:tcPr anchor="ctr" marL="73152" marR="54864" marT="27432" marB="27432">
                    <a:solidFill>
                      <a:srgbClr val="0C2B4A"/>
                    </a:solidFill>
                  </a:tcPr>
                </a:tc>
                <a:tc>
                  <a:txBody>
                    <a:bodyPr wrap="square"/>
                    <a:lstStyle/>
                    <a:p>
                      <a:r>
                        <a:rPr sz="1150" b="1">
                          <a:solidFill>
                            <a:srgbClr val="FFFFFF"/>
                          </a:solidFill>
                        </a:rPr>
                        <a:t>Example</a:t>
                      </a:r>
                    </a:p>
                  </a:txBody>
                  <a:tcPr anchor="ctr" marL="73152" marR="54864" marT="27432" marB="27432">
                    <a:solidFill>
                      <a:srgbClr val="0C2B4A"/>
                    </a:solidFill>
                  </a:tcPr>
                </a:tc>
              </a:tr>
              <a:tr h="736092">
                <a:tc>
                  <a:txBody>
                    <a:bodyPr wrap="square"/>
                    <a:lstStyle/>
                    <a:p>
                      <a:r>
                        <a:rPr sz="1100" b="1">
                          <a:solidFill>
                            <a:srgbClr val="0C2B4A"/>
                          </a:solidFill>
                        </a:rPr>
                        <a:t>Subsidise one side</a:t>
                      </a:r>
                    </a:p>
                  </a:txBody>
                  <a:tcPr anchor="ctr" marL="73152" marR="54864" marT="27432" marB="27432">
                    <a:solidFill>
                      <a:srgbClr val="FFFFFF"/>
                    </a:solidFill>
                  </a:tcPr>
                </a:tc>
                <a:tc>
                  <a:txBody>
                    <a:bodyPr wrap="square"/>
                    <a:lstStyle/>
                    <a:p>
                      <a:r>
                        <a:rPr sz="1100">
                          <a:solidFill>
                            <a:srgbClr val="1A1A1A"/>
                          </a:solidFill>
                        </a:rPr>
                        <a:t>Pay/reward the harder side to join first</a:t>
                      </a:r>
                    </a:p>
                  </a:txBody>
                  <a:tcPr anchor="ctr" marL="73152" marR="54864" marT="27432" marB="27432">
                    <a:solidFill>
                      <a:srgbClr val="FFFFFF"/>
                    </a:solidFill>
                  </a:tcPr>
                </a:tc>
                <a:tc>
                  <a:txBody>
                    <a:bodyPr wrap="square"/>
                    <a:lstStyle/>
                    <a:p>
                      <a:r>
                        <a:rPr sz="1100">
                          <a:solidFill>
                            <a:srgbClr val="1A1A1A"/>
                          </a:solidFill>
                        </a:rPr>
                        <a:t>Pathao bonuses for early drivers</a:t>
                      </a:r>
                    </a:p>
                  </a:txBody>
                  <a:tcPr anchor="ctr" marL="73152" marR="54864" marT="27432" marB="27432">
                    <a:solidFill>
                      <a:srgbClr val="FFFFFF"/>
                    </a:solidFill>
                  </a:tcPr>
                </a:tc>
              </a:tr>
              <a:tr h="736092">
                <a:tc>
                  <a:txBody>
                    <a:bodyPr wrap="square"/>
                    <a:lstStyle/>
                    <a:p>
                      <a:r>
                        <a:rPr sz="1100" b="1">
                          <a:solidFill>
                            <a:srgbClr val="0C2B4A"/>
                          </a:solidFill>
                        </a:rPr>
                        <a:t>Seed supply manually</a:t>
                      </a:r>
                    </a:p>
                  </a:txBody>
                  <a:tcPr anchor="ctr" marL="73152" marR="54864" marT="27432" marB="27432">
                    <a:solidFill>
                      <a:srgbClr val="EEF3F8"/>
                    </a:solidFill>
                  </a:tcPr>
                </a:tc>
                <a:tc>
                  <a:txBody>
                    <a:bodyPr wrap="square"/>
                    <a:lstStyle/>
                    <a:p>
                      <a:r>
                        <a:rPr sz="1100">
                          <a:solidFill>
                            <a:srgbClr val="1A1A1A"/>
                          </a:solidFill>
                        </a:rPr>
                        <a:t>Build initial inventory yourself</a:t>
                      </a:r>
                    </a:p>
                  </a:txBody>
                  <a:tcPr anchor="ctr" marL="73152" marR="54864" marT="27432" marB="27432">
                    <a:solidFill>
                      <a:srgbClr val="EEF3F8"/>
                    </a:solidFill>
                  </a:tcPr>
                </a:tc>
                <a:tc>
                  <a:txBody>
                    <a:bodyPr wrap="square"/>
                    <a:lstStyle/>
                    <a:p>
                      <a:r>
                        <a:rPr sz="1100">
                          <a:solidFill>
                            <a:srgbClr val="1A1A1A"/>
                          </a:solidFill>
                        </a:rPr>
                        <a:t>Amazon stocking its own goods early</a:t>
                      </a:r>
                    </a:p>
                  </a:txBody>
                  <a:tcPr anchor="ctr" marL="73152" marR="54864" marT="27432" marB="27432">
                    <a:solidFill>
                      <a:srgbClr val="EEF3F8"/>
                    </a:solidFill>
                  </a:tcPr>
                </a:tc>
              </a:tr>
              <a:tr h="736092">
                <a:tc>
                  <a:txBody>
                    <a:bodyPr wrap="square"/>
                    <a:lstStyle/>
                    <a:p>
                      <a:r>
                        <a:rPr sz="1100" b="1">
                          <a:solidFill>
                            <a:srgbClr val="0C2B4A"/>
                          </a:solidFill>
                        </a:rPr>
                        <a:t>Exclusive partners</a:t>
                      </a:r>
                    </a:p>
                  </a:txBody>
                  <a:tcPr anchor="ctr" marL="73152" marR="54864" marT="27432" marB="27432">
                    <a:solidFill>
                      <a:srgbClr val="FFFFFF"/>
                    </a:solidFill>
                  </a:tcPr>
                </a:tc>
                <a:tc>
                  <a:txBody>
                    <a:bodyPr wrap="square"/>
                    <a:lstStyle/>
                    <a:p>
                      <a:r>
                        <a:rPr sz="1100">
                          <a:solidFill>
                            <a:srgbClr val="1A1A1A"/>
                          </a:solidFill>
                        </a:rPr>
                        <a:t>Sign a few big draws for early users</a:t>
                      </a:r>
                    </a:p>
                  </a:txBody>
                  <a:tcPr anchor="ctr" marL="73152" marR="54864" marT="27432" marB="27432">
                    <a:solidFill>
                      <a:srgbClr val="FFFFFF"/>
                    </a:solidFill>
                  </a:tcPr>
                </a:tc>
                <a:tc>
                  <a:txBody>
                    <a:bodyPr wrap="square"/>
                    <a:lstStyle/>
                    <a:p>
                      <a:r>
                        <a:rPr sz="1100">
                          <a:solidFill>
                            <a:srgbClr val="1A1A1A"/>
                          </a:solidFill>
                        </a:rPr>
                        <a:t>A platform signing a popular brand first</a:t>
                      </a:r>
                    </a:p>
                  </a:txBody>
                  <a:tcPr anchor="ctr" marL="73152" marR="54864" marT="27432" marB="27432">
                    <a:solidFill>
                      <a:srgbClr val="FFFFFF"/>
                    </a:solidFill>
                  </a:tcPr>
                </a:tc>
              </a:tr>
              <a:tr h="736092">
                <a:tc>
                  <a:txBody>
                    <a:bodyPr wrap="square"/>
                    <a:lstStyle/>
                    <a:p>
                      <a:r>
                        <a:rPr sz="1100" b="1">
                          <a:solidFill>
                            <a:srgbClr val="0C2B4A"/>
                          </a:solidFill>
                        </a:rPr>
                        <a:t>Freemium / zero commission</a:t>
                      </a:r>
                    </a:p>
                  </a:txBody>
                  <a:tcPr anchor="ctr" marL="73152" marR="54864" marT="27432" marB="27432">
                    <a:solidFill>
                      <a:srgbClr val="EEF3F8"/>
                    </a:solidFill>
                  </a:tcPr>
                </a:tc>
                <a:tc>
                  <a:txBody>
                    <a:bodyPr wrap="square"/>
                    <a:lstStyle/>
                    <a:p>
                      <a:r>
                        <a:rPr sz="1100">
                          <a:solidFill>
                            <a:srgbClr val="1A1A1A"/>
                          </a:solidFill>
                        </a:rPr>
                        <a:t>Waive fees to remove the barrier</a:t>
                      </a:r>
                    </a:p>
                  </a:txBody>
                  <a:tcPr anchor="ctr" marL="73152" marR="54864" marT="27432" marB="27432">
                    <a:solidFill>
                      <a:srgbClr val="EEF3F8"/>
                    </a:solidFill>
                  </a:tcPr>
                </a:tc>
                <a:tc>
                  <a:txBody>
                    <a:bodyPr wrap="square"/>
                    <a:lstStyle/>
                    <a:p>
                      <a:r>
                        <a:rPr sz="1100">
                          <a:solidFill>
                            <a:srgbClr val="1A1A1A"/>
                          </a:solidFill>
                        </a:rPr>
                        <a:t>No seller commission at launch</a:t>
                      </a:r>
                    </a:p>
                  </a:txBody>
                  <a:tcPr anchor="ctr" marL="73152" marR="54864" marT="27432" marB="27432">
                    <a:solidFill>
                      <a:srgbClr val="EEF3F8"/>
                    </a:solidFill>
                  </a:tcPr>
                </a:tc>
              </a:tr>
              <a:tr h="736092">
                <a:tc>
                  <a:txBody>
                    <a:bodyPr wrap="square"/>
                    <a:lstStyle/>
                    <a:p>
                      <a:r>
                        <a:rPr sz="1100" b="1">
                          <a:solidFill>
                            <a:srgbClr val="0C2B4A"/>
                          </a:solidFill>
                        </a:rPr>
                        <a:t>Incentives / referrals</a:t>
                      </a:r>
                    </a:p>
                  </a:txBody>
                  <a:tcPr anchor="ctr" marL="73152" marR="54864" marT="27432" marB="27432">
                    <a:solidFill>
                      <a:srgbClr val="FFFFFF"/>
                    </a:solidFill>
                  </a:tcPr>
                </a:tc>
                <a:tc>
                  <a:txBody>
                    <a:bodyPr wrap="square"/>
                    <a:lstStyle/>
                    <a:p>
                      <a:r>
                        <a:rPr sz="1100">
                          <a:solidFill>
                            <a:srgbClr val="1A1A1A"/>
                          </a:solidFill>
                        </a:rPr>
                        <a:t>Reward users for bringing others</a:t>
                      </a:r>
                    </a:p>
                  </a:txBody>
                  <a:tcPr anchor="ctr" marL="73152" marR="54864" marT="27432" marB="27432">
                    <a:solidFill>
                      <a:srgbClr val="FFFFFF"/>
                    </a:solidFill>
                  </a:tcPr>
                </a:tc>
                <a:tc>
                  <a:txBody>
                    <a:bodyPr wrap="square"/>
                    <a:lstStyle/>
                    <a:p>
                      <a:r>
                        <a:rPr sz="1100">
                          <a:solidFill>
                            <a:srgbClr val="1A1A1A"/>
                          </a:solidFill>
                        </a:rPr>
                        <a:t>Sign-up cashback; refer-a-friend credit</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All five aim at the same target: reach critical mass (liquidity) fast, so the network effect becomes self-sustaining and the subsidies can be dialled back.</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38 / 100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S11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Chicken-and-Egg Problem</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When Pathao launched, riders wouldn't open an app with no nearby drivers, and drivers wouldn't join with no riders. Pathao broke the deadlock by subsidising the supply side — bonuses and incentives to get enough drivers on the road that waits were short — which drew riders, whose demand then drew more drivers. Once it hit critical mass in a city, the network effect sustained itself and the incentives could shrink.</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"Build a great app and users will come." A platform launches empty and useless — the hard part is the cold start, not the code. Without a deliberate strategy to seed one side and reach critical mass, even a superb platform dies waiting for the other side to show up first.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Every new platform faces a chicken-and-egg problem: neither side (buyers/sellers, riders/drivers) will join before the other. Platforms solve it deliberately — subsidise one side, seed supply/inventory manually, sign exclusive early partners, waive fees (freemium/zero commission), and use incentives/referrals — all aimed at reaching critical mass (liquidity), after which the network effect becomes self-sustaining and subsidies can be reduced.</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chicken-and-egg · cold start · subsidise a side · seed supply · exclusives · freemium · critical mass / liquidity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39 / 100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S11 — 'Design the price'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(3 min): you're launching a new Nepali platform (tutoring, farm produce, home services).</a:t>
            </a:r>
          </a:p>
          <a:p>
            <a:pPr>
              <a:spcAft>
                <a:spcPts val="700"/>
              </a:spcAft>
            </a:pPr>
            <a:r>
              <a:rPr sz="1550">
                <a:solidFill>
                  <a:srgbClr val="1A1A1A"/>
                </a:solidFill>
              </a:rPr>
              <a:t>•  Decide which side is FREE and which PAYS — and justify using cross-subsidy.</a:t>
            </a:r>
          </a:p>
          <a:p>
            <a:pPr>
              <a:spcAft>
                <a:spcPts val="700"/>
              </a:spcAft>
            </a:pPr>
            <a:r>
              <a:rPr sz="1550">
                <a:solidFill>
                  <a:srgbClr val="1A1A1A"/>
                </a:solidFill>
              </a:rPr>
              <a:t>•  Name one chicken-and-egg launch move you'd make first.</a:t>
            </a:r>
          </a:p>
          <a:p>
            <a:pPr>
              <a:spcAft>
                <a:spcPts val="700"/>
              </a:spcAft>
            </a:pPr>
            <a:r>
              <a:rPr sz="1550">
                <a:solidFill>
                  <a:srgbClr val="1A1A1A"/>
                </a:solidFill>
              </a:rPr>
              <a:t>•  Take 3–4 answers aloud (2 min); check the paying side is the one with willingness-to-pay.</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Good reasoning: subsidise the scarce/valuable side (e.g. students free, tutors pay a cut; or buyers free, farmers pay commission), and seed the hard side first. Reward answers that name WHO attracts WHOM.</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40 / 100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S11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Google Search is free to users because:</a:t>
            </a:r>
          </a:p>
          <a:p>
            <a:pPr lvl="1"/>
            <a:r>
              <a:rPr sz="1500" b="1">
                <a:solidFill>
                  <a:srgbClr val="0F6E56"/>
                </a:solidFill>
              </a:rPr>
              <a:t>a) it is charity   b) ✅ users are the subsidy side; advertisers (money side) pay for their attention   c) it loses money   d) the government funds it</a:t>
            </a:r>
          </a:p>
          <a:p>
            <a:pPr lvl="1">
              <a:spcBef>
                <a:spcPts val="600"/>
              </a:spcBef>
            </a:pPr>
            <a:r>
              <a:rPr sz="1500" i="1">
                <a:solidFill>
                  <a:srgbClr val="1A1A1A"/>
                </a:solidFill>
              </a:rPr>
              <a:t>     Why: cross-subsidy — subsidise the side (users) that attracts the paying side (advertisers).</a:t>
            </a:r>
          </a:p>
          <a:p>
            <a:pPr>
              <a:spcBef>
                <a:spcPts val="900"/>
              </a:spcBef>
            </a:pPr>
            <a:r>
              <a:rPr sz="1700" b="1">
                <a:solidFill>
                  <a:srgbClr val="0C2B4A"/>
                </a:solidFill>
              </a:rPr>
              <a:t>Q2.  'Near-zero marginal cost' means, as a platform grows, its average cost per user:</a:t>
            </a:r>
          </a:p>
          <a:p>
            <a:pPr lvl="1"/>
            <a:r>
              <a:rPr sz="1500" b="1">
                <a:solidFill>
                  <a:srgbClr val="0F6E56"/>
                </a:solidFill>
              </a:rPr>
              <a:t>a) rises   b) stays flat   c) ✅ falls (fixed cost spread over more users)   d) becomes negative</a:t>
            </a:r>
          </a:p>
          <a:p>
            <a:pPr lvl="1">
              <a:spcBef>
                <a:spcPts val="600"/>
              </a:spcBef>
            </a:pPr>
            <a:r>
              <a:rPr sz="1500" i="1">
                <a:solidFill>
                  <a:srgbClr val="1A1A1A"/>
                </a:solidFill>
              </a:rPr>
              <a:t>     Why: high fixed + ~0 marginal cost → the bigger the base, the cheaper per user — economies of scale.</a:t>
            </a:r>
          </a:p>
          <a:p>
            <a:pPr lvl="1">
              <a:spcBef>
                <a:spcPts val="600"/>
              </a:spcBef>
            </a:pPr>
            <a:r>
              <a:rPr sz="1500" i="1">
                <a:solidFill>
                  <a:srgbClr val="1A1A1A"/>
                </a:solidFill>
              </a:rPr>
              <a:t>Discussion: for a new Nepali platform, which side would you make free and why?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41 / 100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S11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Two-sided pricing: charge the money side, subsidise the side that attracts it (cross-subsidy) — 'free' has a payer.</a:t>
            </a:r>
          </a:p>
          <a:p>
            <a:pPr>
              <a:spcAft>
                <a:spcPts val="800"/>
              </a:spcAft>
            </a:pPr>
            <a:r>
              <a:rPr sz="1500">
                <a:solidFill>
                  <a:srgbClr val="1A1A1A"/>
                </a:solidFill>
              </a:rPr>
              <a:t>2.  High fixed + near-zero marginal cost → average cost per user falls with scale → the biggest platform is cheapest per user.</a:t>
            </a:r>
          </a:p>
          <a:p>
            <a:pPr>
              <a:spcAft>
                <a:spcPts val="800"/>
              </a:spcAft>
            </a:pPr>
            <a:r>
              <a:rPr sz="1500">
                <a:solidFill>
                  <a:srgbClr val="1A1A1A"/>
                </a:solidFill>
              </a:rPr>
              <a:t>3.  Chicken-and-egg: neither side comes first; solve with subsidies, seeding, exclusives, freemium, incentives → critical mass.</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This is the money logic of every 'free' app you use — and the playbook you'd need to launch one. Knowing who the real customer is (the money side) and how to beat the cold start separates a platform that scales from one that dies empty.</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S12 — once users are in, how platforms keep them: lock-in, switching costs, and the flywheel.</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42 / 100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12 · LECTURE HOUR 4 (OF 7)</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Lock-In, Switching Costs &amp; the Flywheel</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You've half-thought about leaving eSewa, or WhatsApp, or your bank's app — for months — and you're still there. That's not laziness; it's engineered. Platforms deliberately raise the cost of leaving until staying feels easier than switching. Meet switching costs, lock-in, and the flywheel that spins them.</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43 / 100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S12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Flywheel: a Designed Feedback Loop</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 flywheel is a deliberately designed positive-feedback loop that a platform engineers to grow: acquire users → activate them (first real value) → engage them (regular use) → retain them (lock-in), and retention feeds back into acquisition. The key distinction from a network effect: a network effect is natural (it arises from users needing each other); a flywheel is designed (the company builds the loop on purpose).</a:t>
            </a:r>
          </a:p>
          <a:p>
            <a:pPr>
              <a:spcAft>
                <a:spcPts val="500"/>
              </a:spcAft>
            </a:pPr>
            <a:r>
              <a:rPr sz="1200" b="1">
                <a:solidFill>
                  <a:srgbClr val="185FA5"/>
                </a:solidFill>
              </a:rPr>
              <a:t>HOW IT WORKS</a:t>
            </a:r>
          </a:p>
          <a:p>
            <a:pPr>
              <a:spcAft>
                <a:spcPts val="600"/>
              </a:spcAft>
            </a:pPr>
            <a:r>
              <a:rPr sz="1400">
                <a:solidFill>
                  <a:srgbClr val="1A1A1A"/>
                </a:solidFill>
              </a:rPr>
              <a:t>•  Acquire → Activate → Engage → Retain — then retention (referrals, reputation) feeds acquisition.</a:t>
            </a:r>
          </a:p>
          <a:p>
            <a:pPr>
              <a:spcAft>
                <a:spcPts val="600"/>
              </a:spcAft>
            </a:pPr>
            <a:r>
              <a:rPr sz="1400">
                <a:solidFill>
                  <a:srgbClr val="1A1A1A"/>
                </a:solidFill>
              </a:rPr>
              <a:t>•  Network effect = natural byproduct of users; flywheel = engineered strategy to spin faster.</a:t>
            </a:r>
          </a:p>
          <a:p>
            <a:pPr>
              <a:spcAft>
                <a:spcPts val="600"/>
              </a:spcAft>
            </a:pPr>
            <a:r>
              <a:rPr sz="1400">
                <a:solidFill>
                  <a:srgbClr val="1A1A1A"/>
                </a:solidFill>
              </a:rPr>
              <a:t>•  The loop compounds: each turn is cheaper and stronger than the last (Amazon's classic flywheel).</a:t>
            </a:r>
          </a:p>
          <a:p>
            <a:pPr>
              <a:spcAft>
                <a:spcPts val="600"/>
              </a:spcAft>
            </a:pPr>
            <a:r>
              <a:rPr sz="1400">
                <a:solidFill>
                  <a:srgbClr val="1A1A1A"/>
                </a:solidFill>
              </a:rPr>
              <a:t>•  Below 'liquidity' (supply meets demand fast) the flywheel won't spin — it needs critical mass first.</a:t>
            </a:r>
          </a:p>
        </p:txBody>
      </p:sp>
      <p:pic>
        <p:nvPicPr>
          <p:cNvPr id="6" name="Picture 5" descr="s12_flywheel.png"/>
          <p:cNvPicPr>
            <a:picLocks noChangeAspect="1"/>
          </p:cNvPicPr>
          <p:nvPr/>
        </p:nvPicPr>
        <p:blipFill>
          <a:blip r:embed="rId2"/>
          <a:stretch>
            <a:fillRect/>
          </a:stretch>
        </p:blipFill>
        <p:spPr>
          <a:xfrm>
            <a:off x="6355080" y="2386899"/>
            <a:ext cx="5532120" cy="2861441"/>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Flywheel = designed loop: acquire → activate → engage → retain → (feeds acquisition).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44 / 100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S12 · CONCEPT 1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Network effect vs flywheel — natural vs designed</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2857500"/>
                <a:gridCol w="4286250"/>
                <a:gridCol w="4286250"/>
              </a:tblGrid>
              <a:tr h="736092">
                <a:tc>
                  <a:txBody>
                    <a:bodyPr wrap="square"/>
                    <a:lstStyle/>
                    <a:p>
                      <a:r>
                        <a:rPr sz="1150" b="1">
                          <a:solidFill>
                            <a:srgbClr val="FFFFFF"/>
                          </a:solidFill>
                        </a:rPr>
                        <a:t>Question</a:t>
                      </a:r>
                    </a:p>
                  </a:txBody>
                  <a:tcPr anchor="ctr" marL="73152" marR="54864" marT="27432" marB="27432">
                    <a:solidFill>
                      <a:srgbClr val="0C2B4A"/>
                    </a:solidFill>
                  </a:tcPr>
                </a:tc>
                <a:tc>
                  <a:txBody>
                    <a:bodyPr wrap="square"/>
                    <a:lstStyle/>
                    <a:p>
                      <a:r>
                        <a:rPr sz="1150" b="1">
                          <a:solidFill>
                            <a:srgbClr val="FFFFFF"/>
                          </a:solidFill>
                        </a:rPr>
                        <a:t>Network effect</a:t>
                      </a:r>
                    </a:p>
                  </a:txBody>
                  <a:tcPr anchor="ctr" marL="73152" marR="54864" marT="27432" marB="27432">
                    <a:solidFill>
                      <a:srgbClr val="0C2B4A"/>
                    </a:solidFill>
                  </a:tcPr>
                </a:tc>
                <a:tc>
                  <a:txBody>
                    <a:bodyPr wrap="square"/>
                    <a:lstStyle/>
                    <a:p>
                      <a:r>
                        <a:rPr sz="1150" b="1">
                          <a:solidFill>
                            <a:srgbClr val="FFFFFF"/>
                          </a:solidFill>
                        </a:rPr>
                        <a:t>Flywheel</a:t>
                      </a:r>
                    </a:p>
                  </a:txBody>
                  <a:tcPr anchor="ctr" marL="73152" marR="54864" marT="27432" marB="27432">
                    <a:solidFill>
                      <a:srgbClr val="0C2B4A"/>
                    </a:solidFill>
                  </a:tcPr>
                </a:tc>
              </a:tr>
              <a:tr h="736092">
                <a:tc>
                  <a:txBody>
                    <a:bodyPr wrap="square"/>
                    <a:lstStyle/>
                    <a:p>
                      <a:r>
                        <a:rPr sz="1100" b="1">
                          <a:solidFill>
                            <a:srgbClr val="0C2B4A"/>
                          </a:solidFill>
                        </a:rPr>
                        <a:t>What is it?</a:t>
                      </a:r>
                    </a:p>
                  </a:txBody>
                  <a:tcPr anchor="ctr" marL="73152" marR="54864" marT="27432" marB="27432">
                    <a:solidFill>
                      <a:srgbClr val="FFFFFF"/>
                    </a:solidFill>
                  </a:tcPr>
                </a:tc>
                <a:tc>
                  <a:txBody>
                    <a:bodyPr wrap="square"/>
                    <a:lstStyle/>
                    <a:p>
                      <a:r>
                        <a:rPr sz="1100">
                          <a:solidFill>
                            <a:srgbClr val="1A1A1A"/>
                          </a:solidFill>
                        </a:rPr>
                        <a:t>Value rises as more users join</a:t>
                      </a:r>
                    </a:p>
                  </a:txBody>
                  <a:tcPr anchor="ctr" marL="73152" marR="54864" marT="27432" marB="27432">
                    <a:solidFill>
                      <a:srgbClr val="FFFFFF"/>
                    </a:solidFill>
                  </a:tcPr>
                </a:tc>
                <a:tc>
                  <a:txBody>
                    <a:bodyPr wrap="square"/>
                    <a:lstStyle/>
                    <a:p>
                      <a:r>
                        <a:rPr sz="1100">
                          <a:solidFill>
                            <a:srgbClr val="1A1A1A"/>
                          </a:solidFill>
                        </a:rPr>
                        <a:t>A designed loop that compounds growth</a:t>
                      </a:r>
                    </a:p>
                  </a:txBody>
                  <a:tcPr anchor="ctr" marL="73152" marR="54864" marT="27432" marB="27432">
                    <a:solidFill>
                      <a:srgbClr val="FFFFFF"/>
                    </a:solidFill>
                  </a:tcPr>
                </a:tc>
              </a:tr>
              <a:tr h="736092">
                <a:tc>
                  <a:txBody>
                    <a:bodyPr wrap="square"/>
                    <a:lstStyle/>
                    <a:p>
                      <a:r>
                        <a:rPr sz="1100" b="1">
                          <a:solidFill>
                            <a:srgbClr val="0C2B4A"/>
                          </a:solidFill>
                        </a:rPr>
                        <a:t>Natural or designed?</a:t>
                      </a:r>
                    </a:p>
                  </a:txBody>
                  <a:tcPr anchor="ctr" marL="73152" marR="54864" marT="27432" marB="27432">
                    <a:solidFill>
                      <a:srgbClr val="EEF3F8"/>
                    </a:solidFill>
                  </a:tcPr>
                </a:tc>
                <a:tc>
                  <a:txBody>
                    <a:bodyPr wrap="square"/>
                    <a:lstStyle/>
                    <a:p>
                      <a:r>
                        <a:rPr sz="1100">
                          <a:solidFill>
                            <a:srgbClr val="1A1A1A"/>
                          </a:solidFill>
                        </a:rPr>
                        <a:t>Natural — emerges from users needing each other</a:t>
                      </a:r>
                    </a:p>
                  </a:txBody>
                  <a:tcPr anchor="ctr" marL="73152" marR="54864" marT="27432" marB="27432">
                    <a:solidFill>
                      <a:srgbClr val="EEF3F8"/>
                    </a:solidFill>
                  </a:tcPr>
                </a:tc>
                <a:tc>
                  <a:txBody>
                    <a:bodyPr wrap="square"/>
                    <a:lstStyle/>
                    <a:p>
                      <a:r>
                        <a:rPr sz="1100">
                          <a:solidFill>
                            <a:srgbClr val="1A1A1A"/>
                          </a:solidFill>
                        </a:rPr>
                        <a:t>Designed — the company engineers it</a:t>
                      </a:r>
                    </a:p>
                  </a:txBody>
                  <a:tcPr anchor="ctr" marL="73152" marR="54864" marT="27432" marB="27432">
                    <a:solidFill>
                      <a:srgbClr val="EEF3F8"/>
                    </a:solidFill>
                  </a:tcPr>
                </a:tc>
              </a:tr>
              <a:tr h="736092">
                <a:tc>
                  <a:txBody>
                    <a:bodyPr wrap="square"/>
                    <a:lstStyle/>
                    <a:p>
                      <a:r>
                        <a:rPr sz="1100" b="1">
                          <a:solidFill>
                            <a:srgbClr val="0C2B4A"/>
                          </a:solidFill>
                        </a:rPr>
                        <a:t>Focus</a:t>
                      </a:r>
                    </a:p>
                  </a:txBody>
                  <a:tcPr anchor="ctr" marL="73152" marR="54864" marT="27432" marB="27432">
                    <a:solidFill>
                      <a:srgbClr val="FFFFFF"/>
                    </a:solidFill>
                  </a:tcPr>
                </a:tc>
                <a:tc>
                  <a:txBody>
                    <a:bodyPr wrap="square"/>
                    <a:lstStyle/>
                    <a:p>
                      <a:r>
                        <a:rPr sz="1100">
                          <a:solidFill>
                            <a:srgbClr val="1A1A1A"/>
                          </a:solidFill>
                        </a:rPr>
                        <a:t>The value of the network</a:t>
                      </a:r>
                    </a:p>
                  </a:txBody>
                  <a:tcPr anchor="ctr" marL="73152" marR="54864" marT="27432" marB="27432">
                    <a:solidFill>
                      <a:srgbClr val="FFFFFF"/>
                    </a:solidFill>
                  </a:tcPr>
                </a:tc>
                <a:tc>
                  <a:txBody>
                    <a:bodyPr wrap="square"/>
                    <a:lstStyle/>
                    <a:p>
                      <a:r>
                        <a:rPr sz="1100">
                          <a:solidFill>
                            <a:srgbClr val="1A1A1A"/>
                          </a:solidFill>
                        </a:rPr>
                        <a:t>The growth process (acquire→retain)</a:t>
                      </a:r>
                    </a:p>
                  </a:txBody>
                  <a:tcPr anchor="ctr" marL="73152" marR="54864" marT="27432" marB="27432">
                    <a:solidFill>
                      <a:srgbClr val="FFFFFF"/>
                    </a:solidFill>
                  </a:tcPr>
                </a:tc>
              </a:tr>
              <a:tr h="736092">
                <a:tc>
                  <a:txBody>
                    <a:bodyPr wrap="square"/>
                    <a:lstStyle/>
                    <a:p>
                      <a:r>
                        <a:rPr sz="1100" b="1">
                          <a:solidFill>
                            <a:srgbClr val="0C2B4A"/>
                          </a:solidFill>
                        </a:rPr>
                        <a:t>Example</a:t>
                      </a:r>
                    </a:p>
                  </a:txBody>
                  <a:tcPr anchor="ctr" marL="73152" marR="54864" marT="27432" marB="27432">
                    <a:solidFill>
                      <a:srgbClr val="EEF3F8"/>
                    </a:solidFill>
                  </a:tcPr>
                </a:tc>
                <a:tc>
                  <a:txBody>
                    <a:bodyPr wrap="square"/>
                    <a:lstStyle/>
                    <a:p>
                      <a:r>
                        <a:rPr sz="1100">
                          <a:solidFill>
                            <a:srgbClr val="1A1A1A"/>
                          </a:solidFill>
                        </a:rPr>
                        <a:t>WhatsApp more useful with more contacts</a:t>
                      </a:r>
                    </a:p>
                  </a:txBody>
                  <a:tcPr anchor="ctr" marL="73152" marR="54864" marT="27432" marB="27432">
                    <a:solidFill>
                      <a:srgbClr val="EEF3F8"/>
                    </a:solidFill>
                  </a:tcPr>
                </a:tc>
                <a:tc>
                  <a:txBody>
                    <a:bodyPr wrap="square"/>
                    <a:lstStyle/>
                    <a:p>
                      <a:r>
                        <a:rPr sz="1100">
                          <a:solidFill>
                            <a:srgbClr val="1A1A1A"/>
                          </a:solidFill>
                        </a:rPr>
                        <a:t>Amazon: low price → traffic → sellers → lower price</a:t>
                      </a:r>
                    </a:p>
                  </a:txBody>
                  <a:tcPr anchor="ctr" marL="73152" marR="54864" marT="27432" marB="27432">
                    <a:solidFill>
                      <a:srgbClr val="EEF3F8"/>
                    </a:solidFill>
                  </a:tcPr>
                </a:tc>
              </a:tr>
              <a:tr h="736092">
                <a:tc>
                  <a:txBody>
                    <a:bodyPr wrap="square"/>
                    <a:lstStyle/>
                    <a:p>
                      <a:r>
                        <a:rPr sz="1100" b="1">
                          <a:solidFill>
                            <a:srgbClr val="0C2B4A"/>
                          </a:solidFill>
                        </a:rPr>
                        <a:t>Relationship</a:t>
                      </a:r>
                    </a:p>
                  </a:txBody>
                  <a:tcPr anchor="ctr" marL="73152" marR="54864" marT="27432" marB="27432">
                    <a:solidFill>
                      <a:srgbClr val="FFFFFF"/>
                    </a:solidFill>
                  </a:tcPr>
                </a:tc>
                <a:tc>
                  <a:txBody>
                    <a:bodyPr wrap="square"/>
                    <a:lstStyle/>
                    <a:p>
                      <a:r>
                        <a:rPr sz="1100">
                          <a:solidFill>
                            <a:srgbClr val="1A1A1A"/>
                          </a:solidFill>
                        </a:rPr>
                        <a:t>The force…</a:t>
                      </a:r>
                    </a:p>
                  </a:txBody>
                  <a:tcPr anchor="ctr" marL="73152" marR="54864" marT="27432" marB="27432">
                    <a:solidFill>
                      <a:srgbClr val="FFFFFF"/>
                    </a:solidFill>
                  </a:tcPr>
                </a:tc>
                <a:tc>
                  <a:txBody>
                    <a:bodyPr wrap="square"/>
                    <a:lstStyle/>
                    <a:p>
                      <a:r>
                        <a:rPr sz="1100">
                          <a:solidFill>
                            <a:srgbClr val="1A1A1A"/>
                          </a:solidFill>
                        </a:rPr>
                        <a:t>…the machine built to harness the force</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They work together: the network effect is the physics; the flywheel is the engine a company builds to exploit it. A platform can have a network effect but a poorly-designed flywheel (and stall).</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45 / 100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S12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Flywheel</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Amazon's flywheel is the classic case: lower prices attract more customers, more customers attract more sellers, more sellers mean more selection and scale, which lowers costs and prices again. Each turn strengthens the next. Daraz runs a similar loop in Nepal — more buyers draw more sellers, whose competition and variety draw more buyers. The company designs and tunes this loop; it does not just hope for it.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 network effect and a flywheel are the same thing." A network effect is a natural force (value rises with users); a flywheel is the deliberate business machine built to harness it (acquire → activate → engage → retain). A platform can enjoy a network effect yet stall if its flywheel — onboarding, engagement, retention — is badly designed.</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flywheel is a deliberately designed positive-feedback loop a platform engineers to grow: acquire → activate (first value) → engage (regular use) → retain (lock-in), with retention feeding back into acquisition. It differs from a network effect, which is natural (arising from users needing each other), whereas a flywheel is designed. The loop compounds — each turn cheaper and stronger — but needs critical mass (liquidity) to spin at all.</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flywheel · designed feedback loop · acquire/activate/engage/retain · natural (network effect) vs designed (flywheel)</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46 / 100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S12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Switching Costs — the Five Types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Switching costs are everything you'd lose or spend to move from one platform to another — and they are why you stay put. There are five types: financial (subscriptions, paid assets), learning/effort (relearning a new tool), data/asset loss (photos, files, history), network/social loss (friends, followers, ratings), and psychological/habit. The higher these are, the more locked in you are.</a:t>
            </a:r>
          </a:p>
          <a:p>
            <a:pPr>
              <a:spcAft>
                <a:spcPts val="500"/>
              </a:spcAft>
            </a:pPr>
            <a:r>
              <a:rPr sz="1200" b="1">
                <a:solidFill>
                  <a:srgbClr val="185FA5"/>
                </a:solidFill>
              </a:rPr>
              <a:t>HOW IT WORKS</a:t>
            </a:r>
          </a:p>
          <a:p>
            <a:pPr>
              <a:spcAft>
                <a:spcPts val="600"/>
              </a:spcAft>
            </a:pPr>
            <a:r>
              <a:rPr sz="1400">
                <a:solidFill>
                  <a:srgbClr val="1A1A1A"/>
                </a:solidFill>
              </a:rPr>
              <a:t>•  Financial: money lost — non-refundable subscriptions, paid content, transfer fees.</a:t>
            </a:r>
          </a:p>
          <a:p>
            <a:pPr>
              <a:spcAft>
                <a:spcPts val="600"/>
              </a:spcAft>
            </a:pPr>
            <a:r>
              <a:rPr sz="1400">
                <a:solidFill>
                  <a:srgbClr val="1A1A1A"/>
                </a:solidFill>
              </a:rPr>
              <a:t>•  Learning/effort: the time to relearn a new interface and reconfigure everything.</a:t>
            </a:r>
          </a:p>
          <a:p>
            <a:pPr>
              <a:spcAft>
                <a:spcPts val="600"/>
              </a:spcAft>
            </a:pPr>
            <a:r>
              <a:rPr sz="1400">
                <a:solidFill>
                  <a:srgbClr val="1A1A1A"/>
                </a:solidFill>
              </a:rPr>
              <a:t>•  Data/asset loss: chat history, photos, files, saved preferences you can't take with you.</a:t>
            </a:r>
          </a:p>
          <a:p>
            <a:pPr>
              <a:spcAft>
                <a:spcPts val="600"/>
              </a:spcAft>
            </a:pPr>
            <a:r>
              <a:rPr sz="1400">
                <a:solidFill>
                  <a:srgbClr val="1A1A1A"/>
                </a:solidFill>
              </a:rPr>
              <a:t>•  Network/social &amp; psychological: losing your contacts/followers, and simple habit.</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Five switching costs: financial · learning · data/asset · network/social · psychological/habit.</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47 / 100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S12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five switching costs — Nepal examples &amp; how platforms raise them</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151529"/>
                <a:gridCol w="2420470"/>
                <a:gridCol w="3227294"/>
                <a:gridCol w="3630705"/>
              </a:tblGrid>
              <a:tr h="736092">
                <a:tc>
                  <a:txBody>
                    <a:bodyPr wrap="square"/>
                    <a:lstStyle/>
                    <a:p>
                      <a:r>
                        <a:rPr sz="1100" b="1">
                          <a:solidFill>
                            <a:srgbClr val="FFFFFF"/>
                          </a:solidFill>
                        </a:rPr>
                        <a:t>Switching cost</a:t>
                      </a:r>
                    </a:p>
                  </a:txBody>
                  <a:tcPr anchor="ctr" marL="73152" marR="54864" marT="27432" marB="27432">
                    <a:solidFill>
                      <a:srgbClr val="0C2B4A"/>
                    </a:solidFill>
                  </a:tcPr>
                </a:tc>
                <a:tc>
                  <a:txBody>
                    <a:bodyPr wrap="square"/>
                    <a:lstStyle/>
                    <a:p>
                      <a:r>
                        <a:rPr sz="1100" b="1">
                          <a:solidFill>
                            <a:srgbClr val="FFFFFF"/>
                          </a:solidFill>
                        </a:rPr>
                        <a:t>What you'd lose</a:t>
                      </a:r>
                    </a:p>
                  </a:txBody>
                  <a:tcPr anchor="ctr" marL="73152" marR="54864" marT="27432" marB="27432">
                    <a:solidFill>
                      <a:srgbClr val="0C2B4A"/>
                    </a:solidFill>
                  </a:tcPr>
                </a:tc>
                <a:tc>
                  <a:txBody>
                    <a:bodyPr wrap="square"/>
                    <a:lstStyle/>
                    <a:p>
                      <a:r>
                        <a:rPr sz="1100" b="1">
                          <a:solidFill>
                            <a:srgbClr val="FFFFFF"/>
                          </a:solidFill>
                        </a:rPr>
                        <a:t>Nepal example</a:t>
                      </a:r>
                    </a:p>
                  </a:txBody>
                  <a:tcPr anchor="ctr" marL="73152" marR="54864" marT="27432" marB="27432">
                    <a:solidFill>
                      <a:srgbClr val="0C2B4A"/>
                    </a:solidFill>
                  </a:tcPr>
                </a:tc>
                <a:tc>
                  <a:txBody>
                    <a:bodyPr wrap="square"/>
                    <a:lstStyle/>
                    <a:p>
                      <a:r>
                        <a:rPr sz="1100" b="1">
                          <a:solidFill>
                            <a:srgbClr val="FFFFFF"/>
                          </a:solidFill>
                        </a:rPr>
                        <a:t>How a platform raises it</a:t>
                      </a:r>
                    </a:p>
                  </a:txBody>
                  <a:tcPr anchor="ctr" marL="73152" marR="54864" marT="27432" marB="27432">
                    <a:solidFill>
                      <a:srgbClr val="0C2B4A"/>
                    </a:solidFill>
                  </a:tcPr>
                </a:tc>
              </a:tr>
              <a:tr h="736092">
                <a:tc>
                  <a:txBody>
                    <a:bodyPr wrap="square"/>
                    <a:lstStyle/>
                    <a:p>
                      <a:r>
                        <a:rPr sz="1050" b="1">
                          <a:solidFill>
                            <a:srgbClr val="0C2B4A"/>
                          </a:solidFill>
                        </a:rPr>
                        <a:t>Financial</a:t>
                      </a:r>
                    </a:p>
                  </a:txBody>
                  <a:tcPr anchor="ctr" marL="73152" marR="54864" marT="27432" marB="27432">
                    <a:solidFill>
                      <a:srgbClr val="FFFFFF"/>
                    </a:solidFill>
                  </a:tcPr>
                </a:tc>
                <a:tc>
                  <a:txBody>
                    <a:bodyPr wrap="square"/>
                    <a:lstStyle/>
                    <a:p>
                      <a:r>
                        <a:rPr sz="1050">
                          <a:solidFill>
                            <a:srgbClr val="1A1A1A"/>
                          </a:solidFill>
                        </a:rPr>
                        <a:t>Money paid / owed</a:t>
                      </a:r>
                    </a:p>
                  </a:txBody>
                  <a:tcPr anchor="ctr" marL="73152" marR="54864" marT="27432" marB="27432">
                    <a:solidFill>
                      <a:srgbClr val="FFFFFF"/>
                    </a:solidFill>
                  </a:tcPr>
                </a:tc>
                <a:tc>
                  <a:txBody>
                    <a:bodyPr wrap="square"/>
                    <a:lstStyle/>
                    <a:p>
                      <a:r>
                        <a:rPr sz="1050">
                          <a:solidFill>
                            <a:srgbClr val="1A1A1A"/>
                          </a:solidFill>
                        </a:rPr>
                        <a:t>Daraz wallet balance, vouchers</a:t>
                      </a:r>
                    </a:p>
                  </a:txBody>
                  <a:tcPr anchor="ctr" marL="73152" marR="54864" marT="27432" marB="27432">
                    <a:solidFill>
                      <a:srgbClr val="FFFFFF"/>
                    </a:solidFill>
                  </a:tcPr>
                </a:tc>
                <a:tc>
                  <a:txBody>
                    <a:bodyPr wrap="square"/>
                    <a:lstStyle/>
                    <a:p>
                      <a:r>
                        <a:rPr sz="1050">
                          <a:solidFill>
                            <a:srgbClr val="1A1A1A"/>
                          </a:solidFill>
                        </a:rPr>
                        <a:t>Prepaid balances, reward points</a:t>
                      </a:r>
                    </a:p>
                  </a:txBody>
                  <a:tcPr anchor="ctr" marL="73152" marR="54864" marT="27432" marB="27432">
                    <a:solidFill>
                      <a:srgbClr val="FFFFFF"/>
                    </a:solidFill>
                  </a:tcPr>
                </a:tc>
              </a:tr>
              <a:tr h="736092">
                <a:tc>
                  <a:txBody>
                    <a:bodyPr wrap="square"/>
                    <a:lstStyle/>
                    <a:p>
                      <a:r>
                        <a:rPr sz="1050" b="1">
                          <a:solidFill>
                            <a:srgbClr val="0C2B4A"/>
                          </a:solidFill>
                        </a:rPr>
                        <a:t>Learning / effort</a:t>
                      </a:r>
                    </a:p>
                  </a:txBody>
                  <a:tcPr anchor="ctr" marL="73152" marR="54864" marT="27432" marB="27432">
                    <a:solidFill>
                      <a:srgbClr val="EEF3F8"/>
                    </a:solidFill>
                  </a:tcPr>
                </a:tc>
                <a:tc>
                  <a:txBody>
                    <a:bodyPr wrap="square"/>
                    <a:lstStyle/>
                    <a:p>
                      <a:r>
                        <a:rPr sz="1050">
                          <a:solidFill>
                            <a:srgbClr val="1A1A1A"/>
                          </a:solidFill>
                        </a:rPr>
                        <a:t>Time to relearn</a:t>
                      </a:r>
                    </a:p>
                  </a:txBody>
                  <a:tcPr anchor="ctr" marL="73152" marR="54864" marT="27432" marB="27432">
                    <a:solidFill>
                      <a:srgbClr val="EEF3F8"/>
                    </a:solidFill>
                  </a:tcPr>
                </a:tc>
                <a:tc>
                  <a:txBody>
                    <a:bodyPr wrap="square"/>
                    <a:lstStyle/>
                    <a:p>
                      <a:r>
                        <a:rPr sz="1050">
                          <a:solidFill>
                            <a:srgbClr val="1A1A1A"/>
                          </a:solidFill>
                        </a:rPr>
                        <a:t>Getting used to a new bank app</a:t>
                      </a:r>
                    </a:p>
                  </a:txBody>
                  <a:tcPr anchor="ctr" marL="73152" marR="54864" marT="27432" marB="27432">
                    <a:solidFill>
                      <a:srgbClr val="EEF3F8"/>
                    </a:solidFill>
                  </a:tcPr>
                </a:tc>
                <a:tc>
                  <a:txBody>
                    <a:bodyPr wrap="square"/>
                    <a:lstStyle/>
                    <a:p>
                      <a:r>
                        <a:rPr sz="1050">
                          <a:solidFill>
                            <a:srgbClr val="1A1A1A"/>
                          </a:solidFill>
                        </a:rPr>
                        <a:t>Deep features that take time to master</a:t>
                      </a:r>
                    </a:p>
                  </a:txBody>
                  <a:tcPr anchor="ctr" marL="73152" marR="54864" marT="27432" marB="27432">
                    <a:solidFill>
                      <a:srgbClr val="EEF3F8"/>
                    </a:solidFill>
                  </a:tcPr>
                </a:tc>
              </a:tr>
              <a:tr h="736092">
                <a:tc>
                  <a:txBody>
                    <a:bodyPr wrap="square"/>
                    <a:lstStyle/>
                    <a:p>
                      <a:r>
                        <a:rPr sz="1050" b="1">
                          <a:solidFill>
                            <a:srgbClr val="0C2B4A"/>
                          </a:solidFill>
                        </a:rPr>
                        <a:t>Data / asset</a:t>
                      </a:r>
                    </a:p>
                  </a:txBody>
                  <a:tcPr anchor="ctr" marL="73152" marR="54864" marT="27432" marB="27432">
                    <a:solidFill>
                      <a:srgbClr val="FFFFFF"/>
                    </a:solidFill>
                  </a:tcPr>
                </a:tc>
                <a:tc>
                  <a:txBody>
                    <a:bodyPr wrap="square"/>
                    <a:lstStyle/>
                    <a:p>
                      <a:r>
                        <a:rPr sz="1050">
                          <a:solidFill>
                            <a:srgbClr val="1A1A1A"/>
                          </a:solidFill>
                        </a:rPr>
                        <a:t>Saved data &amp; history</a:t>
                      </a:r>
                    </a:p>
                  </a:txBody>
                  <a:tcPr anchor="ctr" marL="73152" marR="54864" marT="27432" marB="27432">
                    <a:solidFill>
                      <a:srgbClr val="FFFFFF"/>
                    </a:solidFill>
                  </a:tcPr>
                </a:tc>
                <a:tc>
                  <a:txBody>
                    <a:bodyPr wrap="square"/>
                    <a:lstStyle/>
                    <a:p>
                      <a:r>
                        <a:rPr sz="1050">
                          <a:solidFill>
                            <a:srgbClr val="1A1A1A"/>
                          </a:solidFill>
                        </a:rPr>
                        <a:t>eSewa payment history, saved billers</a:t>
                      </a:r>
                    </a:p>
                  </a:txBody>
                  <a:tcPr anchor="ctr" marL="73152" marR="54864" marT="27432" marB="27432">
                    <a:solidFill>
                      <a:srgbClr val="FFFFFF"/>
                    </a:solidFill>
                  </a:tcPr>
                </a:tc>
                <a:tc>
                  <a:txBody>
                    <a:bodyPr wrap="square"/>
                    <a:lstStyle/>
                    <a:p>
                      <a:r>
                        <a:rPr sz="1050">
                          <a:solidFill>
                            <a:srgbClr val="1A1A1A"/>
                          </a:solidFill>
                        </a:rPr>
                        <a:t>Store your data in-platform, hard to export</a:t>
                      </a:r>
                    </a:p>
                  </a:txBody>
                  <a:tcPr anchor="ctr" marL="73152" marR="54864" marT="27432" marB="27432">
                    <a:solidFill>
                      <a:srgbClr val="FFFFFF"/>
                    </a:solidFill>
                  </a:tcPr>
                </a:tc>
              </a:tr>
              <a:tr h="736092">
                <a:tc>
                  <a:txBody>
                    <a:bodyPr wrap="square"/>
                    <a:lstStyle/>
                    <a:p>
                      <a:r>
                        <a:rPr sz="1050" b="1">
                          <a:solidFill>
                            <a:srgbClr val="0C2B4A"/>
                          </a:solidFill>
                        </a:rPr>
                        <a:t>Network / social</a:t>
                      </a:r>
                    </a:p>
                  </a:txBody>
                  <a:tcPr anchor="ctr" marL="73152" marR="54864" marT="27432" marB="27432">
                    <a:solidFill>
                      <a:srgbClr val="EEF3F8"/>
                    </a:solidFill>
                  </a:tcPr>
                </a:tc>
                <a:tc>
                  <a:txBody>
                    <a:bodyPr wrap="square"/>
                    <a:lstStyle/>
                    <a:p>
                      <a:r>
                        <a:rPr sz="1050">
                          <a:solidFill>
                            <a:srgbClr val="1A1A1A"/>
                          </a:solidFill>
                        </a:rPr>
                        <a:t>Your connections</a:t>
                      </a:r>
                    </a:p>
                  </a:txBody>
                  <a:tcPr anchor="ctr" marL="73152" marR="54864" marT="27432" marB="27432">
                    <a:solidFill>
                      <a:srgbClr val="EEF3F8"/>
                    </a:solidFill>
                  </a:tcPr>
                </a:tc>
                <a:tc>
                  <a:txBody>
                    <a:bodyPr wrap="square"/>
                    <a:lstStyle/>
                    <a:p>
                      <a:r>
                        <a:rPr sz="1050">
                          <a:solidFill>
                            <a:srgbClr val="1A1A1A"/>
                          </a:solidFill>
                        </a:rPr>
                        <a:t>WhatsApp groups, contacts</a:t>
                      </a:r>
                    </a:p>
                  </a:txBody>
                  <a:tcPr anchor="ctr" marL="73152" marR="54864" marT="27432" marB="27432">
                    <a:solidFill>
                      <a:srgbClr val="EEF3F8"/>
                    </a:solidFill>
                  </a:tcPr>
                </a:tc>
                <a:tc>
                  <a:txBody>
                    <a:bodyPr wrap="square"/>
                    <a:lstStyle/>
                    <a:p>
                      <a:r>
                        <a:rPr sz="1050">
                          <a:solidFill>
                            <a:srgbClr val="1A1A1A"/>
                          </a:solidFill>
                        </a:rPr>
                        <a:t>Make your social graph the product</a:t>
                      </a:r>
                    </a:p>
                  </a:txBody>
                  <a:tcPr anchor="ctr" marL="73152" marR="54864" marT="27432" marB="27432">
                    <a:solidFill>
                      <a:srgbClr val="EEF3F8"/>
                    </a:solidFill>
                  </a:tcPr>
                </a:tc>
              </a:tr>
              <a:tr h="736092">
                <a:tc>
                  <a:txBody>
                    <a:bodyPr wrap="square"/>
                    <a:lstStyle/>
                    <a:p>
                      <a:r>
                        <a:rPr sz="1050" b="1">
                          <a:solidFill>
                            <a:srgbClr val="0C2B4A"/>
                          </a:solidFill>
                        </a:rPr>
                        <a:t>Psychological / habit</a:t>
                      </a:r>
                    </a:p>
                  </a:txBody>
                  <a:tcPr anchor="ctr" marL="73152" marR="54864" marT="27432" marB="27432">
                    <a:solidFill>
                      <a:srgbClr val="FFFFFF"/>
                    </a:solidFill>
                  </a:tcPr>
                </a:tc>
                <a:tc>
                  <a:txBody>
                    <a:bodyPr wrap="square"/>
                    <a:lstStyle/>
                    <a:p>
                      <a:r>
                        <a:rPr sz="1050">
                          <a:solidFill>
                            <a:srgbClr val="1A1A1A"/>
                          </a:solidFill>
                        </a:rPr>
                        <a:t>Comfort &amp; routine</a:t>
                      </a:r>
                    </a:p>
                  </a:txBody>
                  <a:tcPr anchor="ctr" marL="73152" marR="54864" marT="27432" marB="27432">
                    <a:solidFill>
                      <a:srgbClr val="FFFFFF"/>
                    </a:solidFill>
                  </a:tcPr>
                </a:tc>
                <a:tc>
                  <a:txBody>
                    <a:bodyPr wrap="square"/>
                    <a:lstStyle/>
                    <a:p>
                      <a:r>
                        <a:rPr sz="1050">
                          <a:solidFill>
                            <a:srgbClr val="1A1A1A"/>
                          </a:solidFill>
                        </a:rPr>
                        <a:t>Your default wallet 'muscle memory'</a:t>
                      </a:r>
                    </a:p>
                  </a:txBody>
                  <a:tcPr anchor="ctr" marL="73152" marR="54864" marT="27432" marB="27432">
                    <a:solidFill>
                      <a:srgbClr val="FFFFFF"/>
                    </a:solidFill>
                  </a:tcPr>
                </a:tc>
                <a:tc>
                  <a:txBody>
                    <a:bodyPr wrap="square"/>
                    <a:lstStyle/>
                    <a:p>
                      <a:r>
                        <a:rPr sz="1050">
                          <a:solidFill>
                            <a:srgbClr val="1A1A1A"/>
                          </a:solidFill>
                        </a:rPr>
                        <a:t>Defaults, streaks, daily nudges</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Switching costs are usually MORE than money — losing your WhatsApp groups (network) or eSewa history (data) can matter more than any fee. Platforms deliberately stack several types.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48 / 100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S12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Switching Costs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Leaving eSewa isn't hard technically — but you'd re-add every bank account, lose your saved billers and payment history, re-learn another app, and give up any balance or reward points. Those are financial, data, learning, and habit costs stacked together. None is huge alone, but combined they make you shrug and stay — which is precisely the platform's intent.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 stay with a service because it's the best." Often you stay because LEAVING is costly — data, contacts, habit, money — not because the alternative is worse. Recognising engineered switching costs helps you (and future customers you serve) make deliberate choices instead of default ones.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Switching costs are everything a user would lose or spend to move to another platform, and they explain inertia. There are five types: financial (subscriptions, balances, fees), learning/effort (relearning a new tool), data/asset loss (history, photos, files, preferences), network/social loss (contacts, followers, ratings), and psychological/habit. The higher and more numerous these costs, the stronger the lock-in — and platforms deliberately stack several types.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switching costs · financial · learning/effort · data/asset · network/social · psychological/habit · stacked = lock-in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49 / 100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S12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Engineered Lock-In, Walled Gardens &amp; Multi-Homing</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Lock-in is the result when switching costs are high enough that users stay. Platforms engineer it: ecosystem bundling (Apple's devices + iCloud + iMessage), proprietary formats (WhatsApp backups that won't move to Signal), loyalty programs (Prime, reward points), seamless cross-device sync, and exclusive features. A tightly closed ecosystem is a walled garden. The opposite is multi-homing — using several platforms at once — which low switching costs enable and which weakens any single platform's grip.</a:t>
            </a:r>
          </a:p>
          <a:p>
            <a:pPr>
              <a:spcAft>
                <a:spcPts val="500"/>
              </a:spcAft>
            </a:pPr>
            <a:r>
              <a:rPr sz="1200" b="1">
                <a:solidFill>
                  <a:srgbClr val="185FA5"/>
                </a:solidFill>
              </a:rPr>
              <a:t>HOW IT WORKS</a:t>
            </a:r>
          </a:p>
          <a:p>
            <a:pPr>
              <a:spcAft>
                <a:spcPts val="600"/>
              </a:spcAft>
            </a:pPr>
            <a:r>
              <a:rPr sz="1400">
                <a:solidFill>
                  <a:srgbClr val="1A1A1A"/>
                </a:solidFill>
              </a:rPr>
              <a:t>•  Lock-in tactics: bundling, proprietary formats/data, loyalty rewards, sync, exclusive features.</a:t>
            </a:r>
          </a:p>
          <a:p>
            <a:pPr>
              <a:spcAft>
                <a:spcPts val="600"/>
              </a:spcAft>
            </a:pPr>
            <a:r>
              <a:rPr sz="1400">
                <a:solidFill>
                  <a:srgbClr val="1A1A1A"/>
                </a:solidFill>
              </a:rPr>
              <a:t>•  Walled garden: a closed ecosystem, smooth inside, hard to leave (Apple, Meta's apps).</a:t>
            </a:r>
          </a:p>
          <a:p>
            <a:pPr>
              <a:spcAft>
                <a:spcPts val="600"/>
              </a:spcAft>
            </a:pPr>
            <a:r>
              <a:rPr sz="1400">
                <a:solidFill>
                  <a:srgbClr val="1A1A1A"/>
                </a:solidFill>
              </a:rPr>
              <a:t>•  Multi-homing: users on several platforms at once (a driver on Pathao + InDrive) — weakens lock-in.</a:t>
            </a:r>
          </a:p>
          <a:p>
            <a:pPr>
              <a:spcAft>
                <a:spcPts val="600"/>
              </a:spcAft>
            </a:pPr>
            <a:r>
              <a:rPr sz="1400">
                <a:solidFill>
                  <a:srgbClr val="1A1A1A"/>
                </a:solidFill>
              </a:rPr>
              <a:t>•  Platforms fight multi-homing with loyalty, exclusives, and integration to keep users single-homed.</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Lock-in is engineered (bundling, formats, loyalty, sync); walled gardens deepen it; multi-homing weakens it.</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50 / 100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S12 · CONCEPT 3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How platforms engineer lock-in</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3016250"/>
                <a:gridCol w="4286250"/>
                <a:gridCol w="4127500"/>
              </a:tblGrid>
              <a:tr h="736092">
                <a:tc>
                  <a:txBody>
                    <a:bodyPr wrap="square"/>
                    <a:lstStyle/>
                    <a:p>
                      <a:r>
                        <a:rPr sz="1150" b="1">
                          <a:solidFill>
                            <a:srgbClr val="FFFFFF"/>
                          </a:solidFill>
                        </a:rPr>
                        <a:t>Lock-in tactic</a:t>
                      </a:r>
                    </a:p>
                  </a:txBody>
                  <a:tcPr anchor="ctr" marL="73152" marR="54864" marT="27432" marB="27432">
                    <a:solidFill>
                      <a:srgbClr val="0C2B4A"/>
                    </a:solidFill>
                  </a:tcPr>
                </a:tc>
                <a:tc>
                  <a:txBody>
                    <a:bodyPr wrap="square"/>
                    <a:lstStyle/>
                    <a:p>
                      <a:r>
                        <a:rPr sz="1150" b="1">
                          <a:solidFill>
                            <a:srgbClr val="FFFFFF"/>
                          </a:solidFill>
                        </a:rPr>
                        <a:t>How it works</a:t>
                      </a:r>
                    </a:p>
                  </a:txBody>
                  <a:tcPr anchor="ctr" marL="73152" marR="54864" marT="27432" marB="27432">
                    <a:solidFill>
                      <a:srgbClr val="0C2B4A"/>
                    </a:solidFill>
                  </a:tcPr>
                </a:tc>
                <a:tc>
                  <a:txBody>
                    <a:bodyPr wrap="square"/>
                    <a:lstStyle/>
                    <a:p>
                      <a:r>
                        <a:rPr sz="1150" b="1">
                          <a:solidFill>
                            <a:srgbClr val="FFFFFF"/>
                          </a:solidFill>
                        </a:rPr>
                        <a:t>Example</a:t>
                      </a:r>
                    </a:p>
                  </a:txBody>
                  <a:tcPr anchor="ctr" marL="73152" marR="54864" marT="27432" marB="27432">
                    <a:solidFill>
                      <a:srgbClr val="0C2B4A"/>
                    </a:solidFill>
                  </a:tcPr>
                </a:tc>
              </a:tr>
              <a:tr h="736092">
                <a:tc>
                  <a:txBody>
                    <a:bodyPr wrap="square"/>
                    <a:lstStyle/>
                    <a:p>
                      <a:r>
                        <a:rPr sz="1100" b="1">
                          <a:solidFill>
                            <a:srgbClr val="0C2B4A"/>
                          </a:solidFill>
                        </a:rPr>
                        <a:t>Ecosystem bundling</a:t>
                      </a:r>
                    </a:p>
                  </a:txBody>
                  <a:tcPr anchor="ctr" marL="73152" marR="54864" marT="27432" marB="27432">
                    <a:solidFill>
                      <a:srgbClr val="FFFFFF"/>
                    </a:solidFill>
                  </a:tcPr>
                </a:tc>
                <a:tc>
                  <a:txBody>
                    <a:bodyPr wrap="square"/>
                    <a:lstStyle/>
                    <a:p>
                      <a:r>
                        <a:rPr sz="1100">
                          <a:solidFill>
                            <a:srgbClr val="1A1A1A"/>
                          </a:solidFill>
                        </a:rPr>
                        <a:t>Many services only work well together</a:t>
                      </a:r>
                    </a:p>
                  </a:txBody>
                  <a:tcPr anchor="ctr" marL="73152" marR="54864" marT="27432" marB="27432">
                    <a:solidFill>
                      <a:srgbClr val="FFFFFF"/>
                    </a:solidFill>
                  </a:tcPr>
                </a:tc>
                <a:tc>
                  <a:txBody>
                    <a:bodyPr wrap="square"/>
                    <a:lstStyle/>
                    <a:p>
                      <a:r>
                        <a:rPr sz="1100">
                          <a:solidFill>
                            <a:srgbClr val="1A1A1A"/>
                          </a:solidFill>
                        </a:rPr>
                        <a:t>Apple: iPhone + iCloud + iMessage</a:t>
                      </a:r>
                    </a:p>
                  </a:txBody>
                  <a:tcPr anchor="ctr" marL="73152" marR="54864" marT="27432" marB="27432">
                    <a:solidFill>
                      <a:srgbClr val="FFFFFF"/>
                    </a:solidFill>
                  </a:tcPr>
                </a:tc>
              </a:tr>
              <a:tr h="736092">
                <a:tc>
                  <a:txBody>
                    <a:bodyPr wrap="square"/>
                    <a:lstStyle/>
                    <a:p>
                      <a:r>
                        <a:rPr sz="1100" b="1">
                          <a:solidFill>
                            <a:srgbClr val="0C2B4A"/>
                          </a:solidFill>
                        </a:rPr>
                        <a:t>Proprietary format / data</a:t>
                      </a:r>
                    </a:p>
                  </a:txBody>
                  <a:tcPr anchor="ctr" marL="73152" marR="54864" marT="27432" marB="27432">
                    <a:solidFill>
                      <a:srgbClr val="EEF3F8"/>
                    </a:solidFill>
                  </a:tcPr>
                </a:tc>
                <a:tc>
                  <a:txBody>
                    <a:bodyPr wrap="square"/>
                    <a:lstStyle/>
                    <a:p>
                      <a:r>
                        <a:rPr sz="1100">
                          <a:solidFill>
                            <a:srgbClr val="1A1A1A"/>
                          </a:solidFill>
                        </a:rPr>
                        <a:t>Your data won't move elsewhere</a:t>
                      </a:r>
                    </a:p>
                  </a:txBody>
                  <a:tcPr anchor="ctr" marL="73152" marR="54864" marT="27432" marB="27432">
                    <a:solidFill>
                      <a:srgbClr val="EEF3F8"/>
                    </a:solidFill>
                  </a:tcPr>
                </a:tc>
                <a:tc>
                  <a:txBody>
                    <a:bodyPr wrap="square"/>
                    <a:lstStyle/>
                    <a:p>
                      <a:r>
                        <a:rPr sz="1100">
                          <a:solidFill>
                            <a:srgbClr val="1A1A1A"/>
                          </a:solidFill>
                        </a:rPr>
                        <a:t>WhatsApp backup can't import to Signal</a:t>
                      </a:r>
                    </a:p>
                  </a:txBody>
                  <a:tcPr anchor="ctr" marL="73152" marR="54864" marT="27432" marB="27432">
                    <a:solidFill>
                      <a:srgbClr val="EEF3F8"/>
                    </a:solidFill>
                  </a:tcPr>
                </a:tc>
              </a:tr>
              <a:tr h="736092">
                <a:tc>
                  <a:txBody>
                    <a:bodyPr wrap="square"/>
                    <a:lstStyle/>
                    <a:p>
                      <a:r>
                        <a:rPr sz="1100" b="1">
                          <a:solidFill>
                            <a:srgbClr val="0C2B4A"/>
                          </a:solidFill>
                        </a:rPr>
                        <a:t>Loyalty / rewards</a:t>
                      </a:r>
                    </a:p>
                  </a:txBody>
                  <a:tcPr anchor="ctr" marL="73152" marR="54864" marT="27432" marB="27432">
                    <a:solidFill>
                      <a:srgbClr val="FFFFFF"/>
                    </a:solidFill>
                  </a:tcPr>
                </a:tc>
                <a:tc>
                  <a:txBody>
                    <a:bodyPr wrap="square"/>
                    <a:lstStyle/>
                    <a:p>
                      <a:r>
                        <a:rPr sz="1100">
                          <a:solidFill>
                            <a:srgbClr val="1A1A1A"/>
                          </a:solidFill>
                        </a:rPr>
                        <a:t>Points &amp; perks you'd forfeit by leaving</a:t>
                      </a:r>
                    </a:p>
                  </a:txBody>
                  <a:tcPr anchor="ctr" marL="73152" marR="54864" marT="27432" marB="27432">
                    <a:solidFill>
                      <a:srgbClr val="FFFFFF"/>
                    </a:solidFill>
                  </a:tcPr>
                </a:tc>
                <a:tc>
                  <a:txBody>
                    <a:bodyPr wrap="square"/>
                    <a:lstStyle/>
                    <a:p>
                      <a:r>
                        <a:rPr sz="1100">
                          <a:solidFill>
                            <a:srgbClr val="1A1A1A"/>
                          </a:solidFill>
                        </a:rPr>
                        <a:t>Amazon Prime; Daraz vouchers</a:t>
                      </a:r>
                    </a:p>
                  </a:txBody>
                  <a:tcPr anchor="ctr" marL="73152" marR="54864" marT="27432" marB="27432">
                    <a:solidFill>
                      <a:srgbClr val="FFFFFF"/>
                    </a:solidFill>
                  </a:tcPr>
                </a:tc>
              </a:tr>
              <a:tr h="736092">
                <a:tc>
                  <a:txBody>
                    <a:bodyPr wrap="square"/>
                    <a:lstStyle/>
                    <a:p>
                      <a:r>
                        <a:rPr sz="1100" b="1">
                          <a:solidFill>
                            <a:srgbClr val="0C2B4A"/>
                          </a:solidFill>
                        </a:rPr>
                        <a:t>Cross-device sync</a:t>
                      </a:r>
                    </a:p>
                  </a:txBody>
                  <a:tcPr anchor="ctr" marL="73152" marR="54864" marT="27432" marB="27432">
                    <a:solidFill>
                      <a:srgbClr val="EEF3F8"/>
                    </a:solidFill>
                  </a:tcPr>
                </a:tc>
                <a:tc>
                  <a:txBody>
                    <a:bodyPr wrap="square"/>
                    <a:lstStyle/>
                    <a:p>
                      <a:r>
                        <a:rPr sz="1100">
                          <a:solidFill>
                            <a:srgbClr val="1A1A1A"/>
                          </a:solidFill>
                        </a:rPr>
                        <a:t>Seamless only inside the ecosystem</a:t>
                      </a:r>
                    </a:p>
                  </a:txBody>
                  <a:tcPr anchor="ctr" marL="73152" marR="54864" marT="27432" marB="27432">
                    <a:solidFill>
                      <a:srgbClr val="EEF3F8"/>
                    </a:solidFill>
                  </a:tcPr>
                </a:tc>
                <a:tc>
                  <a:txBody>
                    <a:bodyPr wrap="square"/>
                    <a:lstStyle/>
                    <a:p>
                      <a:r>
                        <a:rPr sz="1100">
                          <a:solidFill>
                            <a:srgbClr val="1A1A1A"/>
                          </a:solidFill>
                        </a:rPr>
                        <a:t>Google Workspace across devices</a:t>
                      </a:r>
                    </a:p>
                  </a:txBody>
                  <a:tcPr anchor="ctr" marL="73152" marR="54864" marT="27432" marB="27432">
                    <a:solidFill>
                      <a:srgbClr val="EEF3F8"/>
                    </a:solidFill>
                  </a:tcPr>
                </a:tc>
              </a:tr>
              <a:tr h="736092">
                <a:tc>
                  <a:txBody>
                    <a:bodyPr wrap="square"/>
                    <a:lstStyle/>
                    <a:p>
                      <a:r>
                        <a:rPr sz="1100" b="1">
                          <a:solidFill>
                            <a:srgbClr val="0C2B4A"/>
                          </a:solidFill>
                        </a:rPr>
                        <a:t>Exclusive features / content</a:t>
                      </a:r>
                    </a:p>
                  </a:txBody>
                  <a:tcPr anchor="ctr" marL="73152" marR="54864" marT="27432" marB="27432">
                    <a:solidFill>
                      <a:srgbClr val="FFFFFF"/>
                    </a:solidFill>
                  </a:tcPr>
                </a:tc>
                <a:tc>
                  <a:txBody>
                    <a:bodyPr wrap="square"/>
                    <a:lstStyle/>
                    <a:p>
                      <a:r>
                        <a:rPr sz="1100">
                          <a:solidFill>
                            <a:srgbClr val="1A1A1A"/>
                          </a:solidFill>
                        </a:rPr>
                        <a:t>Unique things unavailable elsewhere</a:t>
                      </a:r>
                    </a:p>
                  </a:txBody>
                  <a:tcPr anchor="ctr" marL="73152" marR="54864" marT="27432" marB="27432">
                    <a:solidFill>
                      <a:srgbClr val="FFFFFF"/>
                    </a:solidFill>
                  </a:tcPr>
                </a:tc>
                <a:tc>
                  <a:txBody>
                    <a:bodyPr wrap="square"/>
                    <a:lstStyle/>
                    <a:p>
                      <a:r>
                        <a:rPr sz="1100">
                          <a:solidFill>
                            <a:srgbClr val="1A1A1A"/>
                          </a:solidFill>
                        </a:rPr>
                        <a:t>Platform-only shows, filters, integrations</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Each tactic quietly raises a switching cost. A walled garden stacks them so the inside is frictionless and the exit is painful — the deliberate design behind 'I can't be bothered to switch'.</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51 / 100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S12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Engineered Lock-In &amp; Multi-Homing</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Nepali ride-share drivers often multi-home — running Pathao and InDrive together to catch more rides — because switching (or running both) costs them little. That multi-homing weakens each platform's grip, so platforms respond with driver loyalty bonuses, exclusive incentives, and integration (in-app payments, ratings) to make one platform the default. Apple, by contrast, is a walled garden most users never leave because everything is bundled.</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"Lock-in just means the service is good enough that people stay." Lock-in is usually engineered, not earned — bundling, proprietary data, loyalty points, and exclusives raise the cost of leaving regardless of whether a rival is better. Multi-homing (using several at once) is the user's natural defence, which is exactly why platforms work to prevent it.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Lock-in results when engineered switching costs keep users in place: platforms use ecosystem bundling (Apple), proprietary formats/data (WhatsApp backups), loyalty programs (Prime, vouchers), cross-device sync, and exclusive features. A tightly closed ecosystem is a walled garden. The opposite is multi-homing — using several platforms at once (drivers on Pathao + InDrive) — enabled by low switching costs, which weakens any single platform's grip; platforms fight it with loyalty, exclusives, and integration.</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lock-in · bundling · proprietary formats · loyalty · walled garden · multi-homing · single-homing</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52 / 100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S12 — 'Trapped by design'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Individually (1 min): name a service you'd like to leave but haven't.</a:t>
            </a:r>
          </a:p>
          <a:p>
            <a:pPr>
              <a:spcAft>
                <a:spcPts val="700"/>
              </a:spcAft>
            </a:pPr>
            <a:r>
              <a:rPr sz="1550">
                <a:solidFill>
                  <a:srgbClr val="1A1A1A"/>
                </a:solidFill>
              </a:rPr>
              <a:t>•  In pairs (2 min): identify which of the 5 switching costs keep you there, and any lock-in tactic used.</a:t>
            </a:r>
          </a:p>
          <a:p>
            <a:pPr>
              <a:spcAft>
                <a:spcPts val="700"/>
              </a:spcAft>
            </a:pPr>
            <a:r>
              <a:rPr sz="1550">
                <a:solidFill>
                  <a:srgbClr val="1A1A1A"/>
                </a:solidFill>
              </a:rPr>
              <a:t>•  Take 3–4 answers aloud (2 min); tally the most common switching cost.</a:t>
            </a:r>
          </a:p>
          <a:p>
            <a:pPr>
              <a:spcAft>
                <a:spcPts val="700"/>
              </a:spcAft>
            </a:pPr>
            <a:r>
              <a:rPr sz="1550">
                <a:solidFill>
                  <a:srgbClr val="1A1A1A"/>
                </a:solidFill>
              </a:rPr>
              <a:t>•  Close: notice how much lock-in is engineered, not accidental.</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Seeds: WhatsApp (network + data + habit), bank app (learning + data), Apple (bundling walled garden), Daraz (rewards). Reward naming the specific switching-cost type and the tactic.</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53 / 100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S12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The difference between a network effect and a flywheel is:</a:t>
            </a:r>
          </a:p>
          <a:p>
            <a:pPr lvl="1"/>
            <a:r>
              <a:rPr sz="1500" b="1">
                <a:solidFill>
                  <a:srgbClr val="0F6E56"/>
                </a:solidFill>
              </a:rPr>
              <a:t>a) none   b) ✅ a network effect is natural; a flywheel is a designed growth loop   c) size   d) only Amazon has flywheels</a:t>
            </a:r>
          </a:p>
          <a:p>
            <a:pPr lvl="1">
              <a:spcBef>
                <a:spcPts val="600"/>
              </a:spcBef>
            </a:pPr>
            <a:r>
              <a:rPr sz="1500" i="1">
                <a:solidFill>
                  <a:srgbClr val="1A1A1A"/>
                </a:solidFill>
              </a:rPr>
              <a:t>     Why: the network effect is the force; the flywheel is the engineered machine that harnesses it.</a:t>
            </a:r>
          </a:p>
          <a:p>
            <a:pPr>
              <a:spcBef>
                <a:spcPts val="900"/>
              </a:spcBef>
            </a:pPr>
            <a:r>
              <a:rPr sz="1700" b="1">
                <a:solidFill>
                  <a:srgbClr val="0C2B4A"/>
                </a:solidFill>
              </a:rPr>
              <a:t>Q2.  Losing your WhatsApp groups and chat history if you left is which switching cost(s)?</a:t>
            </a:r>
          </a:p>
          <a:p>
            <a:pPr lvl="1"/>
            <a:r>
              <a:rPr sz="1500" b="1">
                <a:solidFill>
                  <a:srgbClr val="0F6E56"/>
                </a:solidFill>
              </a:rPr>
              <a:t>a) financial only   b) ✅ network/social + data/asset   c) learning only   d) none</a:t>
            </a:r>
          </a:p>
          <a:p>
            <a:pPr lvl="1">
              <a:spcBef>
                <a:spcPts val="600"/>
              </a:spcBef>
            </a:pPr>
            <a:r>
              <a:rPr sz="1500" i="1">
                <a:solidFill>
                  <a:srgbClr val="1A1A1A"/>
                </a:solidFill>
              </a:rPr>
              <a:t>     Why: groups = network/social loss; chat history = data/asset loss — stacked switching costs.</a:t>
            </a:r>
          </a:p>
          <a:p>
            <a:pPr lvl="1">
              <a:spcBef>
                <a:spcPts val="600"/>
              </a:spcBef>
            </a:pPr>
            <a:r>
              <a:rPr sz="1500" i="1">
                <a:solidFill>
                  <a:srgbClr val="1A1A1A"/>
                </a:solidFill>
              </a:rPr>
              <a:t>Discussion: name a service you'd leave but haven't — which switching costs trap you?</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54 / 100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S12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Flywheel = a DESIGNED growth loop (acquire→activate→engage→retain); a network effect is the NATURAL force it harnesses.</a:t>
            </a:r>
          </a:p>
          <a:p>
            <a:pPr>
              <a:spcAft>
                <a:spcPts val="800"/>
              </a:spcAft>
            </a:pPr>
            <a:r>
              <a:rPr sz="1500">
                <a:solidFill>
                  <a:srgbClr val="1A1A1A"/>
                </a:solidFill>
              </a:rPr>
              <a:t>2.  Five switching costs — financial, learning, data/asset, network/social, psychological — stack into lock-in.</a:t>
            </a:r>
          </a:p>
          <a:p>
            <a:pPr>
              <a:spcAft>
                <a:spcPts val="800"/>
              </a:spcAft>
            </a:pPr>
            <a:r>
              <a:rPr sz="1500">
                <a:solidFill>
                  <a:srgbClr val="1A1A1A"/>
                </a:solidFill>
              </a:rPr>
              <a:t>3.  Platforms engineer lock-in (bundling, formats, loyalty, sync, exclusives) &amp; fight multi-homing; walled gardens deepen it.</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Lock-in decides whether a platform keeps the users it wins — and as a consumer it explains your own inertia. As a future builder, designing (ethical) switching costs is how you retain customers; as a regulator, reducing them (data portability) is how you restore competition.</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S13 — when network effects + scale + lock-in combine: how digital monopolies form.</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55 / 100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13 · LECTURE HOUR 5 (OF 7)</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Formation of Monopolies in the Digital Economy</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Once everyone is on the platform, everyone HAS to be on the platform. In ordinary markets several firms share the pie; in digital markets the leader often takes almost all of it — 'winner-take-most'. Google has ~90% of search, WhatsApp is near-universal in Nepal. Why do digital markets tip toward one giant so much more than shops or factories do?</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56 / 100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S13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Winner-Take-Most &amp; the Tipping Point</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 digital monopoly rarely means 100% control; it means 'winner-take-most' — the leader captures the bulk of the market, a small rival survives, and the rest fade. This happens because of increasing returns: the bigger a platform gets, the better and cheaper it becomes, attracting still more users. Past a tipping point, one platform becomes effectively unstoppable and users pile onto it.</a:t>
            </a:r>
          </a:p>
          <a:p>
            <a:pPr>
              <a:spcAft>
                <a:spcPts val="500"/>
              </a:spcAft>
            </a:pPr>
            <a:r>
              <a:rPr sz="1200" b="1">
                <a:solidFill>
                  <a:srgbClr val="185FA5"/>
                </a:solidFill>
              </a:rPr>
              <a:t>HOW IT WORKS</a:t>
            </a:r>
          </a:p>
          <a:p>
            <a:pPr>
              <a:spcAft>
                <a:spcPts val="600"/>
              </a:spcAft>
            </a:pPr>
            <a:r>
              <a:rPr sz="1400">
                <a:solidFill>
                  <a:srgbClr val="1A1A1A"/>
                </a:solidFill>
              </a:rPr>
              <a:t>•  Winner-take-most: leader takes the majority; one small competitor lingers; others die.</a:t>
            </a:r>
          </a:p>
          <a:p>
            <a:pPr>
              <a:spcAft>
                <a:spcPts val="600"/>
              </a:spcAft>
            </a:pPr>
            <a:r>
              <a:rPr sz="1400">
                <a:solidFill>
                  <a:srgbClr val="1A1A1A"/>
                </a:solidFill>
              </a:rPr>
              <a:t>•  Increasing returns: more users → better/cheaper product → even more users (S10 + S11 combined).</a:t>
            </a:r>
          </a:p>
          <a:p>
            <a:pPr>
              <a:spcAft>
                <a:spcPts val="600"/>
              </a:spcAft>
            </a:pPr>
            <a:r>
              <a:rPr sz="1400">
                <a:solidFill>
                  <a:srgbClr val="1A1A1A"/>
                </a:solidFill>
              </a:rPr>
              <a:t>•  Tipping point: the moment the market 'tips' to one platform and reversal becomes very hard.</a:t>
            </a:r>
          </a:p>
          <a:p>
            <a:pPr>
              <a:spcAft>
                <a:spcPts val="600"/>
              </a:spcAft>
            </a:pPr>
            <a:r>
              <a:rPr sz="1400">
                <a:solidFill>
                  <a:srgbClr val="1A1A1A"/>
                </a:solidFill>
              </a:rPr>
              <a:t>•  Not every market tips — where multi-homing is easy and effects are weak, several can coexist.</a:t>
            </a:r>
          </a:p>
        </p:txBody>
      </p:sp>
      <p:pic>
        <p:nvPicPr>
          <p:cNvPr id="6" name="Picture 5" descr="s13_tipping.png"/>
          <p:cNvPicPr>
            <a:picLocks noChangeAspect="1"/>
          </p:cNvPicPr>
          <p:nvPr/>
        </p:nvPicPr>
        <p:blipFill>
          <a:blip r:embed="rId2"/>
          <a:stretch>
            <a:fillRect/>
          </a:stretch>
        </p:blipFill>
        <p:spPr>
          <a:xfrm>
            <a:off x="6355080" y="2494166"/>
            <a:ext cx="5532120" cy="2646907"/>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Winner-take-most: past the tipping point, increasing returns pile users onto the leader.</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57 / 100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S13 · CONCEPT 1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When a market tips vs stays contested</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897746"/>
                <a:gridCol w="4185633"/>
                <a:gridCol w="4346619"/>
              </a:tblGrid>
              <a:tr h="736092">
                <a:tc>
                  <a:txBody>
                    <a:bodyPr wrap="square"/>
                    <a:lstStyle/>
                    <a:p>
                      <a:r>
                        <a:rPr sz="1150" b="1">
                          <a:solidFill>
                            <a:srgbClr val="FFFFFF"/>
                          </a:solidFill>
                        </a:rPr>
                        <a:t>Factor</a:t>
                      </a:r>
                    </a:p>
                  </a:txBody>
                  <a:tcPr anchor="ctr" marL="73152" marR="54864" marT="27432" marB="27432">
                    <a:solidFill>
                      <a:srgbClr val="0C2B4A"/>
                    </a:solidFill>
                  </a:tcPr>
                </a:tc>
                <a:tc>
                  <a:txBody>
                    <a:bodyPr wrap="square"/>
                    <a:lstStyle/>
                    <a:p>
                      <a:r>
                        <a:rPr sz="1150" b="1">
                          <a:solidFill>
                            <a:srgbClr val="FFFFFF"/>
                          </a:solidFill>
                        </a:rPr>
                        <a:t>Tips to one winner</a:t>
                      </a:r>
                    </a:p>
                  </a:txBody>
                  <a:tcPr anchor="ctr" marL="73152" marR="54864" marT="27432" marB="27432">
                    <a:solidFill>
                      <a:srgbClr val="0C2B4A"/>
                    </a:solidFill>
                  </a:tcPr>
                </a:tc>
                <a:tc>
                  <a:txBody>
                    <a:bodyPr wrap="square"/>
                    <a:lstStyle/>
                    <a:p>
                      <a:r>
                        <a:rPr sz="1150" b="1">
                          <a:solidFill>
                            <a:srgbClr val="FFFFFF"/>
                          </a:solidFill>
                        </a:rPr>
                        <a:t>Stays contested (several survive)</a:t>
                      </a:r>
                    </a:p>
                  </a:txBody>
                  <a:tcPr anchor="ctr" marL="73152" marR="54864" marT="27432" marB="27432">
                    <a:solidFill>
                      <a:srgbClr val="0C2B4A"/>
                    </a:solidFill>
                  </a:tcPr>
                </a:tc>
              </a:tr>
              <a:tr h="736092">
                <a:tc>
                  <a:txBody>
                    <a:bodyPr wrap="square"/>
                    <a:lstStyle/>
                    <a:p>
                      <a:r>
                        <a:rPr sz="1100" b="1">
                          <a:solidFill>
                            <a:srgbClr val="0C2B4A"/>
                          </a:solidFill>
                        </a:rPr>
                        <a:t>Network effects</a:t>
                      </a:r>
                    </a:p>
                  </a:txBody>
                  <a:tcPr anchor="ctr" marL="73152" marR="54864" marT="27432" marB="27432">
                    <a:solidFill>
                      <a:srgbClr val="FFFFFF"/>
                    </a:solidFill>
                  </a:tcPr>
                </a:tc>
                <a:tc>
                  <a:txBody>
                    <a:bodyPr wrap="square"/>
                    <a:lstStyle/>
                    <a:p>
                      <a:r>
                        <a:rPr sz="1100">
                          <a:solidFill>
                            <a:srgbClr val="1A1A1A"/>
                          </a:solidFill>
                        </a:rPr>
                        <a:t>Strong (value needs everyone)</a:t>
                      </a:r>
                    </a:p>
                  </a:txBody>
                  <a:tcPr anchor="ctr" marL="73152" marR="54864" marT="27432" marB="27432">
                    <a:solidFill>
                      <a:srgbClr val="FFFFFF"/>
                    </a:solidFill>
                  </a:tcPr>
                </a:tc>
                <a:tc>
                  <a:txBody>
                    <a:bodyPr wrap="square"/>
                    <a:lstStyle/>
                    <a:p>
                      <a:r>
                        <a:rPr sz="1100">
                          <a:solidFill>
                            <a:srgbClr val="1A1A1A"/>
                          </a:solidFill>
                        </a:rPr>
                        <a:t>Weak or local</a:t>
                      </a:r>
                    </a:p>
                  </a:txBody>
                  <a:tcPr anchor="ctr" marL="73152" marR="54864" marT="27432" marB="27432">
                    <a:solidFill>
                      <a:srgbClr val="FFFFFF"/>
                    </a:solidFill>
                  </a:tcPr>
                </a:tc>
              </a:tr>
              <a:tr h="736092">
                <a:tc>
                  <a:txBody>
                    <a:bodyPr wrap="square"/>
                    <a:lstStyle/>
                    <a:p>
                      <a:r>
                        <a:rPr sz="1100" b="1">
                          <a:solidFill>
                            <a:srgbClr val="0C2B4A"/>
                          </a:solidFill>
                        </a:rPr>
                        <a:t>Switching costs</a:t>
                      </a:r>
                    </a:p>
                  </a:txBody>
                  <a:tcPr anchor="ctr" marL="73152" marR="54864" marT="27432" marB="27432">
                    <a:solidFill>
                      <a:srgbClr val="EEF3F8"/>
                    </a:solidFill>
                  </a:tcPr>
                </a:tc>
                <a:tc>
                  <a:txBody>
                    <a:bodyPr wrap="square"/>
                    <a:lstStyle/>
                    <a:p>
                      <a:r>
                        <a:rPr sz="1100">
                          <a:solidFill>
                            <a:srgbClr val="1A1A1A"/>
                          </a:solidFill>
                        </a:rPr>
                        <a:t>High (hard to leave)</a:t>
                      </a:r>
                    </a:p>
                  </a:txBody>
                  <a:tcPr anchor="ctr" marL="73152" marR="54864" marT="27432" marB="27432">
                    <a:solidFill>
                      <a:srgbClr val="EEF3F8"/>
                    </a:solidFill>
                  </a:tcPr>
                </a:tc>
                <a:tc>
                  <a:txBody>
                    <a:bodyPr wrap="square"/>
                    <a:lstStyle/>
                    <a:p>
                      <a:r>
                        <a:rPr sz="1100">
                          <a:solidFill>
                            <a:srgbClr val="1A1A1A"/>
                          </a:solidFill>
                        </a:rPr>
                        <a:t>Low (easy to switch)</a:t>
                      </a:r>
                    </a:p>
                  </a:txBody>
                  <a:tcPr anchor="ctr" marL="73152" marR="54864" marT="27432" marB="27432">
                    <a:solidFill>
                      <a:srgbClr val="EEF3F8"/>
                    </a:solidFill>
                  </a:tcPr>
                </a:tc>
              </a:tr>
              <a:tr h="736092">
                <a:tc>
                  <a:txBody>
                    <a:bodyPr wrap="square"/>
                    <a:lstStyle/>
                    <a:p>
                      <a:r>
                        <a:rPr sz="1100" b="1">
                          <a:solidFill>
                            <a:srgbClr val="0C2B4A"/>
                          </a:solidFill>
                        </a:rPr>
                        <a:t>Multi-homing</a:t>
                      </a:r>
                    </a:p>
                  </a:txBody>
                  <a:tcPr anchor="ctr" marL="73152" marR="54864" marT="27432" marB="27432">
                    <a:solidFill>
                      <a:srgbClr val="FFFFFF"/>
                    </a:solidFill>
                  </a:tcPr>
                </a:tc>
                <a:tc>
                  <a:txBody>
                    <a:bodyPr wrap="square"/>
                    <a:lstStyle/>
                    <a:p>
                      <a:r>
                        <a:rPr sz="1100">
                          <a:solidFill>
                            <a:srgbClr val="1A1A1A"/>
                          </a:solidFill>
                        </a:rPr>
                        <a:t>Rare (users pick one)</a:t>
                      </a:r>
                    </a:p>
                  </a:txBody>
                  <a:tcPr anchor="ctr" marL="73152" marR="54864" marT="27432" marB="27432">
                    <a:solidFill>
                      <a:srgbClr val="FFFFFF"/>
                    </a:solidFill>
                  </a:tcPr>
                </a:tc>
                <a:tc>
                  <a:txBody>
                    <a:bodyPr wrap="square"/>
                    <a:lstStyle/>
                    <a:p>
                      <a:r>
                        <a:rPr sz="1100">
                          <a:solidFill>
                            <a:srgbClr val="1A1A1A"/>
                          </a:solidFill>
                        </a:rPr>
                        <a:t>Common (users use several)</a:t>
                      </a:r>
                    </a:p>
                  </a:txBody>
                  <a:tcPr anchor="ctr" marL="73152" marR="54864" marT="27432" marB="27432">
                    <a:solidFill>
                      <a:srgbClr val="FFFFFF"/>
                    </a:solidFill>
                  </a:tcPr>
                </a:tc>
              </a:tr>
              <a:tr h="736092">
                <a:tc>
                  <a:txBody>
                    <a:bodyPr wrap="square"/>
                    <a:lstStyle/>
                    <a:p>
                      <a:r>
                        <a:rPr sz="1100" b="1">
                          <a:solidFill>
                            <a:srgbClr val="0C2B4A"/>
                          </a:solidFill>
                        </a:rPr>
                        <a:t>Differentiation</a:t>
                      </a:r>
                    </a:p>
                  </a:txBody>
                  <a:tcPr anchor="ctr" marL="73152" marR="54864" marT="27432" marB="27432">
                    <a:solidFill>
                      <a:srgbClr val="EEF3F8"/>
                    </a:solidFill>
                  </a:tcPr>
                </a:tc>
                <a:tc>
                  <a:txBody>
                    <a:bodyPr wrap="square"/>
                    <a:lstStyle/>
                    <a:p>
                      <a:r>
                        <a:rPr sz="1100">
                          <a:solidFill>
                            <a:srgbClr val="1A1A1A"/>
                          </a:solidFill>
                        </a:rPr>
                        <a:t>Little — one 'best' network</a:t>
                      </a:r>
                    </a:p>
                  </a:txBody>
                  <a:tcPr anchor="ctr" marL="73152" marR="54864" marT="27432" marB="27432">
                    <a:solidFill>
                      <a:srgbClr val="EEF3F8"/>
                    </a:solidFill>
                  </a:tcPr>
                </a:tc>
                <a:tc>
                  <a:txBody>
                    <a:bodyPr wrap="square"/>
                    <a:lstStyle/>
                    <a:p>
                      <a:r>
                        <a:rPr sz="1100">
                          <a:solidFill>
                            <a:srgbClr val="1A1A1A"/>
                          </a:solidFill>
                        </a:rPr>
                        <a:t>High — niches for different needs</a:t>
                      </a:r>
                    </a:p>
                  </a:txBody>
                  <a:tcPr anchor="ctr" marL="73152" marR="54864" marT="27432" marB="27432">
                    <a:solidFill>
                      <a:srgbClr val="EEF3F8"/>
                    </a:solidFill>
                  </a:tcPr>
                </a:tc>
              </a:tr>
              <a:tr h="736092">
                <a:tc>
                  <a:txBody>
                    <a:bodyPr wrap="square"/>
                    <a:lstStyle/>
                    <a:p>
                      <a:r>
                        <a:rPr sz="1100" b="1">
                          <a:solidFill>
                            <a:srgbClr val="0C2B4A"/>
                          </a:solidFill>
                        </a:rPr>
                        <a:t>Example</a:t>
                      </a:r>
                    </a:p>
                  </a:txBody>
                  <a:tcPr anchor="ctr" marL="73152" marR="54864" marT="27432" marB="27432">
                    <a:solidFill>
                      <a:srgbClr val="FFFFFF"/>
                    </a:solidFill>
                  </a:tcPr>
                </a:tc>
                <a:tc>
                  <a:txBody>
                    <a:bodyPr wrap="square"/>
                    <a:lstStyle/>
                    <a:p>
                      <a:r>
                        <a:rPr sz="1100">
                          <a:solidFill>
                            <a:srgbClr val="1A1A1A"/>
                          </a:solidFill>
                        </a:rPr>
                        <a:t>Search (Google), messaging (WhatsApp)</a:t>
                      </a:r>
                    </a:p>
                  </a:txBody>
                  <a:tcPr anchor="ctr" marL="73152" marR="54864" marT="27432" marB="27432">
                    <a:solidFill>
                      <a:srgbClr val="FFFFFF"/>
                    </a:solidFill>
                  </a:tcPr>
                </a:tc>
                <a:tc>
                  <a:txBody>
                    <a:bodyPr wrap="square"/>
                    <a:lstStyle/>
                    <a:p>
                      <a:r>
                        <a:rPr sz="1100">
                          <a:solidFill>
                            <a:srgbClr val="1A1A1A"/>
                          </a:solidFill>
                        </a:rPr>
                        <a:t>Food delivery, ride-hailing (often several)</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Tipping is not inevitable: ride-hailing and food delivery often support several players because multi-homing is easy and needs are local. Knowing when a market tips is a strategic and regulatory question.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58 / 100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S13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Winner-Take-Most &amp; Tipping</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Nepal's messaging market tipped: WhatsApp and Viber competed, but as more contacts settled on WhatsApp its value rose for everyone until it 'won most' and Viber faded — high network effects, high switching costs, little reason to multi-home. Ride-hailing has NOT fully tipped: Pathao and InDrive coexist because drivers and riders happily multi-home and needs are local. Same country, different tipping outcomes.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"Every digital market ends in one monopoly." Only markets with strong network effects, high switching costs, and little multi-homing tip to one winner (search, messaging). Where multi-homing is easy and needs differ (ride-hailing, food delivery), several players persist. Tipping is a tendency, not a law.</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digital monopoly usually means 'winner-take-most' — the leader captures the bulk of the market, a small rival survives, and the rest fade — driven by increasing returns (more users → a better, cheaper product → more users). Past a tipping point one platform becomes effectively unstoppable. But not every market tips: where network effects are weak, switching costs low, and multi-homing easy, several platforms coexist (ride-hailing, food delivery).</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winner-take-most · increasing returns · tipping point · not every market tips · multi-homing keeps markets contested</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59 / 100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S13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Six Forces Behind Digital Monopolies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Six reinforcing forces push digital markets toward monopoly: network effects (more users → more value), economies of scale (near-zero marginal cost → cheaper per user with size), economies of scope (one infrastructure/dataset serves many products), data advantage (more users → more data → better product), low/zero marginal cost, and high switching costs. Each strengthens the others, so a lead compounds into dominance.</a:t>
            </a:r>
          </a:p>
          <a:p>
            <a:pPr>
              <a:spcAft>
                <a:spcPts val="500"/>
              </a:spcAft>
            </a:pPr>
            <a:r>
              <a:rPr sz="1200" b="1">
                <a:solidFill>
                  <a:srgbClr val="185FA5"/>
                </a:solidFill>
              </a:rPr>
              <a:t>HOW IT WORKS</a:t>
            </a:r>
          </a:p>
          <a:p>
            <a:pPr>
              <a:spcAft>
                <a:spcPts val="600"/>
              </a:spcAft>
            </a:pPr>
            <a:r>
              <a:rPr sz="1400">
                <a:solidFill>
                  <a:srgbClr val="1A1A1A"/>
                </a:solidFill>
              </a:rPr>
              <a:t>•  Network effects + data advantage: users and data both make the product better, attracting more users.</a:t>
            </a:r>
          </a:p>
          <a:p>
            <a:pPr>
              <a:spcAft>
                <a:spcPts val="600"/>
              </a:spcAft>
            </a:pPr>
            <a:r>
              <a:rPr sz="1400">
                <a:solidFill>
                  <a:srgbClr val="1A1A1A"/>
                </a:solidFill>
              </a:rPr>
              <a:t>•  Economies of scale + low marginal cost: the biggest is cheapest to run per user.</a:t>
            </a:r>
          </a:p>
          <a:p>
            <a:pPr>
              <a:spcAft>
                <a:spcPts val="600"/>
              </a:spcAft>
            </a:pPr>
            <a:r>
              <a:rPr sz="1400">
                <a:solidFill>
                  <a:srgbClr val="1A1A1A"/>
                </a:solidFill>
              </a:rPr>
              <a:t>•  Economies of scope: reuse one login/dataset/infrastructure across many services (Google, Amazon).</a:t>
            </a:r>
          </a:p>
          <a:p>
            <a:pPr>
              <a:spcAft>
                <a:spcPts val="600"/>
              </a:spcAft>
            </a:pPr>
            <a:r>
              <a:rPr sz="1400">
                <a:solidFill>
                  <a:srgbClr val="1A1A1A"/>
                </a:solidFill>
              </a:rPr>
              <a:t>•  High switching costs (S12): once ahead, the leader is hard to dislodge — the forces lock together.</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Six forces: network effects · scale · scope · data advantage · low marginal cost · switching costs.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60 / 100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S13 · CONCEPT 2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six forces — how each pushes toward monopoly</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102428"/>
                <a:gridCol w="4408714"/>
                <a:gridCol w="3918857"/>
              </a:tblGrid>
              <a:tr h="630936">
                <a:tc>
                  <a:txBody>
                    <a:bodyPr wrap="square"/>
                    <a:lstStyle/>
                    <a:p>
                      <a:r>
                        <a:rPr sz="1100" b="1">
                          <a:solidFill>
                            <a:srgbClr val="FFFFFF"/>
                          </a:solidFill>
                        </a:rPr>
                        <a:t>Force</a:t>
                      </a:r>
                    </a:p>
                  </a:txBody>
                  <a:tcPr anchor="ctr" marL="73152" marR="54864" marT="27432" marB="27432">
                    <a:solidFill>
                      <a:srgbClr val="0C2B4A"/>
                    </a:solidFill>
                  </a:tcPr>
                </a:tc>
                <a:tc>
                  <a:txBody>
                    <a:bodyPr wrap="square"/>
                    <a:lstStyle/>
                    <a:p>
                      <a:r>
                        <a:rPr sz="1100" b="1">
                          <a:solidFill>
                            <a:srgbClr val="FFFFFF"/>
                          </a:solidFill>
                        </a:rPr>
                        <a:t>How it drives dominance</a:t>
                      </a:r>
                    </a:p>
                  </a:txBody>
                  <a:tcPr anchor="ctr" marL="73152" marR="54864" marT="27432" marB="27432">
                    <a:solidFill>
                      <a:srgbClr val="0C2B4A"/>
                    </a:solidFill>
                  </a:tcPr>
                </a:tc>
                <a:tc>
                  <a:txBody>
                    <a:bodyPr wrap="square"/>
                    <a:lstStyle/>
                    <a:p>
                      <a:r>
                        <a:rPr sz="1100" b="1">
                          <a:solidFill>
                            <a:srgbClr val="FFFFFF"/>
                          </a:solidFill>
                        </a:rPr>
                        <a:t>Example</a:t>
                      </a:r>
                    </a:p>
                  </a:txBody>
                  <a:tcPr anchor="ctr" marL="73152" marR="54864" marT="27432" marB="27432">
                    <a:solidFill>
                      <a:srgbClr val="0C2B4A"/>
                    </a:solidFill>
                  </a:tcPr>
                </a:tc>
              </a:tr>
              <a:tr h="630936">
                <a:tc>
                  <a:txBody>
                    <a:bodyPr wrap="square"/>
                    <a:lstStyle/>
                    <a:p>
                      <a:r>
                        <a:rPr sz="1050" b="1">
                          <a:solidFill>
                            <a:srgbClr val="0C2B4A"/>
                          </a:solidFill>
                        </a:rPr>
                        <a:t>Network effects</a:t>
                      </a:r>
                    </a:p>
                  </a:txBody>
                  <a:tcPr anchor="ctr" marL="73152" marR="54864" marT="27432" marB="27432">
                    <a:solidFill>
                      <a:srgbClr val="FFFFFF"/>
                    </a:solidFill>
                  </a:tcPr>
                </a:tc>
                <a:tc>
                  <a:txBody>
                    <a:bodyPr wrap="square"/>
                    <a:lstStyle/>
                    <a:p>
                      <a:r>
                        <a:rPr sz="1050">
                          <a:solidFill>
                            <a:srgbClr val="1A1A1A"/>
                          </a:solidFill>
                        </a:rPr>
                        <a:t>More users make the product more valuable</a:t>
                      </a:r>
                    </a:p>
                  </a:txBody>
                  <a:tcPr anchor="ctr" marL="73152" marR="54864" marT="27432" marB="27432">
                    <a:solidFill>
                      <a:srgbClr val="FFFFFF"/>
                    </a:solidFill>
                  </a:tcPr>
                </a:tc>
                <a:tc>
                  <a:txBody>
                    <a:bodyPr wrap="square"/>
                    <a:lstStyle/>
                    <a:p>
                      <a:r>
                        <a:rPr sz="1050">
                          <a:solidFill>
                            <a:srgbClr val="1A1A1A"/>
                          </a:solidFill>
                        </a:rPr>
                        <a:t>WhatsApp, Facebook</a:t>
                      </a:r>
                    </a:p>
                  </a:txBody>
                  <a:tcPr anchor="ctr" marL="73152" marR="54864" marT="27432" marB="27432">
                    <a:solidFill>
                      <a:srgbClr val="FFFFFF"/>
                    </a:solidFill>
                  </a:tcPr>
                </a:tc>
              </a:tr>
              <a:tr h="630936">
                <a:tc>
                  <a:txBody>
                    <a:bodyPr wrap="square"/>
                    <a:lstStyle/>
                    <a:p>
                      <a:r>
                        <a:rPr sz="1050" b="1">
                          <a:solidFill>
                            <a:srgbClr val="0C2B4A"/>
                          </a:solidFill>
                        </a:rPr>
                        <a:t>Economies of scale</a:t>
                      </a:r>
                    </a:p>
                  </a:txBody>
                  <a:tcPr anchor="ctr" marL="73152" marR="54864" marT="27432" marB="27432">
                    <a:solidFill>
                      <a:srgbClr val="EEF3F8"/>
                    </a:solidFill>
                  </a:tcPr>
                </a:tc>
                <a:tc>
                  <a:txBody>
                    <a:bodyPr wrap="square"/>
                    <a:lstStyle/>
                    <a:p>
                      <a:r>
                        <a:rPr sz="1050">
                          <a:solidFill>
                            <a:srgbClr val="1A1A1A"/>
                          </a:solidFill>
                        </a:rPr>
                        <a:t>Near-zero marginal cost → cheaper with size</a:t>
                      </a:r>
                    </a:p>
                  </a:txBody>
                  <a:tcPr anchor="ctr" marL="73152" marR="54864" marT="27432" marB="27432">
                    <a:solidFill>
                      <a:srgbClr val="EEF3F8"/>
                    </a:solidFill>
                  </a:tcPr>
                </a:tc>
                <a:tc>
                  <a:txBody>
                    <a:bodyPr wrap="square"/>
                    <a:lstStyle/>
                    <a:p>
                      <a:r>
                        <a:rPr sz="1050">
                          <a:solidFill>
                            <a:srgbClr val="1A1A1A"/>
                          </a:solidFill>
                        </a:rPr>
                        <a:t>Google serving billions of searches</a:t>
                      </a:r>
                    </a:p>
                  </a:txBody>
                  <a:tcPr anchor="ctr" marL="73152" marR="54864" marT="27432" marB="27432">
                    <a:solidFill>
                      <a:srgbClr val="EEF3F8"/>
                    </a:solidFill>
                  </a:tcPr>
                </a:tc>
              </a:tr>
              <a:tr h="630936">
                <a:tc>
                  <a:txBody>
                    <a:bodyPr wrap="square"/>
                    <a:lstStyle/>
                    <a:p>
                      <a:r>
                        <a:rPr sz="1050" b="1">
                          <a:solidFill>
                            <a:srgbClr val="0C2B4A"/>
                          </a:solidFill>
                        </a:rPr>
                        <a:t>Economies of scope</a:t>
                      </a:r>
                    </a:p>
                  </a:txBody>
                  <a:tcPr anchor="ctr" marL="73152" marR="54864" marT="27432" marB="27432">
                    <a:solidFill>
                      <a:srgbClr val="FFFFFF"/>
                    </a:solidFill>
                  </a:tcPr>
                </a:tc>
                <a:tc>
                  <a:txBody>
                    <a:bodyPr wrap="square"/>
                    <a:lstStyle/>
                    <a:p>
                      <a:r>
                        <a:rPr sz="1050">
                          <a:solidFill>
                            <a:srgbClr val="1A1A1A"/>
                          </a:solidFill>
                        </a:rPr>
                        <a:t>One infrastructure/dataset → many products</a:t>
                      </a:r>
                    </a:p>
                  </a:txBody>
                  <a:tcPr anchor="ctr" marL="73152" marR="54864" marT="27432" marB="27432">
                    <a:solidFill>
                      <a:srgbClr val="FFFFFF"/>
                    </a:solidFill>
                  </a:tcPr>
                </a:tc>
                <a:tc>
                  <a:txBody>
                    <a:bodyPr wrap="square"/>
                    <a:lstStyle/>
                    <a:p>
                      <a:r>
                        <a:rPr sz="1050">
                          <a:solidFill>
                            <a:srgbClr val="1A1A1A"/>
                          </a:solidFill>
                        </a:rPr>
                        <a:t>Google: search, maps, mail, ads</a:t>
                      </a:r>
                    </a:p>
                  </a:txBody>
                  <a:tcPr anchor="ctr" marL="73152" marR="54864" marT="27432" marB="27432">
                    <a:solidFill>
                      <a:srgbClr val="FFFFFF"/>
                    </a:solidFill>
                  </a:tcPr>
                </a:tc>
              </a:tr>
              <a:tr h="630936">
                <a:tc>
                  <a:txBody>
                    <a:bodyPr wrap="square"/>
                    <a:lstStyle/>
                    <a:p>
                      <a:r>
                        <a:rPr sz="1050" b="1">
                          <a:solidFill>
                            <a:srgbClr val="0C2B4A"/>
                          </a:solidFill>
                        </a:rPr>
                        <a:t>Data advantage</a:t>
                      </a:r>
                    </a:p>
                  </a:txBody>
                  <a:tcPr anchor="ctr" marL="73152" marR="54864" marT="27432" marB="27432">
                    <a:solidFill>
                      <a:srgbClr val="EEF3F8"/>
                    </a:solidFill>
                  </a:tcPr>
                </a:tc>
                <a:tc>
                  <a:txBody>
                    <a:bodyPr wrap="square"/>
                    <a:lstStyle/>
                    <a:p>
                      <a:r>
                        <a:rPr sz="1050">
                          <a:solidFill>
                            <a:srgbClr val="1A1A1A"/>
                          </a:solidFill>
                        </a:rPr>
                        <a:t>More users → more data → better product</a:t>
                      </a:r>
                    </a:p>
                  </a:txBody>
                  <a:tcPr anchor="ctr" marL="73152" marR="54864" marT="27432" marB="27432">
                    <a:solidFill>
                      <a:srgbClr val="EEF3F8"/>
                    </a:solidFill>
                  </a:tcPr>
                </a:tc>
                <a:tc>
                  <a:txBody>
                    <a:bodyPr wrap="square"/>
                    <a:lstStyle/>
                    <a:p>
                      <a:r>
                        <a:rPr sz="1050">
                          <a:solidFill>
                            <a:srgbClr val="1A1A1A"/>
                          </a:solidFill>
                        </a:rPr>
                        <a:t>TikTok's feed; Google's ranking</a:t>
                      </a:r>
                    </a:p>
                  </a:txBody>
                  <a:tcPr anchor="ctr" marL="73152" marR="54864" marT="27432" marB="27432">
                    <a:solidFill>
                      <a:srgbClr val="EEF3F8"/>
                    </a:solidFill>
                  </a:tcPr>
                </a:tc>
              </a:tr>
              <a:tr h="630936">
                <a:tc>
                  <a:txBody>
                    <a:bodyPr wrap="square"/>
                    <a:lstStyle/>
                    <a:p>
                      <a:r>
                        <a:rPr sz="1050" b="1">
                          <a:solidFill>
                            <a:srgbClr val="0C2B4A"/>
                          </a:solidFill>
                        </a:rPr>
                        <a:t>Low / zero marginal cost</a:t>
                      </a:r>
                    </a:p>
                  </a:txBody>
                  <a:tcPr anchor="ctr" marL="73152" marR="54864" marT="27432" marB="27432">
                    <a:solidFill>
                      <a:srgbClr val="FFFFFF"/>
                    </a:solidFill>
                  </a:tcPr>
                </a:tc>
                <a:tc>
                  <a:txBody>
                    <a:bodyPr wrap="square"/>
                    <a:lstStyle/>
                    <a:p>
                      <a:r>
                        <a:rPr sz="1050">
                          <a:solidFill>
                            <a:srgbClr val="1A1A1A"/>
                          </a:solidFill>
                        </a:rPr>
                        <a:t>Serving one more user is ~free</a:t>
                      </a:r>
                    </a:p>
                  </a:txBody>
                  <a:tcPr anchor="ctr" marL="73152" marR="54864" marT="27432" marB="27432">
                    <a:solidFill>
                      <a:srgbClr val="FFFFFF"/>
                    </a:solidFill>
                  </a:tcPr>
                </a:tc>
                <a:tc>
                  <a:txBody>
                    <a:bodyPr wrap="square"/>
                    <a:lstStyle/>
                    <a:p>
                      <a:r>
                        <a:rPr sz="1050">
                          <a:solidFill>
                            <a:srgbClr val="1A1A1A"/>
                          </a:solidFill>
                        </a:rPr>
                        <a:t>Any software copied infinitely</a:t>
                      </a:r>
                    </a:p>
                  </a:txBody>
                  <a:tcPr anchor="ctr" marL="73152" marR="54864" marT="27432" marB="27432">
                    <a:solidFill>
                      <a:srgbClr val="FFFFFF"/>
                    </a:solidFill>
                  </a:tcPr>
                </a:tc>
              </a:tr>
              <a:tr h="630936">
                <a:tc>
                  <a:txBody>
                    <a:bodyPr wrap="square"/>
                    <a:lstStyle/>
                    <a:p>
                      <a:r>
                        <a:rPr sz="1050" b="1">
                          <a:solidFill>
                            <a:srgbClr val="0C2B4A"/>
                          </a:solidFill>
                        </a:rPr>
                        <a:t>High switching costs</a:t>
                      </a:r>
                    </a:p>
                  </a:txBody>
                  <a:tcPr anchor="ctr" marL="73152" marR="54864" marT="27432" marB="27432">
                    <a:solidFill>
                      <a:srgbClr val="EEF3F8"/>
                    </a:solidFill>
                  </a:tcPr>
                </a:tc>
                <a:tc>
                  <a:txBody>
                    <a:bodyPr wrap="square"/>
                    <a:lstStyle/>
                    <a:p>
                      <a:r>
                        <a:rPr sz="1050">
                          <a:solidFill>
                            <a:srgbClr val="1A1A1A"/>
                          </a:solidFill>
                        </a:rPr>
                        <a:t>Users can't easily leave</a:t>
                      </a:r>
                    </a:p>
                  </a:txBody>
                  <a:tcPr anchor="ctr" marL="73152" marR="54864" marT="27432" marB="27432">
                    <a:solidFill>
                      <a:srgbClr val="EEF3F8"/>
                    </a:solidFill>
                  </a:tcPr>
                </a:tc>
                <a:tc>
                  <a:txBody>
                    <a:bodyPr wrap="square"/>
                    <a:lstStyle/>
                    <a:p>
                      <a:r>
                        <a:rPr sz="1050">
                          <a:solidFill>
                            <a:srgbClr val="1A1A1A"/>
                          </a:solidFill>
                        </a:rPr>
                        <a:t>Ecosystem lock-in (S12)</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No single force is decisive — it's their COMBINATION and mutual reinforcement that turns a lead into a moat. This is why digital markets concentrate far more than traditional ones.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61 / 100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S13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Six Forces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Google is the six forces in one company: network effects (more searchers + more advertisers), scale (serving billions cheaply), scope (search, maps, mail, Android, ads on one infrastructure), a data advantage (every query improves ranking), near-zero marginal cost, and switching costs (defaults, integration). Each force feeds the others, which is why its ~90% search share is so durable — no single rival can match all six at once.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 digital monopoly wins simply by being the best or cheapest product." It wins because six structural forces compound a lead into a moat — network effects, scale, scope, data, near-zero cost, and switching costs — not merely product quality. A slightly better rival still can't overcome all six, which is why dominance persists.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Six reinforcing forces push digital markets toward monopoly: network effects (more users → more value), economies of scale (near-zero marginal cost → cheaper with size), economies of scope (one infrastructure/dataset serves many products), data advantage (more users → more data → better product), low/zero marginal cost, and high switching costs. Their combination and mutual reinforcement — not any single one — turns an early lead into a durable moat, which is why digital markets concentrate far more than traditional ones.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six forces · network effects · economies of scale · economies of scope · data advantage · marginal cost · switching costs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62 / 100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S13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Market Types &amp; Entry Barriers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Markets differ by how many sellers — and buyers — hold power. Seller-side: monopoly (one seller), oligopoly (a few — Apple &amp; Samsung), monopolistic competition (many, differentiated). Buyer-side matters too: monopsony (one dominant buyer — Amazon in some markets), oligopsony (a few big buyers — Google/Meta/Amazon buying most digital ads). Digital leaders are protected by high entry barriers: huge server/talent cost, un-replicable data, entrenched habits, ecosystem dependence, and compliance cost.</a:t>
            </a:r>
          </a:p>
          <a:p>
            <a:pPr>
              <a:spcAft>
                <a:spcPts val="500"/>
              </a:spcAft>
            </a:pPr>
            <a:r>
              <a:rPr sz="1200" b="1">
                <a:solidFill>
                  <a:srgbClr val="185FA5"/>
                </a:solidFill>
              </a:rPr>
              <a:t>HOW IT WORKS</a:t>
            </a:r>
          </a:p>
          <a:p>
            <a:pPr>
              <a:spcAft>
                <a:spcPts val="600"/>
              </a:spcAft>
            </a:pPr>
            <a:r>
              <a:rPr sz="1400">
                <a:solidFill>
                  <a:srgbClr val="1A1A1A"/>
                </a:solidFill>
              </a:rPr>
              <a:t>•  Monopoly / oligopoly / monopolistic competition = few→many SELLERS with market power.</a:t>
            </a:r>
          </a:p>
          <a:p>
            <a:pPr>
              <a:spcAft>
                <a:spcPts val="600"/>
              </a:spcAft>
            </a:pPr>
            <a:r>
              <a:rPr sz="1400">
                <a:solidFill>
                  <a:srgbClr val="1A1A1A"/>
                </a:solidFill>
              </a:rPr>
              <a:t>•  Monopsony / oligopsony = one / a few dominant BUYERS with power (often overlooked).</a:t>
            </a:r>
          </a:p>
          <a:p>
            <a:pPr>
              <a:spcAft>
                <a:spcPts val="600"/>
              </a:spcAft>
            </a:pPr>
            <a:r>
              <a:rPr sz="1400">
                <a:solidFill>
                  <a:srgbClr val="1A1A1A"/>
                </a:solidFill>
              </a:rPr>
              <a:t>•  Entry barriers: server &amp; talent cost, data that can't be copied, user habits, ecosystem lock-in.</a:t>
            </a:r>
          </a:p>
          <a:p>
            <a:pPr>
              <a:spcAft>
                <a:spcPts val="600"/>
              </a:spcAft>
            </a:pPr>
            <a:r>
              <a:rPr sz="1400">
                <a:solidFill>
                  <a:srgbClr val="1A1A1A"/>
                </a:solidFill>
              </a:rPr>
              <a:t>•  High barriers mean even well-funded challengers struggle to enter — protecting the incumbent.</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Seller power: monopoly→oligopoly→monopolistic competition. Buyer power: monopsony/oligopsony. Barriers guard leaders.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63 / 100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S13 · CONCEPT 3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Market types — seller power and buyer power</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058732"/>
                <a:gridCol w="4185633"/>
                <a:gridCol w="4185633"/>
              </a:tblGrid>
              <a:tr h="736092">
                <a:tc>
                  <a:txBody>
                    <a:bodyPr wrap="square"/>
                    <a:lstStyle/>
                    <a:p>
                      <a:r>
                        <a:rPr sz="1150" b="1">
                          <a:solidFill>
                            <a:srgbClr val="FFFFFF"/>
                          </a:solidFill>
                        </a:rPr>
                        <a:t>Market type</a:t>
                      </a:r>
                    </a:p>
                  </a:txBody>
                  <a:tcPr anchor="ctr" marL="73152" marR="54864" marT="27432" marB="27432">
                    <a:solidFill>
                      <a:srgbClr val="0C2B4A"/>
                    </a:solidFill>
                  </a:tcPr>
                </a:tc>
                <a:tc>
                  <a:txBody>
                    <a:bodyPr wrap="square"/>
                    <a:lstStyle/>
                    <a:p>
                      <a:r>
                        <a:rPr sz="1150" b="1">
                          <a:solidFill>
                            <a:srgbClr val="FFFFFF"/>
                          </a:solidFill>
                        </a:rPr>
                        <a:t>Definition</a:t>
                      </a:r>
                    </a:p>
                  </a:txBody>
                  <a:tcPr anchor="ctr" marL="73152" marR="54864" marT="27432" marB="27432">
                    <a:solidFill>
                      <a:srgbClr val="0C2B4A"/>
                    </a:solidFill>
                  </a:tcPr>
                </a:tc>
                <a:tc>
                  <a:txBody>
                    <a:bodyPr wrap="square"/>
                    <a:lstStyle/>
                    <a:p>
                      <a:r>
                        <a:rPr sz="1150" b="1">
                          <a:solidFill>
                            <a:srgbClr val="FFFFFF"/>
                          </a:solidFill>
                        </a:rPr>
                        <a:t>Example</a:t>
                      </a:r>
                    </a:p>
                  </a:txBody>
                  <a:tcPr anchor="ctr" marL="73152" marR="54864" marT="27432" marB="27432">
                    <a:solidFill>
                      <a:srgbClr val="0C2B4A"/>
                    </a:solidFill>
                  </a:tcPr>
                </a:tc>
              </a:tr>
              <a:tr h="736092">
                <a:tc>
                  <a:txBody>
                    <a:bodyPr wrap="square"/>
                    <a:lstStyle/>
                    <a:p>
                      <a:r>
                        <a:rPr sz="1100" b="1">
                          <a:solidFill>
                            <a:srgbClr val="0C2B4A"/>
                          </a:solidFill>
                        </a:rPr>
                        <a:t>Monopoly</a:t>
                      </a:r>
                    </a:p>
                  </a:txBody>
                  <a:tcPr anchor="ctr" marL="73152" marR="54864" marT="27432" marB="27432">
                    <a:solidFill>
                      <a:srgbClr val="FFFFFF"/>
                    </a:solidFill>
                  </a:tcPr>
                </a:tc>
                <a:tc>
                  <a:txBody>
                    <a:bodyPr wrap="square"/>
                    <a:lstStyle/>
                    <a:p>
                      <a:r>
                        <a:rPr sz="1100">
                          <a:solidFill>
                            <a:srgbClr val="1A1A1A"/>
                          </a:solidFill>
                        </a:rPr>
                        <a:t>One dominant seller, no real substitute</a:t>
                      </a:r>
                    </a:p>
                  </a:txBody>
                  <a:tcPr anchor="ctr" marL="73152" marR="54864" marT="27432" marB="27432">
                    <a:solidFill>
                      <a:srgbClr val="FFFFFF"/>
                    </a:solidFill>
                  </a:tcPr>
                </a:tc>
                <a:tc>
                  <a:txBody>
                    <a:bodyPr wrap="square"/>
                    <a:lstStyle/>
                    <a:p>
                      <a:r>
                        <a:rPr sz="1100">
                          <a:solidFill>
                            <a:srgbClr val="1A1A1A"/>
                          </a:solidFill>
                        </a:rPr>
                        <a:t>Google in search; Meta in social</a:t>
                      </a:r>
                    </a:p>
                  </a:txBody>
                  <a:tcPr anchor="ctr" marL="73152" marR="54864" marT="27432" marB="27432">
                    <a:solidFill>
                      <a:srgbClr val="FFFFFF"/>
                    </a:solidFill>
                  </a:tcPr>
                </a:tc>
              </a:tr>
              <a:tr h="736092">
                <a:tc>
                  <a:txBody>
                    <a:bodyPr wrap="square"/>
                    <a:lstStyle/>
                    <a:p>
                      <a:r>
                        <a:rPr sz="1100" b="1">
                          <a:solidFill>
                            <a:srgbClr val="0C2B4A"/>
                          </a:solidFill>
                        </a:rPr>
                        <a:t>Oligopoly</a:t>
                      </a:r>
                    </a:p>
                  </a:txBody>
                  <a:tcPr anchor="ctr" marL="73152" marR="54864" marT="27432" marB="27432">
                    <a:solidFill>
                      <a:srgbClr val="EEF3F8"/>
                    </a:solidFill>
                  </a:tcPr>
                </a:tc>
                <a:tc>
                  <a:txBody>
                    <a:bodyPr wrap="square"/>
                    <a:lstStyle/>
                    <a:p>
                      <a:r>
                        <a:rPr sz="1100">
                          <a:solidFill>
                            <a:srgbClr val="1A1A1A"/>
                          </a:solidFill>
                        </a:rPr>
                        <a:t>A few sellers dominate</a:t>
                      </a:r>
                    </a:p>
                  </a:txBody>
                  <a:tcPr anchor="ctr" marL="73152" marR="54864" marT="27432" marB="27432">
                    <a:solidFill>
                      <a:srgbClr val="EEF3F8"/>
                    </a:solidFill>
                  </a:tcPr>
                </a:tc>
                <a:tc>
                  <a:txBody>
                    <a:bodyPr wrap="square"/>
                    <a:lstStyle/>
                    <a:p>
                      <a:r>
                        <a:rPr sz="1100">
                          <a:solidFill>
                            <a:srgbClr val="1A1A1A"/>
                          </a:solidFill>
                        </a:rPr>
                        <a:t>Apple &amp; Samsung (smartphones)</a:t>
                      </a:r>
                    </a:p>
                  </a:txBody>
                  <a:tcPr anchor="ctr" marL="73152" marR="54864" marT="27432" marB="27432">
                    <a:solidFill>
                      <a:srgbClr val="EEF3F8"/>
                    </a:solidFill>
                  </a:tcPr>
                </a:tc>
              </a:tr>
              <a:tr h="736092">
                <a:tc>
                  <a:txBody>
                    <a:bodyPr wrap="square"/>
                    <a:lstStyle/>
                    <a:p>
                      <a:r>
                        <a:rPr sz="1100" b="1">
                          <a:solidFill>
                            <a:srgbClr val="0C2B4A"/>
                          </a:solidFill>
                        </a:rPr>
                        <a:t>Monopolistic competition</a:t>
                      </a:r>
                    </a:p>
                  </a:txBody>
                  <a:tcPr anchor="ctr" marL="73152" marR="54864" marT="27432" marB="27432">
                    <a:solidFill>
                      <a:srgbClr val="FFFFFF"/>
                    </a:solidFill>
                  </a:tcPr>
                </a:tc>
                <a:tc>
                  <a:txBody>
                    <a:bodyPr wrap="square"/>
                    <a:lstStyle/>
                    <a:p>
                      <a:r>
                        <a:rPr sz="1100">
                          <a:solidFill>
                            <a:srgbClr val="1A1A1A"/>
                          </a:solidFill>
                        </a:rPr>
                        <a:t>Many sellers, differentiated products</a:t>
                      </a:r>
                    </a:p>
                  </a:txBody>
                  <a:tcPr anchor="ctr" marL="73152" marR="54864" marT="27432" marB="27432">
                    <a:solidFill>
                      <a:srgbClr val="FFFFFF"/>
                    </a:solidFill>
                  </a:tcPr>
                </a:tc>
                <a:tc>
                  <a:txBody>
                    <a:bodyPr wrap="square"/>
                    <a:lstStyle/>
                    <a:p>
                      <a:r>
                        <a:rPr sz="1100">
                          <a:solidFill>
                            <a:srgbClr val="1A1A1A"/>
                          </a:solidFill>
                        </a:rPr>
                        <a:t>Fast food; many small apps</a:t>
                      </a:r>
                    </a:p>
                  </a:txBody>
                  <a:tcPr anchor="ctr" marL="73152" marR="54864" marT="27432" marB="27432">
                    <a:solidFill>
                      <a:srgbClr val="FFFFFF"/>
                    </a:solidFill>
                  </a:tcPr>
                </a:tc>
              </a:tr>
              <a:tr h="736092">
                <a:tc>
                  <a:txBody>
                    <a:bodyPr wrap="square"/>
                    <a:lstStyle/>
                    <a:p>
                      <a:r>
                        <a:rPr sz="1100" b="1">
                          <a:solidFill>
                            <a:srgbClr val="0C2B4A"/>
                          </a:solidFill>
                        </a:rPr>
                        <a:t>Monopsony</a:t>
                      </a:r>
                    </a:p>
                  </a:txBody>
                  <a:tcPr anchor="ctr" marL="73152" marR="54864" marT="27432" marB="27432">
                    <a:solidFill>
                      <a:srgbClr val="EEF3F8"/>
                    </a:solidFill>
                  </a:tcPr>
                </a:tc>
                <a:tc>
                  <a:txBody>
                    <a:bodyPr wrap="square"/>
                    <a:lstStyle/>
                    <a:p>
                      <a:r>
                        <a:rPr sz="1100">
                          <a:solidFill>
                            <a:srgbClr val="1A1A1A"/>
                          </a:solidFill>
                        </a:rPr>
                        <a:t>One dominant BUYER</a:t>
                      </a:r>
                    </a:p>
                  </a:txBody>
                  <a:tcPr anchor="ctr" marL="73152" marR="54864" marT="27432" marB="27432">
                    <a:solidFill>
                      <a:srgbClr val="EEF3F8"/>
                    </a:solidFill>
                  </a:tcPr>
                </a:tc>
                <a:tc>
                  <a:txBody>
                    <a:bodyPr wrap="square"/>
                    <a:lstStyle/>
                    <a:p>
                      <a:r>
                        <a:rPr sz="1100">
                          <a:solidFill>
                            <a:srgbClr val="1A1A1A"/>
                          </a:solidFill>
                        </a:rPr>
                        <a:t>Amazon in some e-book/supplier markets</a:t>
                      </a:r>
                    </a:p>
                  </a:txBody>
                  <a:tcPr anchor="ctr" marL="73152" marR="54864" marT="27432" marB="27432">
                    <a:solidFill>
                      <a:srgbClr val="EEF3F8"/>
                    </a:solidFill>
                  </a:tcPr>
                </a:tc>
              </a:tr>
              <a:tr h="736092">
                <a:tc>
                  <a:txBody>
                    <a:bodyPr wrap="square"/>
                    <a:lstStyle/>
                    <a:p>
                      <a:r>
                        <a:rPr sz="1100" b="1">
                          <a:solidFill>
                            <a:srgbClr val="0C2B4A"/>
                          </a:solidFill>
                        </a:rPr>
                        <a:t>Oligopsony</a:t>
                      </a:r>
                    </a:p>
                  </a:txBody>
                  <a:tcPr anchor="ctr" marL="73152" marR="54864" marT="27432" marB="27432">
                    <a:solidFill>
                      <a:srgbClr val="FFFFFF"/>
                    </a:solidFill>
                  </a:tcPr>
                </a:tc>
                <a:tc>
                  <a:txBody>
                    <a:bodyPr wrap="square"/>
                    <a:lstStyle/>
                    <a:p>
                      <a:r>
                        <a:rPr sz="1100">
                          <a:solidFill>
                            <a:srgbClr val="1A1A1A"/>
                          </a:solidFill>
                        </a:rPr>
                        <a:t>A few dominant buyers</a:t>
                      </a:r>
                    </a:p>
                  </a:txBody>
                  <a:tcPr anchor="ctr" marL="73152" marR="54864" marT="27432" marB="27432">
                    <a:solidFill>
                      <a:srgbClr val="FFFFFF"/>
                    </a:solidFill>
                  </a:tcPr>
                </a:tc>
                <a:tc>
                  <a:txBody>
                    <a:bodyPr wrap="square"/>
                    <a:lstStyle/>
                    <a:p>
                      <a:r>
                        <a:rPr sz="1100">
                          <a:solidFill>
                            <a:srgbClr val="1A1A1A"/>
                          </a:solidFill>
                        </a:rPr>
                        <a:t>Google/Meta/Amazon buying digital ad space</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Digital power isn't only about selling: a platform can dominate as the main BUYER (monopsony/oligopsony), squeezing suppliers, sellers, or content creators who have nowhere else to go.</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64 / 100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S13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Market Types &amp; Entry Barriers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Amazon can act as a monopsony: for many small sellers it is the main route to customers, so it can dictate fees and terms — buyer power, not just seller power. And entry barriers keep challengers out: a new search engine would need billions in servers, decades of ranking data it cannot copy, and users who won't change defaults. In Nepal, a new wallet faces the barrier of Fonepay/eSewa's entrenched merchant network.</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"Market power only means charging buyers high prices (monopoly)." Power also runs the other way: a dominant BUYER (monopsony/oligopsony) squeezes sellers, suppliers, or creators. Amazon over small sellers and the ad duopoly over publishers are buyer-power cases — and entry barriers are what let either kind of power persist.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Markets differ by seller power — monopoly (one seller), oligopoly (a few, e.g. Apple &amp; Samsung), monopolistic competition (many differentiated) — and by buyer power — monopsony (one dominant buyer, e.g. Amazon over some suppliers) and oligopsony (a few, e.g. Google/Meta/Amazon buying most digital ads). Digital leaders are shielded by high entry barriers: server/talent cost, un-replicable data, user habits, ecosystem dependence, and compliance cost — which is why incumbents persist.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monopoly · oligopoly · monopolistic competition · monopsony · oligopsony · entry barriers · un-replicable data</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65 / 100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S13 — 'Will it tip?'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(3 min): pick a Nepali digital market (payments, ride-hailing, e-commerce, messaging).</a:t>
            </a:r>
          </a:p>
          <a:p>
            <a:pPr>
              <a:spcAft>
                <a:spcPts val="700"/>
              </a:spcAft>
            </a:pPr>
            <a:r>
              <a:rPr sz="1550">
                <a:solidFill>
                  <a:srgbClr val="1A1A1A"/>
                </a:solidFill>
              </a:rPr>
              <a:t>•  Decide if it will tip to one winner or stay contested — using network effects, switching costs, multi-homing.</a:t>
            </a:r>
          </a:p>
          <a:p>
            <a:pPr>
              <a:spcAft>
                <a:spcPts val="700"/>
              </a:spcAft>
            </a:pPr>
            <a:r>
              <a:rPr sz="1550">
                <a:solidFill>
                  <a:srgbClr val="1A1A1A"/>
                </a:solidFill>
              </a:rPr>
              <a:t>•  Name which of the six forces is strongest there.</a:t>
            </a:r>
          </a:p>
          <a:p>
            <a:pPr>
              <a:spcAft>
                <a:spcPts val="700"/>
              </a:spcAft>
            </a:pPr>
            <a:r>
              <a:rPr sz="1550">
                <a:solidFill>
                  <a:srgbClr val="1A1A1A"/>
                </a:solidFill>
              </a:rPr>
              <a:t>•  Take 3–4 answers aloud (2 min); compare predictions.</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Good reasoning: messaging/payments tend to tip (strong effects, high switching, low multi-homing); ride-hailing/food stay contested (easy multi-homing, local needs). Reward using the tip-vs-contested factors explicitly.</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66 / 100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S13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'Winner-take-most' in digital markets is driven mainly by:</a:t>
            </a:r>
          </a:p>
          <a:p>
            <a:pPr lvl="1"/>
            <a:r>
              <a:rPr sz="1500" b="1">
                <a:solidFill>
                  <a:srgbClr val="0F6E56"/>
                </a:solidFill>
              </a:rPr>
              <a:t>a) advertising   b) ✅ increasing returns — network effects, scale &amp; lock-in compounding   c) luck   d) government</a:t>
            </a:r>
          </a:p>
          <a:p>
            <a:pPr lvl="1">
              <a:spcBef>
                <a:spcPts val="600"/>
              </a:spcBef>
            </a:pPr>
            <a:r>
              <a:rPr sz="1500" i="1">
                <a:solidFill>
                  <a:srgbClr val="1A1A1A"/>
                </a:solidFill>
              </a:rPr>
              <a:t>     Why: the more a platform grows, the better/cheaper it gets, attracting more users — increasing returns.</a:t>
            </a:r>
          </a:p>
          <a:p>
            <a:pPr>
              <a:spcBef>
                <a:spcPts val="900"/>
              </a:spcBef>
            </a:pPr>
            <a:r>
              <a:rPr sz="1700" b="1">
                <a:solidFill>
                  <a:srgbClr val="0C2B4A"/>
                </a:solidFill>
              </a:rPr>
              <a:t>Q2.  Amazon dictating terms to small sellers who depend on it is an example of:</a:t>
            </a:r>
          </a:p>
          <a:p>
            <a:pPr lvl="1"/>
            <a:r>
              <a:rPr sz="1500" b="1">
                <a:solidFill>
                  <a:srgbClr val="0F6E56"/>
                </a:solidFill>
              </a:rPr>
              <a:t>a) monopoly (seller power)   b) ✅ monopsony (buyer power)   c) oligopoly   d) competition</a:t>
            </a:r>
          </a:p>
          <a:p>
            <a:pPr lvl="1">
              <a:spcBef>
                <a:spcPts val="600"/>
              </a:spcBef>
            </a:pPr>
            <a:r>
              <a:rPr sz="1500" i="1">
                <a:solidFill>
                  <a:srgbClr val="1A1A1A"/>
                </a:solidFill>
              </a:rPr>
              <a:t>     Why: Amazon is the dominant BUYER/gateway for those sellers — buyer-side market power (monopsony).</a:t>
            </a:r>
          </a:p>
          <a:p>
            <a:pPr lvl="1">
              <a:spcBef>
                <a:spcPts val="600"/>
              </a:spcBef>
            </a:pPr>
            <a:r>
              <a:rPr sz="1500" i="1">
                <a:solidFill>
                  <a:srgbClr val="1A1A1A"/>
                </a:solidFill>
              </a:rPr>
              <a:t>Discussion: pick a Nepali digital market — will it tip to one winner or stay contested? Why?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67 / 100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S13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Digital monopoly = 'winner-take-most' via increasing returns; past a tipping point the leader is hard to beat.</a:t>
            </a:r>
          </a:p>
          <a:p>
            <a:pPr>
              <a:spcAft>
                <a:spcPts val="800"/>
              </a:spcAft>
            </a:pPr>
            <a:r>
              <a:rPr sz="1500">
                <a:solidFill>
                  <a:srgbClr val="1A1A1A"/>
                </a:solidFill>
              </a:rPr>
              <a:t>2.  Six reinforcing forces: network effects, economies of scale, economies of scope, data advantage, low marginal cost, switching costs.</a:t>
            </a:r>
          </a:p>
          <a:p>
            <a:pPr>
              <a:spcAft>
                <a:spcPts val="800"/>
              </a:spcAft>
            </a:pPr>
            <a:r>
              <a:rPr sz="1500">
                <a:solidFill>
                  <a:srgbClr val="1A1A1A"/>
                </a:solidFill>
              </a:rPr>
              <a:t>3.  Market power runs both ways (monopoly…monopsony); high entry barriers (data, habits, ecosystem) protect incumbents.</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This explains why Nepal's digital markets tend to have one dominant player per category — and why challengers struggle. Knowing which markets tip and why is essential whether you're building a challenger, advising an incumbent, or regulating either.</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S14 — the flip side: the risks of digital monopolies, and the tools used to check them.</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68 / 100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14 · LECTURE HOUR 6 (OF 7)</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Monopoly Risks, Regulation &amp; the Counter-Narrative</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A monopoly that gives you free search and cheap next-day delivery — where's the harm? And if the product is 'free', how does a regulator even prove you were hurt? Digital monopolies pose real risks, but they are uniquely hard to regulate — and, as PickMe and India's ONDC show, not always as permanent as they look.</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69 / 100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S14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Risks of Digital Monopolies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Dominance brings real harms even when prices look low or free: less competition can mean slower innovation; concentrated data raises privacy risk; the platform can control prices and terms (Apple's ~30% App Store cut); algorithms can be biased or self-preferencing; and the incumbent can copy or acquire rivals to remove competition (Instagram Stories cloning Snapchat; Reels cloning TikTok). 'Free to use' does not mean 'no cost to society'.</a:t>
            </a:r>
          </a:p>
          <a:p>
            <a:pPr>
              <a:spcAft>
                <a:spcPts val="500"/>
              </a:spcAft>
            </a:pPr>
            <a:r>
              <a:rPr sz="1200" b="1">
                <a:solidFill>
                  <a:srgbClr val="185FA5"/>
                </a:solidFill>
              </a:rPr>
              <a:t>HOW IT WORKS</a:t>
            </a:r>
          </a:p>
          <a:p>
            <a:pPr>
              <a:spcAft>
                <a:spcPts val="600"/>
              </a:spcAft>
            </a:pPr>
            <a:r>
              <a:rPr sz="1400">
                <a:solidFill>
                  <a:srgbClr val="1A1A1A"/>
                </a:solidFill>
              </a:rPr>
              <a:t>•  Less innovation: with no serious rival, the incumbent can coast.</a:t>
            </a:r>
          </a:p>
          <a:p>
            <a:pPr>
              <a:spcAft>
                <a:spcPts val="600"/>
              </a:spcAft>
            </a:pPr>
            <a:r>
              <a:rPr sz="1400">
                <a:solidFill>
                  <a:srgbClr val="1A1A1A"/>
                </a:solidFill>
              </a:rPr>
              <a:t>•  Data &amp; privacy: one firm holding vast personal data is a concentration risk.</a:t>
            </a:r>
          </a:p>
          <a:p>
            <a:pPr>
              <a:spcAft>
                <a:spcPts val="600"/>
              </a:spcAft>
            </a:pPr>
            <a:r>
              <a:rPr sz="1400">
                <a:solidFill>
                  <a:srgbClr val="1A1A1A"/>
                </a:solidFill>
              </a:rPr>
              <a:t>•  Price/terms control: gatekeepers set fees and rules others must accept (30% app tax).</a:t>
            </a:r>
          </a:p>
          <a:p>
            <a:pPr>
              <a:spcAft>
                <a:spcPts val="600"/>
              </a:spcAft>
            </a:pPr>
            <a:r>
              <a:rPr sz="1400">
                <a:solidFill>
                  <a:srgbClr val="1A1A1A"/>
                </a:solidFill>
              </a:rPr>
              <a:t>•  Killing competition: copying features or acquiring threats (buy-or-bury).</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Risks: less innovation · privacy/data concentration · price &amp; terms control · biased algorithms · copying/killing rivals.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70 / 100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S14 · CONCEPT 1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Digital monopolies — the benefits vs the risks</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3651250"/>
                <a:gridCol w="3810000"/>
                <a:gridCol w="3968750"/>
              </a:tblGrid>
              <a:tr h="736092">
                <a:tc>
                  <a:txBody>
                    <a:bodyPr wrap="square"/>
                    <a:lstStyle/>
                    <a:p>
                      <a:r>
                        <a:rPr sz="1100" b="1">
                          <a:solidFill>
                            <a:srgbClr val="FFFFFF"/>
                          </a:solidFill>
                        </a:rPr>
                        <a:t>Benefit (why users like them)</a:t>
                      </a:r>
                    </a:p>
                  </a:txBody>
                  <a:tcPr anchor="ctr" marL="73152" marR="54864" marT="27432" marB="27432">
                    <a:solidFill>
                      <a:srgbClr val="0C2B4A"/>
                    </a:solidFill>
                  </a:tcPr>
                </a:tc>
                <a:tc>
                  <a:txBody>
                    <a:bodyPr wrap="square"/>
                    <a:lstStyle/>
                    <a:p>
                      <a:r>
                        <a:rPr sz="1100" b="1">
                          <a:solidFill>
                            <a:srgbClr val="FFFFFF"/>
                          </a:solidFill>
                        </a:rPr>
                        <a:t>Risk (the hidden cost)</a:t>
                      </a:r>
                    </a:p>
                  </a:txBody>
                  <a:tcPr anchor="ctr" marL="73152" marR="54864" marT="27432" marB="27432">
                    <a:solidFill>
                      <a:srgbClr val="0C2B4A"/>
                    </a:solidFill>
                  </a:tcPr>
                </a:tc>
                <a:tc>
                  <a:txBody>
                    <a:bodyPr wrap="square"/>
                    <a:lstStyle/>
                    <a:p>
                      <a:r>
                        <a:rPr sz="1100" b="1">
                          <a:solidFill>
                            <a:srgbClr val="FFFFFF"/>
                          </a:solidFill>
                        </a:rPr>
                        <a:t>Consequence if unchecked</a:t>
                      </a:r>
                    </a:p>
                  </a:txBody>
                  <a:tcPr anchor="ctr" marL="73152" marR="54864" marT="27432" marB="27432">
                    <a:solidFill>
                      <a:srgbClr val="0C2B4A"/>
                    </a:solidFill>
                  </a:tcPr>
                </a:tc>
              </a:tr>
              <a:tr h="736092">
                <a:tc>
                  <a:txBody>
                    <a:bodyPr wrap="square"/>
                    <a:lstStyle/>
                    <a:p>
                      <a:r>
                        <a:rPr sz="1050" b="1">
                          <a:solidFill>
                            <a:srgbClr val="0C2B4A"/>
                          </a:solidFill>
                        </a:rPr>
                        <a:t>Free or cheap services</a:t>
                      </a:r>
                    </a:p>
                  </a:txBody>
                  <a:tcPr anchor="ctr" marL="73152" marR="54864" marT="27432" marB="27432">
                    <a:solidFill>
                      <a:srgbClr val="FFFFFF"/>
                    </a:solidFill>
                  </a:tcPr>
                </a:tc>
                <a:tc>
                  <a:txBody>
                    <a:bodyPr wrap="square"/>
                    <a:lstStyle/>
                    <a:p>
                      <a:r>
                        <a:rPr sz="1050">
                          <a:solidFill>
                            <a:srgbClr val="1A1A1A"/>
                          </a:solidFill>
                        </a:rPr>
                        <a:t>Less competition → slower innovation</a:t>
                      </a:r>
                    </a:p>
                  </a:txBody>
                  <a:tcPr anchor="ctr" marL="73152" marR="54864" marT="27432" marB="27432">
                    <a:solidFill>
                      <a:srgbClr val="FFFFFF"/>
                    </a:solidFill>
                  </a:tcPr>
                </a:tc>
                <a:tc>
                  <a:txBody>
                    <a:bodyPr wrap="square"/>
                    <a:lstStyle/>
                    <a:p>
                      <a:r>
                        <a:rPr sz="1050">
                          <a:solidFill>
                            <a:srgbClr val="1A1A1A"/>
                          </a:solidFill>
                        </a:rPr>
                        <a:t>Users get a frozen, stagnant product</a:t>
                      </a:r>
                    </a:p>
                  </a:txBody>
                  <a:tcPr anchor="ctr" marL="73152" marR="54864" marT="27432" marB="27432">
                    <a:solidFill>
                      <a:srgbClr val="FFFFFF"/>
                    </a:solidFill>
                  </a:tcPr>
                </a:tc>
              </a:tr>
              <a:tr h="736092">
                <a:tc>
                  <a:txBody>
                    <a:bodyPr wrap="square"/>
                    <a:lstStyle/>
                    <a:p>
                      <a:r>
                        <a:rPr sz="1050" b="1">
                          <a:solidFill>
                            <a:srgbClr val="0C2B4A"/>
                          </a:solidFill>
                        </a:rPr>
                        <a:t>Convenient all-in-one ecosystem</a:t>
                      </a:r>
                    </a:p>
                  </a:txBody>
                  <a:tcPr anchor="ctr" marL="73152" marR="54864" marT="27432" marB="27432">
                    <a:solidFill>
                      <a:srgbClr val="EEF3F8"/>
                    </a:solidFill>
                  </a:tcPr>
                </a:tc>
                <a:tc>
                  <a:txBody>
                    <a:bodyPr wrap="square"/>
                    <a:lstStyle/>
                    <a:p>
                      <a:r>
                        <a:rPr sz="1050">
                          <a:solidFill>
                            <a:srgbClr val="1A1A1A"/>
                          </a:solidFill>
                        </a:rPr>
                        <a:t>Data &amp; privacy concentration</a:t>
                      </a:r>
                    </a:p>
                  </a:txBody>
                  <a:tcPr anchor="ctr" marL="73152" marR="54864" marT="27432" marB="27432">
                    <a:solidFill>
                      <a:srgbClr val="EEF3F8"/>
                    </a:solidFill>
                  </a:tcPr>
                </a:tc>
                <a:tc>
                  <a:txBody>
                    <a:bodyPr wrap="square"/>
                    <a:lstStyle/>
                    <a:p>
                      <a:r>
                        <a:rPr sz="1050">
                          <a:solidFill>
                            <a:srgbClr val="1A1A1A"/>
                          </a:solidFill>
                        </a:rPr>
                        <a:t>One breach/misuse affects everyone</a:t>
                      </a:r>
                    </a:p>
                  </a:txBody>
                  <a:tcPr anchor="ctr" marL="73152" marR="54864" marT="27432" marB="27432">
                    <a:solidFill>
                      <a:srgbClr val="EEF3F8"/>
                    </a:solidFill>
                  </a:tcPr>
                </a:tc>
              </a:tr>
              <a:tr h="736092">
                <a:tc>
                  <a:txBody>
                    <a:bodyPr wrap="square"/>
                    <a:lstStyle/>
                    <a:p>
                      <a:r>
                        <a:rPr sz="1050" b="1">
                          <a:solidFill>
                            <a:srgbClr val="0C2B4A"/>
                          </a:solidFill>
                        </a:rPr>
                        <a:t>Reliable, well-funded platform</a:t>
                      </a:r>
                    </a:p>
                  </a:txBody>
                  <a:tcPr anchor="ctr" marL="73152" marR="54864" marT="27432" marB="27432">
                    <a:solidFill>
                      <a:srgbClr val="FFFFFF"/>
                    </a:solidFill>
                  </a:tcPr>
                </a:tc>
                <a:tc>
                  <a:txBody>
                    <a:bodyPr wrap="square"/>
                    <a:lstStyle/>
                    <a:p>
                      <a:r>
                        <a:rPr sz="1050">
                          <a:solidFill>
                            <a:srgbClr val="1A1A1A"/>
                          </a:solidFill>
                        </a:rPr>
                        <a:t>Price/terms control (30% app tax)</a:t>
                      </a:r>
                    </a:p>
                  </a:txBody>
                  <a:tcPr anchor="ctr" marL="73152" marR="54864" marT="27432" marB="27432">
                    <a:solidFill>
                      <a:srgbClr val="FFFFFF"/>
                    </a:solidFill>
                  </a:tcPr>
                </a:tc>
                <a:tc>
                  <a:txBody>
                    <a:bodyPr wrap="square"/>
                    <a:lstStyle/>
                    <a:p>
                      <a:r>
                        <a:rPr sz="1050">
                          <a:solidFill>
                            <a:srgbClr val="1A1A1A"/>
                          </a:solidFill>
                        </a:rPr>
                        <a:t>Higher costs passed to sellers &amp; users</a:t>
                      </a:r>
                    </a:p>
                  </a:txBody>
                  <a:tcPr anchor="ctr" marL="73152" marR="54864" marT="27432" marB="27432">
                    <a:solidFill>
                      <a:srgbClr val="FFFFFF"/>
                    </a:solidFill>
                  </a:tcPr>
                </a:tc>
              </a:tr>
              <a:tr h="736092">
                <a:tc>
                  <a:txBody>
                    <a:bodyPr wrap="square"/>
                    <a:lstStyle/>
                    <a:p>
                      <a:r>
                        <a:rPr sz="1050" b="1">
                          <a:solidFill>
                            <a:srgbClr val="0C2B4A"/>
                          </a:solidFill>
                        </a:rPr>
                        <a:t>Personalized, 'smart' service</a:t>
                      </a:r>
                    </a:p>
                  </a:txBody>
                  <a:tcPr anchor="ctr" marL="73152" marR="54864" marT="27432" marB="27432">
                    <a:solidFill>
                      <a:srgbClr val="EEF3F8"/>
                    </a:solidFill>
                  </a:tcPr>
                </a:tc>
                <a:tc>
                  <a:txBody>
                    <a:bodyPr wrap="square"/>
                    <a:lstStyle/>
                    <a:p>
                      <a:r>
                        <a:rPr sz="1050">
                          <a:solidFill>
                            <a:srgbClr val="1A1A1A"/>
                          </a:solidFill>
                        </a:rPr>
                        <a:t>Biased / self-preferencing algorithms</a:t>
                      </a:r>
                    </a:p>
                  </a:txBody>
                  <a:tcPr anchor="ctr" marL="73152" marR="54864" marT="27432" marB="27432">
                    <a:solidFill>
                      <a:srgbClr val="EEF3F8"/>
                    </a:solidFill>
                  </a:tcPr>
                </a:tc>
                <a:tc>
                  <a:txBody>
                    <a:bodyPr wrap="square"/>
                    <a:lstStyle/>
                    <a:p>
                      <a:r>
                        <a:rPr sz="1050">
                          <a:solidFill>
                            <a:srgbClr val="1A1A1A"/>
                          </a:solidFill>
                        </a:rPr>
                        <a:t>Rivals buried; unfair rankings</a:t>
                      </a:r>
                    </a:p>
                  </a:txBody>
                  <a:tcPr anchor="ctr" marL="73152" marR="54864" marT="27432" marB="27432">
                    <a:solidFill>
                      <a:srgbClr val="EEF3F8"/>
                    </a:solidFill>
                  </a:tcPr>
                </a:tc>
              </a:tr>
              <a:tr h="736092">
                <a:tc>
                  <a:txBody>
                    <a:bodyPr wrap="square"/>
                    <a:lstStyle/>
                    <a:p>
                      <a:r>
                        <a:rPr sz="1050" b="1">
                          <a:solidFill>
                            <a:srgbClr val="0C2B4A"/>
                          </a:solidFill>
                        </a:rPr>
                        <a:t>One place everyone is</a:t>
                      </a:r>
                    </a:p>
                  </a:txBody>
                  <a:tcPr anchor="ctr" marL="73152" marR="54864" marT="27432" marB="27432">
                    <a:solidFill>
                      <a:srgbClr val="FFFFFF"/>
                    </a:solidFill>
                  </a:tcPr>
                </a:tc>
                <a:tc>
                  <a:txBody>
                    <a:bodyPr wrap="square"/>
                    <a:lstStyle/>
                    <a:p>
                      <a:r>
                        <a:rPr sz="1050">
                          <a:solidFill>
                            <a:srgbClr val="1A1A1A"/>
                          </a:solidFill>
                        </a:rPr>
                        <a:t>Copying or acquiring rivals</a:t>
                      </a:r>
                    </a:p>
                  </a:txBody>
                  <a:tcPr anchor="ctr" marL="73152" marR="54864" marT="27432" marB="27432">
                    <a:solidFill>
                      <a:srgbClr val="FFFFFF"/>
                    </a:solidFill>
                  </a:tcPr>
                </a:tc>
                <a:tc>
                  <a:txBody>
                    <a:bodyPr wrap="square"/>
                    <a:lstStyle/>
                    <a:p>
                      <a:r>
                        <a:rPr sz="1050">
                          <a:solidFill>
                            <a:srgbClr val="1A1A1A"/>
                          </a:solidFill>
                        </a:rPr>
                        <a:t>Fewer choices; innovation deterred</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trap is that the benefits are visible and immediate (free, convenient) while the costs are hidden and long-term (less innovation, privacy risk, control) — which is why monopoly harm is so easy to underestimate.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71 / 100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S14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Risks of Digital Monopolies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Apple's ~30% cut on App Store purchases is a monopoly-risk case: developers (including any Nepali app maker) must accept the fee and rules because there is no other way onto iPhones — the gatekeeper controls price and terms. Meta cloning Snapchat's Stories and TikTok's Reels shows the 'copy to kill' risk: a dominant platform can neutralise a smaller innovator's advantage, deterring the next challenger.</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"If a service is free or cheap, a monopoly can't be harming me." Harm shows up as less innovation, concentrated data/privacy risk, gatekeeper fees passed on to you, and rivals being copied or bought out. Consumer welfare is more than today's price — it includes tomorrow's choices and innovation.</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Digital monopolies bring real harms even at low or zero prices: less competition can slow innovation; concentrated data raises privacy risk; gatekeepers control prices and terms (Apple's ~30% App Store cut); algorithms can be biased or self-preferencing; and incumbents can copy or acquire rivals to remove competition (Stories, Reels). The benefits are visible and immediate while the costs are hidden and long-term, so monopoly harm is easily underestimated.</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monopoly risks · less innovation · data/privacy concentration · gatekeeper price control · self-preferencing · copy-or-acquire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72 / 100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S14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Regulation Is Hard — and the Tools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Digital monopolies are hard to regulate: many products are 'free', so traditional 'did prices rise?' tests fail; markets move faster than law; and data ownership rules are unclear. Regulators have adapted with new tools: data portability (take your data with you), interoperability (platforms must work together), fines for abuse, and, in extreme cases, breaking companies up — seen in the EU's Digital Markets Act and GDPR and US FTC cases against Amazon and Google.</a:t>
            </a:r>
          </a:p>
          <a:p>
            <a:pPr>
              <a:spcAft>
                <a:spcPts val="500"/>
              </a:spcAft>
            </a:pPr>
            <a:r>
              <a:rPr sz="1200" b="1">
                <a:solidFill>
                  <a:srgbClr val="185FA5"/>
                </a:solidFill>
              </a:rPr>
              <a:t>HOW IT WORKS</a:t>
            </a:r>
          </a:p>
          <a:p>
            <a:pPr>
              <a:spcAft>
                <a:spcPts val="600"/>
              </a:spcAft>
            </a:pPr>
            <a:r>
              <a:rPr sz="1400">
                <a:solidFill>
                  <a:srgbClr val="1A1A1A"/>
                </a:solidFill>
              </a:rPr>
              <a:t>•  The 'free' problem: no price rise to point to, yet harm (data, innovation) is real.</a:t>
            </a:r>
          </a:p>
          <a:p>
            <a:pPr>
              <a:spcAft>
                <a:spcPts val="600"/>
              </a:spcAft>
            </a:pPr>
            <a:r>
              <a:rPr sz="1400">
                <a:solidFill>
                  <a:srgbClr val="1A1A1A"/>
                </a:solidFill>
              </a:rPr>
              <a:t>•  Speed &amp; data: law lags fast markets; who owns/controls data is contested.</a:t>
            </a:r>
          </a:p>
          <a:p>
            <a:pPr>
              <a:spcAft>
                <a:spcPts val="600"/>
              </a:spcAft>
            </a:pPr>
            <a:r>
              <a:rPr sz="1400">
                <a:solidFill>
                  <a:srgbClr val="1A1A1A"/>
                </a:solidFill>
              </a:rPr>
              <a:t>•  Tools: data portability + interoperability lower switching costs and open competition.</a:t>
            </a:r>
          </a:p>
          <a:p>
            <a:pPr>
              <a:spcAft>
                <a:spcPts val="600"/>
              </a:spcAft>
            </a:pPr>
            <a:r>
              <a:rPr sz="1400">
                <a:solidFill>
                  <a:srgbClr val="1A1A1A"/>
                </a:solidFill>
              </a:rPr>
              <a:t>•  Harder tools: fines for anti-competitive behaviour; structural break-ups as a last resort.</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Hard because products are 'free', markets move fast, data rules unclear. Tools: portability, interoperability, fines, break-up.</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73 / 100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S14 · CONCEPT 2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Tools to regulate digital monopolies</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3016250"/>
                <a:gridCol w="4286250"/>
                <a:gridCol w="4127500"/>
              </a:tblGrid>
              <a:tr h="736092">
                <a:tc>
                  <a:txBody>
                    <a:bodyPr wrap="square"/>
                    <a:lstStyle/>
                    <a:p>
                      <a:r>
                        <a:rPr sz="1150" b="1">
                          <a:solidFill>
                            <a:srgbClr val="FFFFFF"/>
                          </a:solidFill>
                        </a:rPr>
                        <a:t>Regulatory tool</a:t>
                      </a:r>
                    </a:p>
                  </a:txBody>
                  <a:tcPr anchor="ctr" marL="73152" marR="54864" marT="27432" marB="27432">
                    <a:solidFill>
                      <a:srgbClr val="0C2B4A"/>
                    </a:solidFill>
                  </a:tcPr>
                </a:tc>
                <a:tc>
                  <a:txBody>
                    <a:bodyPr wrap="square"/>
                    <a:lstStyle/>
                    <a:p>
                      <a:r>
                        <a:rPr sz="1150" b="1">
                          <a:solidFill>
                            <a:srgbClr val="FFFFFF"/>
                          </a:solidFill>
                        </a:rPr>
                        <a:t>What it does</a:t>
                      </a:r>
                    </a:p>
                  </a:txBody>
                  <a:tcPr anchor="ctr" marL="73152" marR="54864" marT="27432" marB="27432">
                    <a:solidFill>
                      <a:srgbClr val="0C2B4A"/>
                    </a:solidFill>
                  </a:tcPr>
                </a:tc>
                <a:tc>
                  <a:txBody>
                    <a:bodyPr wrap="square"/>
                    <a:lstStyle/>
                    <a:p>
                      <a:r>
                        <a:rPr sz="1150" b="1">
                          <a:solidFill>
                            <a:srgbClr val="FFFFFF"/>
                          </a:solidFill>
                        </a:rPr>
                        <a:t>Real case</a:t>
                      </a:r>
                    </a:p>
                  </a:txBody>
                  <a:tcPr anchor="ctr" marL="73152" marR="54864" marT="27432" marB="27432">
                    <a:solidFill>
                      <a:srgbClr val="0C2B4A"/>
                    </a:solidFill>
                  </a:tcPr>
                </a:tc>
              </a:tr>
              <a:tr h="736092">
                <a:tc>
                  <a:txBody>
                    <a:bodyPr wrap="square"/>
                    <a:lstStyle/>
                    <a:p>
                      <a:r>
                        <a:rPr sz="1100" b="1">
                          <a:solidFill>
                            <a:srgbClr val="0C2B4A"/>
                          </a:solidFill>
                        </a:rPr>
                        <a:t>Data portability</a:t>
                      </a:r>
                    </a:p>
                  </a:txBody>
                  <a:tcPr anchor="ctr" marL="73152" marR="54864" marT="27432" marB="27432">
                    <a:solidFill>
                      <a:srgbClr val="FFFFFF"/>
                    </a:solidFill>
                  </a:tcPr>
                </a:tc>
                <a:tc>
                  <a:txBody>
                    <a:bodyPr wrap="square"/>
                    <a:lstStyle/>
                    <a:p>
                      <a:r>
                        <a:rPr sz="1100">
                          <a:solidFill>
                            <a:srgbClr val="1A1A1A"/>
                          </a:solidFill>
                        </a:rPr>
                        <a:t>Let users take their data to a rival</a:t>
                      </a:r>
                    </a:p>
                  </a:txBody>
                  <a:tcPr anchor="ctr" marL="73152" marR="54864" marT="27432" marB="27432">
                    <a:solidFill>
                      <a:srgbClr val="FFFFFF"/>
                    </a:solidFill>
                  </a:tcPr>
                </a:tc>
                <a:tc>
                  <a:txBody>
                    <a:bodyPr wrap="square"/>
                    <a:lstStyle/>
                    <a:p>
                      <a:r>
                        <a:rPr sz="1100">
                          <a:solidFill>
                            <a:srgbClr val="1A1A1A"/>
                          </a:solidFill>
                        </a:rPr>
                        <a:t>GDPR (EU) data-portability right</a:t>
                      </a:r>
                    </a:p>
                  </a:txBody>
                  <a:tcPr anchor="ctr" marL="73152" marR="54864" marT="27432" marB="27432">
                    <a:solidFill>
                      <a:srgbClr val="FFFFFF"/>
                    </a:solidFill>
                  </a:tcPr>
                </a:tc>
              </a:tr>
              <a:tr h="736092">
                <a:tc>
                  <a:txBody>
                    <a:bodyPr wrap="square"/>
                    <a:lstStyle/>
                    <a:p>
                      <a:r>
                        <a:rPr sz="1100" b="1">
                          <a:solidFill>
                            <a:srgbClr val="0C2B4A"/>
                          </a:solidFill>
                        </a:rPr>
                        <a:t>Interoperability</a:t>
                      </a:r>
                    </a:p>
                  </a:txBody>
                  <a:tcPr anchor="ctr" marL="73152" marR="54864" marT="27432" marB="27432">
                    <a:solidFill>
                      <a:srgbClr val="EEF3F8"/>
                    </a:solidFill>
                  </a:tcPr>
                </a:tc>
                <a:tc>
                  <a:txBody>
                    <a:bodyPr wrap="square"/>
                    <a:lstStyle/>
                    <a:p>
                      <a:r>
                        <a:rPr sz="1100">
                          <a:solidFill>
                            <a:srgbClr val="1A1A1A"/>
                          </a:solidFill>
                        </a:rPr>
                        <a:t>Force platforms to work together</a:t>
                      </a:r>
                    </a:p>
                  </a:txBody>
                  <a:tcPr anchor="ctr" marL="73152" marR="54864" marT="27432" marB="27432">
                    <a:solidFill>
                      <a:srgbClr val="EEF3F8"/>
                    </a:solidFill>
                  </a:tcPr>
                </a:tc>
                <a:tc>
                  <a:txBody>
                    <a:bodyPr wrap="square"/>
                    <a:lstStyle/>
                    <a:p>
                      <a:r>
                        <a:rPr sz="1100">
                          <a:solidFill>
                            <a:srgbClr val="1A1A1A"/>
                          </a:solidFill>
                        </a:rPr>
                        <a:t>EU Digital Markets Act (messaging, app stores)</a:t>
                      </a:r>
                    </a:p>
                  </a:txBody>
                  <a:tcPr anchor="ctr" marL="73152" marR="54864" marT="27432" marB="27432">
                    <a:solidFill>
                      <a:srgbClr val="EEF3F8"/>
                    </a:solidFill>
                  </a:tcPr>
                </a:tc>
              </a:tr>
              <a:tr h="736092">
                <a:tc>
                  <a:txBody>
                    <a:bodyPr wrap="square"/>
                    <a:lstStyle/>
                    <a:p>
                      <a:r>
                        <a:rPr sz="1100" b="1">
                          <a:solidFill>
                            <a:srgbClr val="0C2B4A"/>
                          </a:solidFill>
                        </a:rPr>
                        <a:t>Fines for abuse</a:t>
                      </a:r>
                    </a:p>
                  </a:txBody>
                  <a:tcPr anchor="ctr" marL="73152" marR="54864" marT="27432" marB="27432">
                    <a:solidFill>
                      <a:srgbClr val="FFFFFF"/>
                    </a:solidFill>
                  </a:tcPr>
                </a:tc>
                <a:tc>
                  <a:txBody>
                    <a:bodyPr wrap="square"/>
                    <a:lstStyle/>
                    <a:p>
                      <a:r>
                        <a:rPr sz="1100">
                          <a:solidFill>
                            <a:srgbClr val="1A1A1A"/>
                          </a:solidFill>
                        </a:rPr>
                        <a:t>Penalise anti-competitive behaviour</a:t>
                      </a:r>
                    </a:p>
                  </a:txBody>
                  <a:tcPr anchor="ctr" marL="73152" marR="54864" marT="27432" marB="27432">
                    <a:solidFill>
                      <a:srgbClr val="FFFFFF"/>
                    </a:solidFill>
                  </a:tcPr>
                </a:tc>
                <a:tc>
                  <a:txBody>
                    <a:bodyPr wrap="square"/>
                    <a:lstStyle/>
                    <a:p>
                      <a:r>
                        <a:rPr sz="1100">
                          <a:solidFill>
                            <a:srgbClr val="1A1A1A"/>
                          </a:solidFill>
                        </a:rPr>
                        <a:t>EU fines on Google (search, Android)</a:t>
                      </a:r>
                    </a:p>
                  </a:txBody>
                  <a:tcPr anchor="ctr" marL="73152" marR="54864" marT="27432" marB="27432">
                    <a:solidFill>
                      <a:srgbClr val="FFFFFF"/>
                    </a:solidFill>
                  </a:tcPr>
                </a:tc>
              </a:tr>
              <a:tr h="736092">
                <a:tc>
                  <a:txBody>
                    <a:bodyPr wrap="square"/>
                    <a:lstStyle/>
                    <a:p>
                      <a:r>
                        <a:rPr sz="1100" b="1">
                          <a:solidFill>
                            <a:srgbClr val="0C2B4A"/>
                          </a:solidFill>
                        </a:rPr>
                        <a:t>Antitrust cases</a:t>
                      </a:r>
                    </a:p>
                  </a:txBody>
                  <a:tcPr anchor="ctr" marL="73152" marR="54864" marT="27432" marB="27432">
                    <a:solidFill>
                      <a:srgbClr val="EEF3F8"/>
                    </a:solidFill>
                  </a:tcPr>
                </a:tc>
                <a:tc>
                  <a:txBody>
                    <a:bodyPr wrap="square"/>
                    <a:lstStyle/>
                    <a:p>
                      <a:r>
                        <a:rPr sz="1100">
                          <a:solidFill>
                            <a:srgbClr val="1A1A1A"/>
                          </a:solidFill>
                        </a:rPr>
                        <a:t>Challenge dominance in court</a:t>
                      </a:r>
                    </a:p>
                  </a:txBody>
                  <a:tcPr anchor="ctr" marL="73152" marR="54864" marT="27432" marB="27432">
                    <a:solidFill>
                      <a:srgbClr val="EEF3F8"/>
                    </a:solidFill>
                  </a:tcPr>
                </a:tc>
                <a:tc>
                  <a:txBody>
                    <a:bodyPr wrap="square"/>
                    <a:lstStyle/>
                    <a:p>
                      <a:r>
                        <a:rPr sz="1100">
                          <a:solidFill>
                            <a:srgbClr val="1A1A1A"/>
                          </a:solidFill>
                        </a:rPr>
                        <a:t>US FTC vs Amazon; cases vs Google</a:t>
                      </a:r>
                    </a:p>
                  </a:txBody>
                  <a:tcPr anchor="ctr" marL="73152" marR="54864" marT="27432" marB="27432">
                    <a:solidFill>
                      <a:srgbClr val="EEF3F8"/>
                    </a:solidFill>
                  </a:tcPr>
                </a:tc>
              </a:tr>
              <a:tr h="736092">
                <a:tc>
                  <a:txBody>
                    <a:bodyPr wrap="square"/>
                    <a:lstStyle/>
                    <a:p>
                      <a:r>
                        <a:rPr sz="1100" b="1">
                          <a:solidFill>
                            <a:srgbClr val="0C2B4A"/>
                          </a:solidFill>
                        </a:rPr>
                        <a:t>Break-up (last resort)</a:t>
                      </a:r>
                    </a:p>
                  </a:txBody>
                  <a:tcPr anchor="ctr" marL="73152" marR="54864" marT="27432" marB="27432">
                    <a:solidFill>
                      <a:srgbClr val="FFFFFF"/>
                    </a:solidFill>
                  </a:tcPr>
                </a:tc>
                <a:tc>
                  <a:txBody>
                    <a:bodyPr wrap="square"/>
                    <a:lstStyle/>
                    <a:p>
                      <a:r>
                        <a:rPr sz="1100">
                          <a:solidFill>
                            <a:srgbClr val="1A1A1A"/>
                          </a:solidFill>
                        </a:rPr>
                        <a:t>Split a firm into competing parts</a:t>
                      </a:r>
                    </a:p>
                  </a:txBody>
                  <a:tcPr anchor="ctr" marL="73152" marR="54864" marT="27432" marB="27432">
                    <a:solidFill>
                      <a:srgbClr val="FFFFFF"/>
                    </a:solidFill>
                  </a:tcPr>
                </a:tc>
                <a:tc>
                  <a:txBody>
                    <a:bodyPr wrap="square"/>
                    <a:lstStyle/>
                    <a:p>
                      <a:r>
                        <a:rPr sz="1100">
                          <a:solidFill>
                            <a:srgbClr val="1A1A1A"/>
                          </a:solidFill>
                        </a:rPr>
                        <a:t>Proposed in some US/EU debates</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Portability and interoperability are the modern favourites because they lower switching costs (S12) and let competition return WITHOUT breaking the platform up — attacking the lock-in mechanism directly.</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74 / 100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S14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Regulation Is Hard — and the Tools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QR interoperability in Nepal (from Unit 1) is exactly this kind of tool: by requiring that any wallet can pay any merchant's QR, NRB lowered switching costs and stopped any single wallet from locking up merchants — competition by design. Internationally, the EU's Digital Markets Act forces gatekeepers to allow interoperability and portability, tackling lock-in without waiting to prove a price rise that never happens with 'free' products.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"You can't regulate a free product — there's no harm to measure." Regulators shifted from 'did prices rise?' to targeting the MECHANISMS of dominance: portability and interoperability lower switching costs, fines punish abuse, and break-up is a last resort. Harm to innovation and data is addressed even when the price is zero.</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Digital monopolies are hard to regulate because many products are free (defeating price-based tests), markets move faster than law, and data-ownership rules are unclear. Regulators use adapted tools: data portability (users take their data to rivals), interoperability (platforms must work together), fines for anti-competitive abuse, antitrust cases, and structural break-up as a last resort — seen in the EU Digital Markets Act, GDPR, and US FTC actions. Portability and interoperability directly lower the switching costs that create lock-in.</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regulation is hard (free products, speed, data) · data portability · interoperability · fines · break-up · DMA/GDPR/FTC</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75 / 100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S14 · CONCEPT 3 · [THEORY] [EXAMPLE]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Counter-Narrative: Monopolies Aren't Inevitable</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Dominance is powerful but not permanent, and size is not the only way to win. PickMe (Sri Lanka) beat Uber locally by being cheaper, more reliable, and better adapted — relevance over scale. India's ONDC, UPI, and Aadhaar build open public digital infrastructure that lets small players compete with Amazon/Flipkart. And history is littered with fallen giants: MySpace, Nokia, Orkut. Local relevance, open standards, and shifting user needs can all break a monopoly.</a:t>
            </a:r>
          </a:p>
          <a:p>
            <a:pPr>
              <a:spcAft>
                <a:spcPts val="500"/>
              </a:spcAft>
            </a:pPr>
            <a:r>
              <a:rPr sz="1200" b="1">
                <a:solidFill>
                  <a:srgbClr val="185FA5"/>
                </a:solidFill>
              </a:rPr>
              <a:t>HOW IT WORKS</a:t>
            </a:r>
          </a:p>
          <a:p>
            <a:pPr>
              <a:spcAft>
                <a:spcPts val="600"/>
              </a:spcAft>
            </a:pPr>
            <a:r>
              <a:rPr sz="1400">
                <a:solidFill>
                  <a:srgbClr val="1A1A1A"/>
                </a:solidFill>
              </a:rPr>
              <a:t>•  Local relevance beats size: PickMe out-served Uber in Sri Lanka by fitting the local market.</a:t>
            </a:r>
          </a:p>
          <a:p>
            <a:pPr>
              <a:spcAft>
                <a:spcPts val="600"/>
              </a:spcAft>
            </a:pPr>
            <a:r>
              <a:rPr sz="1400">
                <a:solidFill>
                  <a:srgbClr val="1A1A1A"/>
                </a:solidFill>
              </a:rPr>
              <a:t>•  Open infrastructure: India's ONDC/UPI/Aadhaar let many small players share network effects.</a:t>
            </a:r>
          </a:p>
          <a:p>
            <a:pPr>
              <a:spcAft>
                <a:spcPts val="600"/>
              </a:spcAft>
            </a:pPr>
            <a:r>
              <a:rPr sz="1400">
                <a:solidFill>
                  <a:srgbClr val="1A1A1A"/>
                </a:solidFill>
              </a:rPr>
              <a:t>•  Giants fall: MySpace → Facebook, Nokia → smartphones — dominance decays when needs shift.</a:t>
            </a:r>
          </a:p>
          <a:p>
            <a:pPr>
              <a:spcAft>
                <a:spcPts val="600"/>
              </a:spcAft>
            </a:pPr>
            <a:r>
              <a:rPr sz="1400">
                <a:solidFill>
                  <a:srgbClr val="1A1A1A"/>
                </a:solidFill>
              </a:rPr>
              <a:t>•  Policy can engineer contestability (interoperability, open standards) on purpose.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Not inevitable: local relevance (PickMe), open infra (ONDC/UPI), and shifting needs topple giants (MySpace, Nokia).</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76 / 100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S14 · CONCEPT 3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'Inevitable monopoly?' — the counter-cases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058732"/>
                <a:gridCol w="4346619"/>
                <a:gridCol w="4024647"/>
              </a:tblGrid>
              <a:tr h="736092">
                <a:tc>
                  <a:txBody>
                    <a:bodyPr wrap="square"/>
                    <a:lstStyle/>
                    <a:p>
                      <a:r>
                        <a:rPr sz="1150" b="1">
                          <a:solidFill>
                            <a:srgbClr val="FFFFFF"/>
                          </a:solidFill>
                        </a:rPr>
                        <a:t>Case</a:t>
                      </a:r>
                    </a:p>
                  </a:txBody>
                  <a:tcPr anchor="ctr" marL="73152" marR="54864" marT="27432" marB="27432">
                    <a:solidFill>
                      <a:srgbClr val="0C2B4A"/>
                    </a:solidFill>
                  </a:tcPr>
                </a:tc>
                <a:tc>
                  <a:txBody>
                    <a:bodyPr wrap="square"/>
                    <a:lstStyle/>
                    <a:p>
                      <a:r>
                        <a:rPr sz="1150" b="1">
                          <a:solidFill>
                            <a:srgbClr val="FFFFFF"/>
                          </a:solidFill>
                        </a:rPr>
                        <a:t>What happened</a:t>
                      </a:r>
                    </a:p>
                  </a:txBody>
                  <a:tcPr anchor="ctr" marL="73152" marR="54864" marT="27432" marB="27432">
                    <a:solidFill>
                      <a:srgbClr val="0C2B4A"/>
                    </a:solidFill>
                  </a:tcPr>
                </a:tc>
                <a:tc>
                  <a:txBody>
                    <a:bodyPr wrap="square"/>
                    <a:lstStyle/>
                    <a:p>
                      <a:r>
                        <a:rPr sz="1150" b="1">
                          <a:solidFill>
                            <a:srgbClr val="FFFFFF"/>
                          </a:solidFill>
                        </a:rPr>
                        <a:t>Lesson</a:t>
                      </a:r>
                    </a:p>
                  </a:txBody>
                  <a:tcPr anchor="ctr" marL="73152" marR="54864" marT="27432" marB="27432">
                    <a:solidFill>
                      <a:srgbClr val="0C2B4A"/>
                    </a:solidFill>
                  </a:tcPr>
                </a:tc>
              </a:tr>
              <a:tr h="736092">
                <a:tc>
                  <a:txBody>
                    <a:bodyPr wrap="square"/>
                    <a:lstStyle/>
                    <a:p>
                      <a:r>
                        <a:rPr sz="1100" b="1">
                          <a:solidFill>
                            <a:srgbClr val="0C2B4A"/>
                          </a:solidFill>
                        </a:rPr>
                        <a:t>PickMe (Sri Lanka)</a:t>
                      </a:r>
                    </a:p>
                  </a:txBody>
                  <a:tcPr anchor="ctr" marL="73152" marR="54864" marT="27432" marB="27432">
                    <a:solidFill>
                      <a:srgbClr val="FFFFFF"/>
                    </a:solidFill>
                  </a:tcPr>
                </a:tc>
                <a:tc>
                  <a:txBody>
                    <a:bodyPr wrap="square"/>
                    <a:lstStyle/>
                    <a:p>
                      <a:r>
                        <a:rPr sz="1100">
                          <a:solidFill>
                            <a:srgbClr val="1A1A1A"/>
                          </a:solidFill>
                        </a:rPr>
                        <a:t>Beat Uber locally on price, reliability, local fit</a:t>
                      </a:r>
                    </a:p>
                  </a:txBody>
                  <a:tcPr anchor="ctr" marL="73152" marR="54864" marT="27432" marB="27432">
                    <a:solidFill>
                      <a:srgbClr val="FFFFFF"/>
                    </a:solidFill>
                  </a:tcPr>
                </a:tc>
                <a:tc>
                  <a:txBody>
                    <a:bodyPr wrap="square"/>
                    <a:lstStyle/>
                    <a:p>
                      <a:r>
                        <a:rPr sz="1100">
                          <a:solidFill>
                            <a:srgbClr val="1A1A1A"/>
                          </a:solidFill>
                        </a:rPr>
                        <a:t>Relevance can beat sheer size</a:t>
                      </a:r>
                    </a:p>
                  </a:txBody>
                  <a:tcPr anchor="ctr" marL="73152" marR="54864" marT="27432" marB="27432">
                    <a:solidFill>
                      <a:srgbClr val="FFFFFF"/>
                    </a:solidFill>
                  </a:tcPr>
                </a:tc>
              </a:tr>
              <a:tr h="736092">
                <a:tc>
                  <a:txBody>
                    <a:bodyPr wrap="square"/>
                    <a:lstStyle/>
                    <a:p>
                      <a:r>
                        <a:rPr sz="1100" b="1">
                          <a:solidFill>
                            <a:srgbClr val="0C2B4A"/>
                          </a:solidFill>
                        </a:rPr>
                        <a:t>India ONDC</a:t>
                      </a:r>
                    </a:p>
                  </a:txBody>
                  <a:tcPr anchor="ctr" marL="73152" marR="54864" marT="27432" marB="27432">
                    <a:solidFill>
                      <a:srgbClr val="EEF3F8"/>
                    </a:solidFill>
                  </a:tcPr>
                </a:tc>
                <a:tc>
                  <a:txBody>
                    <a:bodyPr wrap="square"/>
                    <a:lstStyle/>
                    <a:p>
                      <a:r>
                        <a:rPr sz="1100">
                          <a:solidFill>
                            <a:srgbClr val="1A1A1A"/>
                          </a:solidFill>
                        </a:rPr>
                        <a:t>Open network vs Amazon/Flipkart dominance</a:t>
                      </a:r>
                    </a:p>
                  </a:txBody>
                  <a:tcPr anchor="ctr" marL="73152" marR="54864" marT="27432" marB="27432">
                    <a:solidFill>
                      <a:srgbClr val="EEF3F8"/>
                    </a:solidFill>
                  </a:tcPr>
                </a:tc>
                <a:tc>
                  <a:txBody>
                    <a:bodyPr wrap="square"/>
                    <a:lstStyle/>
                    <a:p>
                      <a:r>
                        <a:rPr sz="1100">
                          <a:solidFill>
                            <a:srgbClr val="1A1A1A"/>
                          </a:solidFill>
                        </a:rPr>
                        <a:t>Open infrastructure restores competition</a:t>
                      </a:r>
                    </a:p>
                  </a:txBody>
                  <a:tcPr anchor="ctr" marL="73152" marR="54864" marT="27432" marB="27432">
                    <a:solidFill>
                      <a:srgbClr val="EEF3F8"/>
                    </a:solidFill>
                  </a:tcPr>
                </a:tc>
              </a:tr>
              <a:tr h="736092">
                <a:tc>
                  <a:txBody>
                    <a:bodyPr wrap="square"/>
                    <a:lstStyle/>
                    <a:p>
                      <a:r>
                        <a:rPr sz="1100" b="1">
                          <a:solidFill>
                            <a:srgbClr val="0C2B4A"/>
                          </a:solidFill>
                        </a:rPr>
                        <a:t>UPI / Aadhaar (India)</a:t>
                      </a:r>
                    </a:p>
                  </a:txBody>
                  <a:tcPr anchor="ctr" marL="73152" marR="54864" marT="27432" marB="27432">
                    <a:solidFill>
                      <a:srgbClr val="FFFFFF"/>
                    </a:solidFill>
                  </a:tcPr>
                </a:tc>
                <a:tc>
                  <a:txBody>
                    <a:bodyPr wrap="square"/>
                    <a:lstStyle/>
                    <a:p>
                      <a:r>
                        <a:rPr sz="1100">
                          <a:solidFill>
                            <a:srgbClr val="1A1A1A"/>
                          </a:solidFill>
                        </a:rPr>
                        <a:t>Shared public rails many apps build on</a:t>
                      </a:r>
                    </a:p>
                  </a:txBody>
                  <a:tcPr anchor="ctr" marL="73152" marR="54864" marT="27432" marB="27432">
                    <a:solidFill>
                      <a:srgbClr val="FFFFFF"/>
                    </a:solidFill>
                  </a:tcPr>
                </a:tc>
                <a:tc>
                  <a:txBody>
                    <a:bodyPr wrap="square"/>
                    <a:lstStyle/>
                    <a:p>
                      <a:r>
                        <a:rPr sz="1100">
                          <a:solidFill>
                            <a:srgbClr val="1A1A1A"/>
                          </a:solidFill>
                        </a:rPr>
                        <a:t>'Government as platform' spreads network effects</a:t>
                      </a:r>
                    </a:p>
                  </a:txBody>
                  <a:tcPr anchor="ctr" marL="73152" marR="54864" marT="27432" marB="27432">
                    <a:solidFill>
                      <a:srgbClr val="FFFFFF"/>
                    </a:solidFill>
                  </a:tcPr>
                </a:tc>
              </a:tr>
              <a:tr h="736092">
                <a:tc>
                  <a:txBody>
                    <a:bodyPr wrap="square"/>
                    <a:lstStyle/>
                    <a:p>
                      <a:r>
                        <a:rPr sz="1100" b="1">
                          <a:solidFill>
                            <a:srgbClr val="0C2B4A"/>
                          </a:solidFill>
                        </a:rPr>
                        <a:t>MySpace → Facebook</a:t>
                      </a:r>
                    </a:p>
                  </a:txBody>
                  <a:tcPr anchor="ctr" marL="73152" marR="54864" marT="27432" marB="27432">
                    <a:solidFill>
                      <a:srgbClr val="EEF3F8"/>
                    </a:solidFill>
                  </a:tcPr>
                </a:tc>
                <a:tc>
                  <a:txBody>
                    <a:bodyPr wrap="square"/>
                    <a:lstStyle/>
                    <a:p>
                      <a:r>
                        <a:rPr sz="1100">
                          <a:solidFill>
                            <a:srgbClr val="1A1A1A"/>
                          </a:solidFill>
                        </a:rPr>
                        <a:t>Dominant social network overtaken</a:t>
                      </a:r>
                    </a:p>
                  </a:txBody>
                  <a:tcPr anchor="ctr" marL="73152" marR="54864" marT="27432" marB="27432">
                    <a:solidFill>
                      <a:srgbClr val="EEF3F8"/>
                    </a:solidFill>
                  </a:tcPr>
                </a:tc>
                <a:tc>
                  <a:txBody>
                    <a:bodyPr wrap="square"/>
                    <a:lstStyle/>
                    <a:p>
                      <a:r>
                        <a:rPr sz="1100">
                          <a:solidFill>
                            <a:srgbClr val="1A1A1A"/>
                          </a:solidFill>
                        </a:rPr>
                        <a:t>Lead-in-hand is not permanent</a:t>
                      </a:r>
                    </a:p>
                  </a:txBody>
                  <a:tcPr anchor="ctr" marL="73152" marR="54864" marT="27432" marB="27432">
                    <a:solidFill>
                      <a:srgbClr val="EEF3F8"/>
                    </a:solidFill>
                  </a:tcPr>
                </a:tc>
              </a:tr>
              <a:tr h="736092">
                <a:tc>
                  <a:txBody>
                    <a:bodyPr wrap="square"/>
                    <a:lstStyle/>
                    <a:p>
                      <a:r>
                        <a:rPr sz="1100" b="1">
                          <a:solidFill>
                            <a:srgbClr val="0C2B4A"/>
                          </a:solidFill>
                        </a:rPr>
                        <a:t>Nokia → smartphones</a:t>
                      </a:r>
                    </a:p>
                  </a:txBody>
                  <a:tcPr anchor="ctr" marL="73152" marR="54864" marT="27432" marB="27432">
                    <a:solidFill>
                      <a:srgbClr val="FFFFFF"/>
                    </a:solidFill>
                  </a:tcPr>
                </a:tc>
                <a:tc>
                  <a:txBody>
                    <a:bodyPr wrap="square"/>
                    <a:lstStyle/>
                    <a:p>
                      <a:r>
                        <a:rPr sz="1100">
                          <a:solidFill>
                            <a:srgbClr val="1A1A1A"/>
                          </a:solidFill>
                        </a:rPr>
                        <a:t>Market leader missed a platform shift</a:t>
                      </a:r>
                    </a:p>
                  </a:txBody>
                  <a:tcPr anchor="ctr" marL="73152" marR="54864" marT="27432" marB="27432">
                    <a:solidFill>
                      <a:srgbClr val="FFFFFF"/>
                    </a:solidFill>
                  </a:tcPr>
                </a:tc>
                <a:tc>
                  <a:txBody>
                    <a:bodyPr wrap="square"/>
                    <a:lstStyle/>
                    <a:p>
                      <a:r>
                        <a:rPr sz="1100">
                          <a:solidFill>
                            <a:srgbClr val="1A1A1A"/>
                          </a:solidFill>
                        </a:rPr>
                        <a:t>Dominance decays when user needs shift</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winner-take-most tendency (S13) is real but not destiny. Local relevance, open public infrastructure, and shifting needs are the three main ways monopolies are broken — a hopeful counterweight to inevitability.</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77 / 100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S14 · CONCEPT 3 · [THEORY] [EXAMPLE]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Counter-Narrative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PickMe shows a Nepali lesson too: a local platform that understands local roads, prices, and payment habits can beat a global giant that treats every city the same — Pathao and InDrive coexist with no global monopoly precisely because local relevance matters. India's ONDC and UPI go further, building open rails so many small businesses share network effects instead of one platform hoarding them — a model Nepal's own digital-public-infrastructure debate is watching.</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"Once a digital monopoly forms, it's permanent and unbeatable." History says otherwise — MySpace, Nokia, and Orkut all fell. Local relevance (PickMe), open public infrastructure (ONDC/UPI), and shifting user needs regularly topple or contain giants. Dominance is powerful but contestable, especially by design.</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Digital dominance is powerful but neither permanent nor the only path to success. PickMe (Sri Lanka) beat Uber locally through price, reliability, and local fit — relevance over scale. India's ONDC, UPI, and Aadhaar build open public digital infrastructure that lets small players share network effects against Amazon/Flipkart. Fallen giants (MySpace, Nokia, Orkut) show dominance decays when needs shift. Local relevance, open standards, and changing needs all break monopolies — and policy can engineer contestability deliberately.</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not inevitable · PickMe (relevance&gt;size) · ONDC/UPI/Aadhaar (open infra) · fallen giants · contestability by design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78 / 100</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S14 — 'Regulate or leave alone?'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(3 min): pick a dominant platform. Should a regulator act, and if so, which tool?</a:t>
            </a:r>
          </a:p>
          <a:p>
            <a:pPr>
              <a:spcAft>
                <a:spcPts val="700"/>
              </a:spcAft>
            </a:pPr>
            <a:r>
              <a:rPr sz="1550">
                <a:solidFill>
                  <a:srgbClr val="1A1A1A"/>
                </a:solidFill>
              </a:rPr>
              <a:t>•  Name the specific risk you're addressing and the tool (portability, interoperability, fine, break-up).</a:t>
            </a:r>
          </a:p>
          <a:p>
            <a:pPr>
              <a:spcAft>
                <a:spcPts val="700"/>
              </a:spcAft>
            </a:pPr>
            <a:r>
              <a:rPr sz="1550">
                <a:solidFill>
                  <a:srgbClr val="1A1A1A"/>
                </a:solidFill>
              </a:rPr>
              <a:t>•  Take 3–4 answers aloud (2 min); debate whether the harm outweighs the convenience.</a:t>
            </a:r>
          </a:p>
          <a:p>
            <a:pPr>
              <a:spcAft>
                <a:spcPts val="700"/>
              </a:spcAft>
            </a:pPr>
            <a:r>
              <a:rPr sz="1550">
                <a:solidFill>
                  <a:srgbClr val="1A1A1A"/>
                </a:solidFill>
              </a:rPr>
              <a:t>•  Close: the best answers target a mechanism (lock-in via portability), not just 'break them up'.</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Reward precise pairing of risk→tool: e.g. lock-in → data portability/interoperability; self-preferencing → antitrust; privacy concentration → data rules. Note that heavy-handed rules can also reduce useful scale — it's a trade-off.</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79 / 100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S14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Regulating digital monopolies is hard mainly because:</a:t>
            </a:r>
          </a:p>
          <a:p>
            <a:pPr lvl="1"/>
            <a:r>
              <a:rPr sz="1500" b="1">
                <a:solidFill>
                  <a:srgbClr val="0F6E56"/>
                </a:solidFill>
              </a:rPr>
              <a:t>a) they're small   b) ✅ products are often 'free' (no price rise to prove), markets move fast, data rules unclear   c) no laws exist   d) users don't care</a:t>
            </a:r>
          </a:p>
          <a:p>
            <a:pPr lvl="1">
              <a:spcBef>
                <a:spcPts val="600"/>
              </a:spcBef>
            </a:pPr>
            <a:r>
              <a:rPr sz="1500" i="1">
                <a:solidFill>
                  <a:srgbClr val="1A1A1A"/>
                </a:solidFill>
              </a:rPr>
              <a:t>     Why: the classic 'did prices rise?' test fails when the product is free, though data/innovation harms are real.</a:t>
            </a:r>
          </a:p>
          <a:p>
            <a:pPr>
              <a:spcBef>
                <a:spcPts val="900"/>
              </a:spcBef>
            </a:pPr>
            <a:r>
              <a:rPr sz="1700" b="1">
                <a:solidFill>
                  <a:srgbClr val="0C2B4A"/>
                </a:solidFill>
              </a:rPr>
              <a:t>Q2.  Data portability and interoperability work by:</a:t>
            </a:r>
          </a:p>
          <a:p>
            <a:pPr lvl="1"/>
            <a:r>
              <a:rPr sz="1500" b="1">
                <a:solidFill>
                  <a:srgbClr val="0F6E56"/>
                </a:solidFill>
              </a:rPr>
              <a:t>a) raising prices   b) ✅ lowering switching costs so competition can return   c) banning platforms   d) adding ads</a:t>
            </a:r>
          </a:p>
          <a:p>
            <a:pPr lvl="1">
              <a:spcBef>
                <a:spcPts val="600"/>
              </a:spcBef>
            </a:pPr>
            <a:r>
              <a:rPr sz="1500" i="1">
                <a:solidFill>
                  <a:srgbClr val="1A1A1A"/>
                </a:solidFill>
              </a:rPr>
              <a:t>     Why: they attack the lock-in mechanism (S12) directly, letting users move and rivals interconnect.</a:t>
            </a:r>
          </a:p>
          <a:p>
            <a:pPr lvl="1">
              <a:spcBef>
                <a:spcPts val="600"/>
              </a:spcBef>
            </a:pPr>
            <a:r>
              <a:rPr sz="1500" i="1">
                <a:solidFill>
                  <a:srgbClr val="1A1A1A"/>
                </a:solidFill>
              </a:rPr>
              <a:t>Discussion: pick a dominant platform — should a regulator act, and with which tool?</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80 / 100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S14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Monopoly risks: less innovation, data/privacy concentration, gatekeeper price control, biased algorithms, copying/killing rivals — even when 'free'.</a:t>
            </a:r>
          </a:p>
          <a:p>
            <a:pPr>
              <a:spcAft>
                <a:spcPts val="800"/>
              </a:spcAft>
            </a:pPr>
            <a:r>
              <a:rPr sz="1500">
                <a:solidFill>
                  <a:srgbClr val="1A1A1A"/>
                </a:solidFill>
              </a:rPr>
              <a:t>2.  Regulation is hard (free products, speed, data); tools: data portability, interoperability, fines, break-up (DMA, GDPR, FTC).</a:t>
            </a:r>
          </a:p>
          <a:p>
            <a:pPr>
              <a:spcAft>
                <a:spcPts val="800"/>
              </a:spcAft>
            </a:pPr>
            <a:r>
              <a:rPr sz="1500">
                <a:solidFill>
                  <a:srgbClr val="1A1A1A"/>
                </a:solidFill>
              </a:rPr>
              <a:t>3.  Not inevitable: local relevance (PickMe), open infrastructure (ONDC/UPI), and shifting needs (MySpace, Nokia) break monopolies.</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As citizens you feel monopoly power in the fees and choices you get; as future builders and policymakers you'll decide whether to exploit, resist, or regulate it. QR interoperability shows Nepal already using these tools — the debate is live here, not just abroad.</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S15 — zooming out: how do we MEASURE how digital a country is? The DAI and OECD DGI.</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81 / 100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15 · LECTURE HOUR 7 (OF 7) — CLOSES UNIT 2</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Measuring Digital Adoption: DAI &amp; the OECD DGI</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Estonia runs 99% of its government services online; in much of Nepal you still queue with photocopies and cash. Everyone says 'go digital' — but how do we actually MEASURE how digital a country is, compare countries fairly, and see where Nepal truly stands? That's what digital-adoption indexes do.</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82 / 100</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S15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Digital Adoption &amp; the World Bank DAI</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Digital adoption is the effective USE of digital tools in daily life, business, and government — not merely their availability. The World Bank's Digital Adoption Index (DAI) measures it across three pillars: People (internet, smartphones, social media, digital payments), Business (cloud, e-commerce, digital accounting, automation), and Government (e-services, digital ID, tax filing, open data). It lets countries be compared and gaps identified.</a:t>
            </a:r>
          </a:p>
          <a:p>
            <a:pPr>
              <a:spcAft>
                <a:spcPts val="500"/>
              </a:spcAft>
            </a:pPr>
            <a:r>
              <a:rPr sz="1200" b="1">
                <a:solidFill>
                  <a:srgbClr val="185FA5"/>
                </a:solidFill>
              </a:rPr>
              <a:t>HOW IT WORKS</a:t>
            </a:r>
          </a:p>
          <a:p>
            <a:pPr>
              <a:spcAft>
                <a:spcPts val="600"/>
              </a:spcAft>
            </a:pPr>
            <a:r>
              <a:rPr sz="1400">
                <a:solidFill>
                  <a:srgbClr val="1A1A1A"/>
                </a:solidFill>
              </a:rPr>
              <a:t>•  Adoption ≠ access: owning a smartphone isn't adoption; USING it to transact is.</a:t>
            </a:r>
          </a:p>
          <a:p>
            <a:pPr>
              <a:spcAft>
                <a:spcPts val="600"/>
              </a:spcAft>
            </a:pPr>
            <a:r>
              <a:rPr sz="1400">
                <a:solidFill>
                  <a:srgbClr val="1A1A1A"/>
                </a:solidFill>
              </a:rPr>
              <a:t>•  Three DAI pillars: People, Business, Government — each with concrete indicators.</a:t>
            </a:r>
          </a:p>
          <a:p>
            <a:pPr>
              <a:spcAft>
                <a:spcPts val="600"/>
              </a:spcAft>
            </a:pPr>
            <a:r>
              <a:rPr sz="1400">
                <a:solidFill>
                  <a:srgbClr val="1A1A1A"/>
                </a:solidFill>
              </a:rPr>
              <a:t>•  Used by the World Bank, UN, OECD, IMF, ITU to compare digital readiness across countries.</a:t>
            </a:r>
          </a:p>
          <a:p>
            <a:pPr>
              <a:spcAft>
                <a:spcPts val="600"/>
              </a:spcAft>
            </a:pPr>
            <a:r>
              <a:rPr sz="1400">
                <a:solidFill>
                  <a:srgbClr val="1A1A1A"/>
                </a:solidFill>
              </a:rPr>
              <a:t>•  Caveat: the DAI is a framework; the last official World Bank DAI dataset is from 2016.</a:t>
            </a:r>
          </a:p>
        </p:txBody>
      </p:sp>
      <p:pic>
        <p:nvPicPr>
          <p:cNvPr id="6" name="Picture 5" descr="s15_dai_pillars.png"/>
          <p:cNvPicPr>
            <a:picLocks noChangeAspect="1"/>
          </p:cNvPicPr>
          <p:nvPr/>
        </p:nvPicPr>
        <p:blipFill>
          <a:blip r:embed="rId2"/>
          <a:stretch>
            <a:fillRect/>
          </a:stretch>
        </p:blipFill>
        <p:spPr>
          <a:xfrm>
            <a:off x="6355080" y="2432362"/>
            <a:ext cx="5532120" cy="2770514"/>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DAI = adoption (effective USE) across 3 pillars: People · Business · Government.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83 / 100</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S15 · CONCEPT 1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DAI's three pillars — indicators &amp; Nepal's status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1818409"/>
                <a:gridCol w="3636818"/>
                <a:gridCol w="2078181"/>
                <a:gridCol w="3896590"/>
              </a:tblGrid>
              <a:tr h="1104138">
                <a:tc>
                  <a:txBody>
                    <a:bodyPr wrap="square"/>
                    <a:lstStyle/>
                    <a:p>
                      <a:r>
                        <a:rPr sz="1100" b="1">
                          <a:solidFill>
                            <a:srgbClr val="FFFFFF"/>
                          </a:solidFill>
                        </a:rPr>
                        <a:t>Pillar</a:t>
                      </a:r>
                    </a:p>
                  </a:txBody>
                  <a:tcPr anchor="ctr" marL="73152" marR="54864" marT="27432" marB="27432">
                    <a:solidFill>
                      <a:srgbClr val="0C2B4A"/>
                    </a:solidFill>
                  </a:tcPr>
                </a:tc>
                <a:tc>
                  <a:txBody>
                    <a:bodyPr wrap="square"/>
                    <a:lstStyle/>
                    <a:p>
                      <a:r>
                        <a:rPr sz="1100" b="1">
                          <a:solidFill>
                            <a:srgbClr val="FFFFFF"/>
                          </a:solidFill>
                        </a:rPr>
                        <a:t>Example indicators</a:t>
                      </a:r>
                    </a:p>
                  </a:txBody>
                  <a:tcPr anchor="ctr" marL="73152" marR="54864" marT="27432" marB="27432">
                    <a:solidFill>
                      <a:srgbClr val="0C2B4A"/>
                    </a:solidFill>
                  </a:tcPr>
                </a:tc>
                <a:tc>
                  <a:txBody>
                    <a:bodyPr wrap="square"/>
                    <a:lstStyle/>
                    <a:p>
                      <a:r>
                        <a:rPr sz="1100" b="1">
                          <a:solidFill>
                            <a:srgbClr val="FFFFFF"/>
                          </a:solidFill>
                        </a:rPr>
                        <a:t>Nepal status</a:t>
                      </a:r>
                    </a:p>
                  </a:txBody>
                  <a:tcPr anchor="ctr" marL="73152" marR="54864" marT="27432" marB="27432">
                    <a:solidFill>
                      <a:srgbClr val="0C2B4A"/>
                    </a:solidFill>
                  </a:tcPr>
                </a:tc>
                <a:tc>
                  <a:txBody>
                    <a:bodyPr wrap="square"/>
                    <a:lstStyle/>
                    <a:p>
                      <a:r>
                        <a:rPr sz="1100" b="1">
                          <a:solidFill>
                            <a:srgbClr val="FFFFFF"/>
                          </a:solidFill>
                        </a:rPr>
                        <a:t>Why</a:t>
                      </a:r>
                    </a:p>
                  </a:txBody>
                  <a:tcPr anchor="ctr" marL="73152" marR="54864" marT="27432" marB="27432">
                    <a:solidFill>
                      <a:srgbClr val="0C2B4A"/>
                    </a:solidFill>
                  </a:tcPr>
                </a:tc>
              </a:tr>
              <a:tr h="1104138">
                <a:tc>
                  <a:txBody>
                    <a:bodyPr wrap="square"/>
                    <a:lstStyle/>
                    <a:p>
                      <a:r>
                        <a:rPr sz="1050" b="1">
                          <a:solidFill>
                            <a:srgbClr val="0C2B4A"/>
                          </a:solidFill>
                        </a:rPr>
                        <a:t>People</a:t>
                      </a:r>
                    </a:p>
                  </a:txBody>
                  <a:tcPr anchor="ctr" marL="73152" marR="54864" marT="27432" marB="27432">
                    <a:solidFill>
                      <a:srgbClr val="FFFFFF"/>
                    </a:solidFill>
                  </a:tcPr>
                </a:tc>
                <a:tc>
                  <a:txBody>
                    <a:bodyPr wrap="square"/>
                    <a:lstStyle/>
                    <a:p>
                      <a:r>
                        <a:rPr sz="1050">
                          <a:solidFill>
                            <a:srgbClr val="1A1A1A"/>
                          </a:solidFill>
                        </a:rPr>
                        <a:t>Internet, smartphones, social media, payments</a:t>
                      </a:r>
                    </a:p>
                  </a:txBody>
                  <a:tcPr anchor="ctr" marL="73152" marR="54864" marT="27432" marB="27432">
                    <a:solidFill>
                      <a:srgbClr val="FFFFFF"/>
                    </a:solidFill>
                  </a:tcPr>
                </a:tc>
                <a:tc>
                  <a:txBody>
                    <a:bodyPr wrap="square"/>
                    <a:lstStyle/>
                    <a:p>
                      <a:r>
                        <a:rPr sz="1050">
                          <a:solidFill>
                            <a:srgbClr val="1A1A1A"/>
                          </a:solidFill>
                        </a:rPr>
                        <a:t>Moderate–High</a:t>
                      </a:r>
                    </a:p>
                  </a:txBody>
                  <a:tcPr anchor="ctr" marL="73152" marR="54864" marT="27432" marB="27432">
                    <a:solidFill>
                      <a:srgbClr val="FFFFFF"/>
                    </a:solidFill>
                  </a:tcPr>
                </a:tc>
                <a:tc>
                  <a:txBody>
                    <a:bodyPr wrap="square"/>
                    <a:lstStyle/>
                    <a:p>
                      <a:r>
                        <a:rPr sz="1050">
                          <a:solidFill>
                            <a:srgbClr val="1A1A1A"/>
                          </a:solidFill>
                        </a:rPr>
                        <a:t>High social/TikTok use; eSewa/Khalti growing; uneven internet quality</a:t>
                      </a:r>
                    </a:p>
                  </a:txBody>
                  <a:tcPr anchor="ctr" marL="73152" marR="54864" marT="27432" marB="27432">
                    <a:solidFill>
                      <a:srgbClr val="FFFFFF"/>
                    </a:solidFill>
                  </a:tcPr>
                </a:tc>
              </a:tr>
              <a:tr h="1104138">
                <a:tc>
                  <a:txBody>
                    <a:bodyPr wrap="square"/>
                    <a:lstStyle/>
                    <a:p>
                      <a:r>
                        <a:rPr sz="1050" b="1">
                          <a:solidFill>
                            <a:srgbClr val="0C2B4A"/>
                          </a:solidFill>
                        </a:rPr>
                        <a:t>Business</a:t>
                      </a:r>
                    </a:p>
                  </a:txBody>
                  <a:tcPr anchor="ctr" marL="73152" marR="54864" marT="27432" marB="27432">
                    <a:solidFill>
                      <a:srgbClr val="EEF3F8"/>
                    </a:solidFill>
                  </a:tcPr>
                </a:tc>
                <a:tc>
                  <a:txBody>
                    <a:bodyPr wrap="square"/>
                    <a:lstStyle/>
                    <a:p>
                      <a:r>
                        <a:rPr sz="1050">
                          <a:solidFill>
                            <a:srgbClr val="1A1A1A"/>
                          </a:solidFill>
                        </a:rPr>
                        <a:t>Cloud, e-commerce, digital accounting, automation</a:t>
                      </a:r>
                    </a:p>
                  </a:txBody>
                  <a:tcPr anchor="ctr" marL="73152" marR="54864" marT="27432" marB="27432">
                    <a:solidFill>
                      <a:srgbClr val="EEF3F8"/>
                    </a:solidFill>
                  </a:tcPr>
                </a:tc>
                <a:tc>
                  <a:txBody>
                    <a:bodyPr wrap="square"/>
                    <a:lstStyle/>
                    <a:p>
                      <a:r>
                        <a:rPr sz="1050">
                          <a:solidFill>
                            <a:srgbClr val="1A1A1A"/>
                          </a:solidFill>
                        </a:rPr>
                        <a:t>Low–Moderate</a:t>
                      </a:r>
                    </a:p>
                  </a:txBody>
                  <a:tcPr anchor="ctr" marL="73152" marR="54864" marT="27432" marB="27432">
                    <a:solidFill>
                      <a:srgbClr val="EEF3F8"/>
                    </a:solidFill>
                  </a:tcPr>
                </a:tc>
                <a:tc>
                  <a:txBody>
                    <a:bodyPr wrap="square"/>
                    <a:lstStyle/>
                    <a:p>
                      <a:r>
                        <a:rPr sz="1050">
                          <a:solidFill>
                            <a:srgbClr val="1A1A1A"/>
                          </a:solidFill>
                        </a:rPr>
                        <a:t>Digital accounting rare; e-commerce rising but informal</a:t>
                      </a:r>
                    </a:p>
                  </a:txBody>
                  <a:tcPr anchor="ctr" marL="73152" marR="54864" marT="27432" marB="27432">
                    <a:solidFill>
                      <a:srgbClr val="EEF3F8"/>
                    </a:solidFill>
                  </a:tcPr>
                </a:tc>
              </a:tr>
              <a:tr h="1104138">
                <a:tc>
                  <a:txBody>
                    <a:bodyPr wrap="square"/>
                    <a:lstStyle/>
                    <a:p>
                      <a:r>
                        <a:rPr sz="1050" b="1">
                          <a:solidFill>
                            <a:srgbClr val="0C2B4A"/>
                          </a:solidFill>
                        </a:rPr>
                        <a:t>Government</a:t>
                      </a:r>
                    </a:p>
                  </a:txBody>
                  <a:tcPr anchor="ctr" marL="73152" marR="54864" marT="27432" marB="27432">
                    <a:solidFill>
                      <a:srgbClr val="FFFFFF"/>
                    </a:solidFill>
                  </a:tcPr>
                </a:tc>
                <a:tc>
                  <a:txBody>
                    <a:bodyPr wrap="square"/>
                    <a:lstStyle/>
                    <a:p>
                      <a:r>
                        <a:rPr sz="1050">
                          <a:solidFill>
                            <a:srgbClr val="1A1A1A"/>
                          </a:solidFill>
                        </a:rPr>
                        <a:t>E-services, digital ID, tax filing, open data</a:t>
                      </a:r>
                    </a:p>
                  </a:txBody>
                  <a:tcPr anchor="ctr" marL="73152" marR="54864" marT="27432" marB="27432">
                    <a:solidFill>
                      <a:srgbClr val="FFFFFF"/>
                    </a:solidFill>
                  </a:tcPr>
                </a:tc>
                <a:tc>
                  <a:txBody>
                    <a:bodyPr wrap="square"/>
                    <a:lstStyle/>
                    <a:p>
                      <a:r>
                        <a:rPr sz="1050">
                          <a:solidFill>
                            <a:srgbClr val="1A1A1A"/>
                          </a:solidFill>
                        </a:rPr>
                        <a:t>Early stage</a:t>
                      </a:r>
                    </a:p>
                  </a:txBody>
                  <a:tcPr anchor="ctr" marL="73152" marR="54864" marT="27432" marB="27432">
                    <a:solidFill>
                      <a:srgbClr val="FFFFFF"/>
                    </a:solidFill>
                  </a:tcPr>
                </a:tc>
                <a:tc>
                  <a:txBody>
                    <a:bodyPr wrap="square"/>
                    <a:lstStyle/>
                    <a:p>
                      <a:r>
                        <a:rPr sz="1050">
                          <a:solidFill>
                            <a:srgbClr val="1A1A1A"/>
                          </a:solidFill>
                        </a:rPr>
                        <a:t>Nagarik App &amp; online passport exist; systems not integrated</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Nepal's pattern is common for developing economies: citizens (People) adopt fastest, businesses lag, and government is slowest — the reverse of leaders like Estonia. Adoption is uneven across the three pillars.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84 / 100</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S15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Digital Adoption &amp; the DAI</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Nepal scores relatively well on the People pillar — high social-media use and fast-growing wallets like eSewa, Khalti, and Fonepay — but lags on Business (few SMEs use cloud accounting) and Government (services exist as apps but aren't integrated; paperwork still dominates). The DAI makes this uneven picture visible and comparable, so policymakers can target the weak pillar rather than assume 'we have phones, so we're digital'.</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"If people own smartphones, the country has high digital adoption." Adoption is about effective USE, not ownership — and it varies by pillar. Nepal's citizens adopt fast while its businesses and government lag, so a single 'we're online' claim hides exactly where the real gaps (and opportunities) are.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Digital adoption is the effective use of digital tools in daily life, business, and government — not mere availability. The World Bank's Digital Adoption Index (DAI) measures it across three pillars — People (internet, smartphones, social media, payments), Business (cloud, e-commerce, digital accounting, automation), and Government (e-services, digital ID, tax, open data) — enabling cross-country comparison and gap-spotting. Nepal is strongest on People, weaker on Business, and early-stage on Government.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digital adoption = effective use · World Bank DAI · People / Business / Government pillars · Nepal uneven by pillar</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85 / 100</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S15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OECD Digital Government Index (DGI)</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The OECD Digital Government Index (DGI) measures how modern, efficient, and citizen-focused a government's digital services are — going beyond access to quality and maturity. It has six dimensions: user-centricity (built around people), digital-by-design (born digital, not paper copied), data-driven public sector, proactiveness (government acts before you ask), government-as-a-platform (shared ID/payments/cloud), and open-by-default (transparent, open data).</a:t>
            </a:r>
          </a:p>
          <a:p>
            <a:pPr>
              <a:spcAft>
                <a:spcPts val="500"/>
              </a:spcAft>
            </a:pPr>
            <a:r>
              <a:rPr sz="1200" b="1">
                <a:solidFill>
                  <a:srgbClr val="185FA5"/>
                </a:solidFill>
              </a:rPr>
              <a:t>HOW IT WORKS</a:t>
            </a:r>
          </a:p>
          <a:p>
            <a:pPr>
              <a:spcAft>
                <a:spcPts val="600"/>
              </a:spcAft>
            </a:pPr>
            <a:r>
              <a:rPr sz="1400">
                <a:solidFill>
                  <a:srgbClr val="1A1A1A"/>
                </a:solidFill>
              </a:rPr>
              <a:t>•  User-centricity: simple, fast, mobile-friendly services (UAE's one-app government).</a:t>
            </a:r>
          </a:p>
          <a:p>
            <a:pPr>
              <a:spcAft>
                <a:spcPts val="600"/>
              </a:spcAft>
            </a:pPr>
            <a:r>
              <a:rPr sz="1400">
                <a:solidFill>
                  <a:srgbClr val="1A1A1A"/>
                </a:solidFill>
              </a:rPr>
              <a:t>•  Digital-by-design &amp; government-as-a-platform: shared rails like India's Aadhaar/UPI, Estonia's X-Road.</a:t>
            </a:r>
          </a:p>
          <a:p>
            <a:pPr>
              <a:spcAft>
                <a:spcPts val="600"/>
              </a:spcAft>
            </a:pPr>
            <a:r>
              <a:rPr sz="1400">
                <a:solidFill>
                  <a:srgbClr val="1A1A1A"/>
                </a:solidFill>
              </a:rPr>
              <a:t>•  Proactiveness: Denmark auto-sends child benefits after a birth is registered — no application needed.</a:t>
            </a:r>
          </a:p>
          <a:p>
            <a:pPr>
              <a:spcAft>
                <a:spcPts val="600"/>
              </a:spcAft>
            </a:pPr>
            <a:r>
              <a:rPr sz="1400">
                <a:solidFill>
                  <a:srgbClr val="1A1A1A"/>
                </a:solidFill>
              </a:rPr>
              <a:t>•  Open-by-default: government data public by default (UK open-data portal, COVID dashboards).</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OECD DGI = 6 dimensions of digital-government maturity: user-centric · digital-by-design · data-driven · proactive · gov-as-platform · open.</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86 / 100</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S15 · CONCEPT 2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OECD DGI — six dimensions with country examples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102428"/>
                <a:gridCol w="4245428"/>
                <a:gridCol w="4082142"/>
              </a:tblGrid>
              <a:tr h="630936">
                <a:tc>
                  <a:txBody>
                    <a:bodyPr wrap="square"/>
                    <a:lstStyle/>
                    <a:p>
                      <a:r>
                        <a:rPr sz="1100" b="1">
                          <a:solidFill>
                            <a:srgbClr val="FFFFFF"/>
                          </a:solidFill>
                        </a:rPr>
                        <a:t>Dimension</a:t>
                      </a:r>
                    </a:p>
                  </a:txBody>
                  <a:tcPr anchor="ctr" marL="73152" marR="54864" marT="27432" marB="27432">
                    <a:solidFill>
                      <a:srgbClr val="0C2B4A"/>
                    </a:solidFill>
                  </a:tcPr>
                </a:tc>
                <a:tc>
                  <a:txBody>
                    <a:bodyPr wrap="square"/>
                    <a:lstStyle/>
                    <a:p>
                      <a:r>
                        <a:rPr sz="1100" b="1">
                          <a:solidFill>
                            <a:srgbClr val="FFFFFF"/>
                          </a:solidFill>
                        </a:rPr>
                        <a:t>What it means</a:t>
                      </a:r>
                    </a:p>
                  </a:txBody>
                  <a:tcPr anchor="ctr" marL="73152" marR="54864" marT="27432" marB="27432">
                    <a:solidFill>
                      <a:srgbClr val="0C2B4A"/>
                    </a:solidFill>
                  </a:tcPr>
                </a:tc>
                <a:tc>
                  <a:txBody>
                    <a:bodyPr wrap="square"/>
                    <a:lstStyle/>
                    <a:p>
                      <a:r>
                        <a:rPr sz="1100" b="1">
                          <a:solidFill>
                            <a:srgbClr val="FFFFFF"/>
                          </a:solidFill>
                        </a:rPr>
                        <a:t>Country example</a:t>
                      </a:r>
                    </a:p>
                  </a:txBody>
                  <a:tcPr anchor="ctr" marL="73152" marR="54864" marT="27432" marB="27432">
                    <a:solidFill>
                      <a:srgbClr val="0C2B4A"/>
                    </a:solidFill>
                  </a:tcPr>
                </a:tc>
              </a:tr>
              <a:tr h="630936">
                <a:tc>
                  <a:txBody>
                    <a:bodyPr wrap="square"/>
                    <a:lstStyle/>
                    <a:p>
                      <a:r>
                        <a:rPr sz="1050" b="1">
                          <a:solidFill>
                            <a:srgbClr val="0C2B4A"/>
                          </a:solidFill>
                        </a:rPr>
                        <a:t>User-centricity</a:t>
                      </a:r>
                    </a:p>
                  </a:txBody>
                  <a:tcPr anchor="ctr" marL="73152" marR="54864" marT="27432" marB="27432">
                    <a:solidFill>
                      <a:srgbClr val="FFFFFF"/>
                    </a:solidFill>
                  </a:tcPr>
                </a:tc>
                <a:tc>
                  <a:txBody>
                    <a:bodyPr wrap="square"/>
                    <a:lstStyle/>
                    <a:p>
                      <a:r>
                        <a:rPr sz="1050">
                          <a:solidFill>
                            <a:srgbClr val="1A1A1A"/>
                          </a:solidFill>
                        </a:rPr>
                        <a:t>Services built around people, not bureaucracy</a:t>
                      </a:r>
                    </a:p>
                  </a:txBody>
                  <a:tcPr anchor="ctr" marL="73152" marR="54864" marT="27432" marB="27432">
                    <a:solidFill>
                      <a:srgbClr val="FFFFFF"/>
                    </a:solidFill>
                  </a:tcPr>
                </a:tc>
                <a:tc>
                  <a:txBody>
                    <a:bodyPr wrap="square"/>
                    <a:lstStyle/>
                    <a:p>
                      <a:r>
                        <a:rPr sz="1050">
                          <a:solidFill>
                            <a:srgbClr val="1A1A1A"/>
                          </a:solidFill>
                        </a:rPr>
                        <a:t>UAE: ~90% services on one app</a:t>
                      </a:r>
                    </a:p>
                  </a:txBody>
                  <a:tcPr anchor="ctr" marL="73152" marR="54864" marT="27432" marB="27432">
                    <a:solidFill>
                      <a:srgbClr val="FFFFFF"/>
                    </a:solidFill>
                  </a:tcPr>
                </a:tc>
              </a:tr>
              <a:tr h="630936">
                <a:tc>
                  <a:txBody>
                    <a:bodyPr wrap="square"/>
                    <a:lstStyle/>
                    <a:p>
                      <a:r>
                        <a:rPr sz="1050" b="1">
                          <a:solidFill>
                            <a:srgbClr val="0C2B4A"/>
                          </a:solidFill>
                        </a:rPr>
                        <a:t>Digital by design</a:t>
                      </a:r>
                    </a:p>
                  </a:txBody>
                  <a:tcPr anchor="ctr" marL="73152" marR="54864" marT="27432" marB="27432">
                    <a:solidFill>
                      <a:srgbClr val="EEF3F8"/>
                    </a:solidFill>
                  </a:tcPr>
                </a:tc>
                <a:tc>
                  <a:txBody>
                    <a:bodyPr wrap="square"/>
                    <a:lstStyle/>
                    <a:p>
                      <a:r>
                        <a:rPr sz="1050">
                          <a:solidFill>
                            <a:srgbClr val="1A1A1A"/>
                          </a:solidFill>
                        </a:rPr>
                        <a:t>Born digital, not paper scanned to PDF</a:t>
                      </a:r>
                    </a:p>
                  </a:txBody>
                  <a:tcPr anchor="ctr" marL="73152" marR="54864" marT="27432" marB="27432">
                    <a:solidFill>
                      <a:srgbClr val="EEF3F8"/>
                    </a:solidFill>
                  </a:tcPr>
                </a:tc>
                <a:tc>
                  <a:txBody>
                    <a:bodyPr wrap="square"/>
                    <a:lstStyle/>
                    <a:p>
                      <a:r>
                        <a:rPr sz="1050">
                          <a:solidFill>
                            <a:srgbClr val="1A1A1A"/>
                          </a:solidFill>
                        </a:rPr>
                        <a:t>IndiaStack: Aadhaar + eKYC + UPI</a:t>
                      </a:r>
                    </a:p>
                  </a:txBody>
                  <a:tcPr anchor="ctr" marL="73152" marR="54864" marT="27432" marB="27432">
                    <a:solidFill>
                      <a:srgbClr val="EEF3F8"/>
                    </a:solidFill>
                  </a:tcPr>
                </a:tc>
              </a:tr>
              <a:tr h="630936">
                <a:tc>
                  <a:txBody>
                    <a:bodyPr wrap="square"/>
                    <a:lstStyle/>
                    <a:p>
                      <a:r>
                        <a:rPr sz="1050" b="1">
                          <a:solidFill>
                            <a:srgbClr val="0C2B4A"/>
                          </a:solidFill>
                        </a:rPr>
                        <a:t>Data-driven public sector</a:t>
                      </a:r>
                    </a:p>
                  </a:txBody>
                  <a:tcPr anchor="ctr" marL="73152" marR="54864" marT="27432" marB="27432">
                    <a:solidFill>
                      <a:srgbClr val="FFFFFF"/>
                    </a:solidFill>
                  </a:tcPr>
                </a:tc>
                <a:tc>
                  <a:txBody>
                    <a:bodyPr wrap="square"/>
                    <a:lstStyle/>
                    <a:p>
                      <a:r>
                        <a:rPr sz="1050">
                          <a:solidFill>
                            <a:srgbClr val="1A1A1A"/>
                          </a:solidFill>
                        </a:rPr>
                        <a:t>Use data to decide &amp; predict</a:t>
                      </a:r>
                    </a:p>
                  </a:txBody>
                  <a:tcPr anchor="ctr" marL="73152" marR="54864" marT="27432" marB="27432">
                    <a:solidFill>
                      <a:srgbClr val="FFFFFF"/>
                    </a:solidFill>
                  </a:tcPr>
                </a:tc>
                <a:tc>
                  <a:txBody>
                    <a:bodyPr wrap="square"/>
                    <a:lstStyle/>
                    <a:p>
                      <a:r>
                        <a:rPr sz="1050">
                          <a:solidFill>
                            <a:srgbClr val="1A1A1A"/>
                          </a:solidFill>
                        </a:rPr>
                        <a:t>Singapore: data-tuned bus frequency</a:t>
                      </a:r>
                    </a:p>
                  </a:txBody>
                  <a:tcPr anchor="ctr" marL="73152" marR="54864" marT="27432" marB="27432">
                    <a:solidFill>
                      <a:srgbClr val="FFFFFF"/>
                    </a:solidFill>
                  </a:tcPr>
                </a:tc>
              </a:tr>
              <a:tr h="630936">
                <a:tc>
                  <a:txBody>
                    <a:bodyPr wrap="square"/>
                    <a:lstStyle/>
                    <a:p>
                      <a:r>
                        <a:rPr sz="1050" b="1">
                          <a:solidFill>
                            <a:srgbClr val="0C2B4A"/>
                          </a:solidFill>
                        </a:rPr>
                        <a:t>Proactiveness</a:t>
                      </a:r>
                    </a:p>
                  </a:txBody>
                  <a:tcPr anchor="ctr" marL="73152" marR="54864" marT="27432" marB="27432">
                    <a:solidFill>
                      <a:srgbClr val="EEF3F8"/>
                    </a:solidFill>
                  </a:tcPr>
                </a:tc>
                <a:tc>
                  <a:txBody>
                    <a:bodyPr wrap="square"/>
                    <a:lstStyle/>
                    <a:p>
                      <a:r>
                        <a:rPr sz="1050">
                          <a:solidFill>
                            <a:srgbClr val="1A1A1A"/>
                          </a:solidFill>
                        </a:rPr>
                        <a:t>Government acts before you ask</a:t>
                      </a:r>
                    </a:p>
                  </a:txBody>
                  <a:tcPr anchor="ctr" marL="73152" marR="54864" marT="27432" marB="27432">
                    <a:solidFill>
                      <a:srgbClr val="EEF3F8"/>
                    </a:solidFill>
                  </a:tcPr>
                </a:tc>
                <a:tc>
                  <a:txBody>
                    <a:bodyPr wrap="square"/>
                    <a:lstStyle/>
                    <a:p>
                      <a:r>
                        <a:rPr sz="1050">
                          <a:solidFill>
                            <a:srgbClr val="1A1A1A"/>
                          </a:solidFill>
                        </a:rPr>
                        <a:t>Denmark: auto child benefits after birth</a:t>
                      </a:r>
                    </a:p>
                  </a:txBody>
                  <a:tcPr anchor="ctr" marL="73152" marR="54864" marT="27432" marB="27432">
                    <a:solidFill>
                      <a:srgbClr val="EEF3F8"/>
                    </a:solidFill>
                  </a:tcPr>
                </a:tc>
              </a:tr>
              <a:tr h="630936">
                <a:tc>
                  <a:txBody>
                    <a:bodyPr wrap="square"/>
                    <a:lstStyle/>
                    <a:p>
                      <a:r>
                        <a:rPr sz="1050" b="1">
                          <a:solidFill>
                            <a:srgbClr val="0C2B4A"/>
                          </a:solidFill>
                        </a:rPr>
                        <a:t>Government as a platform</a:t>
                      </a:r>
                    </a:p>
                  </a:txBody>
                  <a:tcPr anchor="ctr" marL="73152" marR="54864" marT="27432" marB="27432">
                    <a:solidFill>
                      <a:srgbClr val="FFFFFF"/>
                    </a:solidFill>
                  </a:tcPr>
                </a:tc>
                <a:tc>
                  <a:txBody>
                    <a:bodyPr wrap="square"/>
                    <a:lstStyle/>
                    <a:p>
                      <a:r>
                        <a:rPr sz="1050">
                          <a:solidFill>
                            <a:srgbClr val="1A1A1A"/>
                          </a:solidFill>
                        </a:rPr>
                        <a:t>Shared ID, payments, cloud rails</a:t>
                      </a:r>
                    </a:p>
                  </a:txBody>
                  <a:tcPr anchor="ctr" marL="73152" marR="54864" marT="27432" marB="27432">
                    <a:solidFill>
                      <a:srgbClr val="FFFFFF"/>
                    </a:solidFill>
                  </a:tcPr>
                </a:tc>
                <a:tc>
                  <a:txBody>
                    <a:bodyPr wrap="square"/>
                    <a:lstStyle/>
                    <a:p>
                      <a:r>
                        <a:rPr sz="1050">
                          <a:solidFill>
                            <a:srgbClr val="1A1A1A"/>
                          </a:solidFill>
                        </a:rPr>
                        <a:t>India UPI; Estonia X-Road</a:t>
                      </a:r>
                    </a:p>
                  </a:txBody>
                  <a:tcPr anchor="ctr" marL="73152" marR="54864" marT="27432" marB="27432">
                    <a:solidFill>
                      <a:srgbClr val="FFFFFF"/>
                    </a:solidFill>
                  </a:tcPr>
                </a:tc>
              </a:tr>
              <a:tr h="630936">
                <a:tc>
                  <a:txBody>
                    <a:bodyPr wrap="square"/>
                    <a:lstStyle/>
                    <a:p>
                      <a:r>
                        <a:rPr sz="1050" b="1">
                          <a:solidFill>
                            <a:srgbClr val="0C2B4A"/>
                          </a:solidFill>
                        </a:rPr>
                        <a:t>Open by default</a:t>
                      </a:r>
                    </a:p>
                  </a:txBody>
                  <a:tcPr anchor="ctr" marL="73152" marR="54864" marT="27432" marB="27432">
                    <a:solidFill>
                      <a:srgbClr val="EEF3F8"/>
                    </a:solidFill>
                  </a:tcPr>
                </a:tc>
                <a:tc>
                  <a:txBody>
                    <a:bodyPr wrap="square"/>
                    <a:lstStyle/>
                    <a:p>
                      <a:r>
                        <a:rPr sz="1050">
                          <a:solidFill>
                            <a:srgbClr val="1A1A1A"/>
                          </a:solidFill>
                        </a:rPr>
                        <a:t>Transparent, public open data</a:t>
                      </a:r>
                    </a:p>
                  </a:txBody>
                  <a:tcPr anchor="ctr" marL="73152" marR="54864" marT="27432" marB="27432">
                    <a:solidFill>
                      <a:srgbClr val="EEF3F8"/>
                    </a:solidFill>
                  </a:tcPr>
                </a:tc>
                <a:tc>
                  <a:txBody>
                    <a:bodyPr wrap="square"/>
                    <a:lstStyle/>
                    <a:p>
                      <a:r>
                        <a:rPr sz="1050">
                          <a:solidFill>
                            <a:srgbClr val="1A1A1A"/>
                          </a:solidFill>
                        </a:rPr>
                        <a:t>UK open-data portal; gov APIs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DGI measures the QUALITY and maturity of digital government, not just whether services exist. 'Digital by design' vs merely scanning paper forms into PDFs is the distinction Nepal most needs to make.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87 / 100</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S15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OECD DGI</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Nepal's online passport and Nagarik App are real progress on access, but on the DGI they'd score low on 'digital by design' and 'government as a platform': services are often digital copies of paper processes, run on separate systems that don't share one identity or payment rail. Estonia's X-Road (all agencies interconnected) and India's Aadhaar/UPI (shared public rails) are what higher DGI maturity looks like — the target Nepal is moving toward.</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"Putting government forms online is digital government." That's the lowest rung. The DGI's higher bar is digital-by-design (rebuilt digitally, not paper scanned), shared platforms (one ID/payment), proactiveness, and openness. A PDF of an old form on a website is access, not digital-government maturity.</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OECD Digital Government Index (DGI) measures how modern, efficient, and citizen-focused a government's digital services are — quality and maturity, beyond access. Its six dimensions are user-centricity, digital-by-design (born digital, not paper copied), data-driven public sector, proactiveness (acting before asked), government-as-a-platform (shared ID/payments/cloud), and open-by-default (transparent open data). Leaders (Estonia's X-Road, India's Aadhaar/UPI, Denmark's proactive benefits) show what high maturity looks like.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OECD DGI · user-centricity · digital-by-design · data-driven · proactiveness · government-as-platform · open-by-default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88 / 100</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S15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DAI vs DGI, and Reading Nepal's Position</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The two indexes answer different questions. The DAI asks 'how much does the whole SOCIETY (people, business, government) use digital tools?' The DGI asks, more narrowly and deeply, 'how mature and citizen-focused is the GOVERNMENT's digital service?' Read together for Nepal: society-wide adoption is led by people and lagged by government; and government digital maturity is early-stage — the same message from two angles.</a:t>
            </a:r>
          </a:p>
          <a:p>
            <a:pPr>
              <a:spcAft>
                <a:spcPts val="500"/>
              </a:spcAft>
            </a:pPr>
            <a:r>
              <a:rPr sz="1200" b="1">
                <a:solidFill>
                  <a:srgbClr val="185FA5"/>
                </a:solidFill>
              </a:rPr>
              <a:t>HOW IT WORKS</a:t>
            </a:r>
          </a:p>
          <a:p>
            <a:pPr>
              <a:spcAft>
                <a:spcPts val="600"/>
              </a:spcAft>
            </a:pPr>
            <a:r>
              <a:rPr sz="1400">
                <a:solidFill>
                  <a:srgbClr val="1A1A1A"/>
                </a:solidFill>
              </a:rPr>
              <a:t>•  DAI = breadth of adoption across society (people + business + government).</a:t>
            </a:r>
          </a:p>
          <a:p>
            <a:pPr>
              <a:spcAft>
                <a:spcPts val="600"/>
              </a:spcAft>
            </a:pPr>
            <a:r>
              <a:rPr sz="1400">
                <a:solidFill>
                  <a:srgbClr val="1A1A1A"/>
                </a:solidFill>
              </a:rPr>
              <a:t>•  DGI = depth/maturity of one actor — digital government specifically.</a:t>
            </a:r>
          </a:p>
          <a:p>
            <a:pPr>
              <a:spcAft>
                <a:spcPts val="600"/>
              </a:spcAft>
            </a:pPr>
            <a:r>
              <a:rPr sz="1400">
                <a:solidFill>
                  <a:srgbClr val="1A1A1A"/>
                </a:solidFill>
              </a:rPr>
              <a:t>•  For Nepal both point the same way: strong citizen uptake, weak government maturity.</a:t>
            </a:r>
          </a:p>
          <a:p>
            <a:pPr>
              <a:spcAft>
                <a:spcPts val="600"/>
              </a:spcAft>
            </a:pPr>
            <a:r>
              <a:rPr sz="1400">
                <a:solidFill>
                  <a:srgbClr val="1A1A1A"/>
                </a:solidFill>
              </a:rPr>
              <a:t>•  Caveat: treat scores as indicative — DAI data is dated (2016) and indexes simplify reality.</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DAI = society-wide adoption (breadth); DGI = digital-government maturity (depth). Nepal: strong people, weak government.</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89 / 100</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S15 · CONCEPT 3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DAI vs OECD DGI — what each measures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939142"/>
                <a:gridCol w="4245428"/>
                <a:gridCol w="4245428"/>
              </a:tblGrid>
              <a:tr h="736092">
                <a:tc>
                  <a:txBody>
                    <a:bodyPr wrap="square"/>
                    <a:lstStyle/>
                    <a:p>
                      <a:r>
                        <a:rPr sz="1150" b="1">
                          <a:solidFill>
                            <a:srgbClr val="FFFFFF"/>
                          </a:solidFill>
                        </a:rPr>
                        <a:t>Question</a:t>
                      </a:r>
                    </a:p>
                  </a:txBody>
                  <a:tcPr anchor="ctr" marL="73152" marR="54864" marT="27432" marB="27432">
                    <a:solidFill>
                      <a:srgbClr val="0C2B4A"/>
                    </a:solidFill>
                  </a:tcPr>
                </a:tc>
                <a:tc>
                  <a:txBody>
                    <a:bodyPr wrap="square"/>
                    <a:lstStyle/>
                    <a:p>
                      <a:r>
                        <a:rPr sz="1150" b="1">
                          <a:solidFill>
                            <a:srgbClr val="FFFFFF"/>
                          </a:solidFill>
                        </a:rPr>
                        <a:t>World Bank DAI</a:t>
                      </a:r>
                    </a:p>
                  </a:txBody>
                  <a:tcPr anchor="ctr" marL="73152" marR="54864" marT="27432" marB="27432">
                    <a:solidFill>
                      <a:srgbClr val="0C2B4A"/>
                    </a:solidFill>
                  </a:tcPr>
                </a:tc>
                <a:tc>
                  <a:txBody>
                    <a:bodyPr wrap="square"/>
                    <a:lstStyle/>
                    <a:p>
                      <a:r>
                        <a:rPr sz="1150" b="1">
                          <a:solidFill>
                            <a:srgbClr val="FFFFFF"/>
                          </a:solidFill>
                        </a:rPr>
                        <a:t>OECD DGI</a:t>
                      </a:r>
                    </a:p>
                  </a:txBody>
                  <a:tcPr anchor="ctr" marL="73152" marR="54864" marT="27432" marB="27432">
                    <a:solidFill>
                      <a:srgbClr val="0C2B4A"/>
                    </a:solidFill>
                  </a:tcPr>
                </a:tc>
              </a:tr>
              <a:tr h="736092">
                <a:tc>
                  <a:txBody>
                    <a:bodyPr wrap="square"/>
                    <a:lstStyle/>
                    <a:p>
                      <a:r>
                        <a:rPr sz="1100" b="1">
                          <a:solidFill>
                            <a:srgbClr val="0C2B4A"/>
                          </a:solidFill>
                        </a:rPr>
                        <a:t>Measures</a:t>
                      </a:r>
                    </a:p>
                  </a:txBody>
                  <a:tcPr anchor="ctr" marL="73152" marR="54864" marT="27432" marB="27432">
                    <a:solidFill>
                      <a:srgbClr val="FFFFFF"/>
                    </a:solidFill>
                  </a:tcPr>
                </a:tc>
                <a:tc>
                  <a:txBody>
                    <a:bodyPr wrap="square"/>
                    <a:lstStyle/>
                    <a:p>
                      <a:r>
                        <a:rPr sz="1100">
                          <a:solidFill>
                            <a:srgbClr val="1A1A1A"/>
                          </a:solidFill>
                        </a:rPr>
                        <a:t>Adoption across society</a:t>
                      </a:r>
                    </a:p>
                  </a:txBody>
                  <a:tcPr anchor="ctr" marL="73152" marR="54864" marT="27432" marB="27432">
                    <a:solidFill>
                      <a:srgbClr val="FFFFFF"/>
                    </a:solidFill>
                  </a:tcPr>
                </a:tc>
                <a:tc>
                  <a:txBody>
                    <a:bodyPr wrap="square"/>
                    <a:lstStyle/>
                    <a:p>
                      <a:r>
                        <a:rPr sz="1100">
                          <a:solidFill>
                            <a:srgbClr val="1A1A1A"/>
                          </a:solidFill>
                        </a:rPr>
                        <a:t>Maturity of digital government</a:t>
                      </a:r>
                    </a:p>
                  </a:txBody>
                  <a:tcPr anchor="ctr" marL="73152" marR="54864" marT="27432" marB="27432">
                    <a:solidFill>
                      <a:srgbClr val="FFFFFF"/>
                    </a:solidFill>
                  </a:tcPr>
                </a:tc>
              </a:tr>
              <a:tr h="736092">
                <a:tc>
                  <a:txBody>
                    <a:bodyPr wrap="square"/>
                    <a:lstStyle/>
                    <a:p>
                      <a:r>
                        <a:rPr sz="1100" b="1">
                          <a:solidFill>
                            <a:srgbClr val="0C2B4A"/>
                          </a:solidFill>
                        </a:rPr>
                        <a:t>Scope</a:t>
                      </a:r>
                    </a:p>
                  </a:txBody>
                  <a:tcPr anchor="ctr" marL="73152" marR="54864" marT="27432" marB="27432">
                    <a:solidFill>
                      <a:srgbClr val="EEF3F8"/>
                    </a:solidFill>
                  </a:tcPr>
                </a:tc>
                <a:tc>
                  <a:txBody>
                    <a:bodyPr wrap="square"/>
                    <a:lstStyle/>
                    <a:p>
                      <a:r>
                        <a:rPr sz="1100">
                          <a:solidFill>
                            <a:srgbClr val="1A1A1A"/>
                          </a:solidFill>
                        </a:rPr>
                        <a:t>People + Business + Government</a:t>
                      </a:r>
                    </a:p>
                  </a:txBody>
                  <a:tcPr anchor="ctr" marL="73152" marR="54864" marT="27432" marB="27432">
                    <a:solidFill>
                      <a:srgbClr val="EEF3F8"/>
                    </a:solidFill>
                  </a:tcPr>
                </a:tc>
                <a:tc>
                  <a:txBody>
                    <a:bodyPr wrap="square"/>
                    <a:lstStyle/>
                    <a:p>
                      <a:r>
                        <a:rPr sz="1100">
                          <a:solidFill>
                            <a:srgbClr val="1A1A1A"/>
                          </a:solidFill>
                        </a:rPr>
                        <a:t>Government services only</a:t>
                      </a:r>
                    </a:p>
                  </a:txBody>
                  <a:tcPr anchor="ctr" marL="73152" marR="54864" marT="27432" marB="27432">
                    <a:solidFill>
                      <a:srgbClr val="EEF3F8"/>
                    </a:solidFill>
                  </a:tcPr>
                </a:tc>
              </a:tr>
              <a:tr h="736092">
                <a:tc>
                  <a:txBody>
                    <a:bodyPr wrap="square"/>
                    <a:lstStyle/>
                    <a:p>
                      <a:r>
                        <a:rPr sz="1100" b="1">
                          <a:solidFill>
                            <a:srgbClr val="0C2B4A"/>
                          </a:solidFill>
                        </a:rPr>
                        <a:t>Depth</a:t>
                      </a:r>
                    </a:p>
                  </a:txBody>
                  <a:tcPr anchor="ctr" marL="73152" marR="54864" marT="27432" marB="27432">
                    <a:solidFill>
                      <a:srgbClr val="FFFFFF"/>
                    </a:solidFill>
                  </a:tcPr>
                </a:tc>
                <a:tc>
                  <a:txBody>
                    <a:bodyPr wrap="square"/>
                    <a:lstStyle/>
                    <a:p>
                      <a:r>
                        <a:rPr sz="1100">
                          <a:solidFill>
                            <a:srgbClr val="1A1A1A"/>
                          </a:solidFill>
                        </a:rPr>
                        <a:t>Breadth of usage</a:t>
                      </a:r>
                    </a:p>
                  </a:txBody>
                  <a:tcPr anchor="ctr" marL="73152" marR="54864" marT="27432" marB="27432">
                    <a:solidFill>
                      <a:srgbClr val="FFFFFF"/>
                    </a:solidFill>
                  </a:tcPr>
                </a:tc>
                <a:tc>
                  <a:txBody>
                    <a:bodyPr wrap="square"/>
                    <a:lstStyle/>
                    <a:p>
                      <a:r>
                        <a:rPr sz="1100">
                          <a:solidFill>
                            <a:srgbClr val="1A1A1A"/>
                          </a:solidFill>
                        </a:rPr>
                        <a:t>Quality &amp; citizen-focus</a:t>
                      </a:r>
                    </a:p>
                  </a:txBody>
                  <a:tcPr anchor="ctr" marL="73152" marR="54864" marT="27432" marB="27432">
                    <a:solidFill>
                      <a:srgbClr val="FFFFFF"/>
                    </a:solidFill>
                  </a:tcPr>
                </a:tc>
              </a:tr>
              <a:tr h="736092">
                <a:tc>
                  <a:txBody>
                    <a:bodyPr wrap="square"/>
                    <a:lstStyle/>
                    <a:p>
                      <a:r>
                        <a:rPr sz="1100" b="1">
                          <a:solidFill>
                            <a:srgbClr val="0C2B4A"/>
                          </a:solidFill>
                        </a:rPr>
                        <a:t>Key question</a:t>
                      </a:r>
                    </a:p>
                  </a:txBody>
                  <a:tcPr anchor="ctr" marL="73152" marR="54864" marT="27432" marB="27432">
                    <a:solidFill>
                      <a:srgbClr val="EEF3F8"/>
                    </a:solidFill>
                  </a:tcPr>
                </a:tc>
                <a:tc>
                  <a:txBody>
                    <a:bodyPr wrap="square"/>
                    <a:lstStyle/>
                    <a:p>
                      <a:r>
                        <a:rPr sz="1100">
                          <a:solidFill>
                            <a:srgbClr val="1A1A1A"/>
                          </a:solidFill>
                        </a:rPr>
                        <a:t>'How digital is the country?'</a:t>
                      </a:r>
                    </a:p>
                  </a:txBody>
                  <a:tcPr anchor="ctr" marL="73152" marR="54864" marT="27432" marB="27432">
                    <a:solidFill>
                      <a:srgbClr val="EEF3F8"/>
                    </a:solidFill>
                  </a:tcPr>
                </a:tc>
                <a:tc>
                  <a:txBody>
                    <a:bodyPr wrap="square"/>
                    <a:lstStyle/>
                    <a:p>
                      <a:r>
                        <a:rPr sz="1100">
                          <a:solidFill>
                            <a:srgbClr val="1A1A1A"/>
                          </a:solidFill>
                        </a:rPr>
                        <a:t>'How good is digital government?'</a:t>
                      </a:r>
                    </a:p>
                  </a:txBody>
                  <a:tcPr anchor="ctr" marL="73152" marR="54864" marT="27432" marB="27432">
                    <a:solidFill>
                      <a:srgbClr val="EEF3F8"/>
                    </a:solidFill>
                  </a:tcPr>
                </a:tc>
              </a:tr>
              <a:tr h="736092">
                <a:tc>
                  <a:txBody>
                    <a:bodyPr wrap="square"/>
                    <a:lstStyle/>
                    <a:p>
                      <a:r>
                        <a:rPr sz="1100" b="1">
                          <a:solidFill>
                            <a:srgbClr val="0C2B4A"/>
                          </a:solidFill>
                        </a:rPr>
                        <a:t>Nepal read</a:t>
                      </a:r>
                    </a:p>
                  </a:txBody>
                  <a:tcPr anchor="ctr" marL="73152" marR="54864" marT="27432" marB="27432">
                    <a:solidFill>
                      <a:srgbClr val="FFFFFF"/>
                    </a:solidFill>
                  </a:tcPr>
                </a:tc>
                <a:tc>
                  <a:txBody>
                    <a:bodyPr wrap="square"/>
                    <a:lstStyle/>
                    <a:p>
                      <a:r>
                        <a:rPr sz="1100">
                          <a:solidFill>
                            <a:srgbClr val="1A1A1A"/>
                          </a:solidFill>
                        </a:rPr>
                        <a:t>People strong, business/govt lag</a:t>
                      </a:r>
                    </a:p>
                  </a:txBody>
                  <a:tcPr anchor="ctr" marL="73152" marR="54864" marT="27432" marB="27432">
                    <a:solidFill>
                      <a:srgbClr val="FFFFFF"/>
                    </a:solidFill>
                  </a:tcPr>
                </a:tc>
                <a:tc>
                  <a:txBody>
                    <a:bodyPr wrap="square"/>
                    <a:lstStyle/>
                    <a:p>
                      <a:r>
                        <a:rPr sz="1100">
                          <a:solidFill>
                            <a:srgbClr val="1A1A1A"/>
                          </a:solidFill>
                        </a:rPr>
                        <a:t>Early stage (access, not by-design)</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Use them together: the DAI locates WHERE adoption is weak (Nepal: business &amp; government), and the DGI explains HOW to deepen the government side (digital-by-design, shared platforms). Both say Nepal's government is the lagging pillar.</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90 / 100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S15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DAI vs DGI &amp; Nepal's Position</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Put together, the indexes give Nepal a clear diagnosis: citizens have adopted digital fast (wallets, social media), but businesses and — most of all — government lag, and what government digital exists is access-level, not digital-by-design. That weak government/business adoption also caps the platforms and network effects from earlier in this unit: fewer businesses online means thinner marketplaces. The fix (per the DGI) is shared public rails and rebuilt-digital services — India's UPI/ONDC direction.</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 single number tells you how digital a country is." No one index captures it: the DAI shows society-wide breadth, the DGI shows government depth, and both simplify (and the DAI data is dated). Read together they diagnose Nepal precisely — strong citizens, lagging government — better than any single score.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DAI and DGI answer different questions: the DAI measures adoption across the whole society (people, business, government — breadth), while the DGI measures the maturity and citizen-focus of digital government specifically (depth). For Nepal both point the same way — strong citizen uptake, lagging business and (especially) government, with government digital still access-level rather than digital-by-design. Weak business/government adoption also limits the platforms and network effects studied earlier in this unit.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DAI (breadth, society) vs DGI (depth, government) · read together · Nepal: strong people, lagging government · indexes simplify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91 / 100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S15 — 'Rate Nepal, then fix a pillar'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(3 min): rate Nepal High/Medium/Low on each DAI pillar (People, Business, Government) with a reason.</a:t>
            </a:r>
          </a:p>
          <a:p>
            <a:pPr>
              <a:spcAft>
                <a:spcPts val="700"/>
              </a:spcAft>
            </a:pPr>
            <a:r>
              <a:rPr sz="1550">
                <a:solidFill>
                  <a:srgbClr val="1A1A1A"/>
                </a:solidFill>
              </a:rPr>
              <a:t>•  Pick the weakest pillar and propose one concrete fix (borrow from Estonia or India).</a:t>
            </a:r>
          </a:p>
          <a:p>
            <a:pPr>
              <a:spcAft>
                <a:spcPts val="700"/>
              </a:spcAft>
            </a:pPr>
            <a:r>
              <a:rPr sz="1550">
                <a:solidFill>
                  <a:srgbClr val="1A1A1A"/>
                </a:solidFill>
              </a:rPr>
              <a:t>•  Take 3–4 answers aloud (2 min); compare ratings.</a:t>
            </a:r>
          </a:p>
          <a:p>
            <a:pPr>
              <a:spcAft>
                <a:spcPts val="700"/>
              </a:spcAft>
            </a:pPr>
            <a:r>
              <a:rPr sz="1550">
                <a:solidFill>
                  <a:srgbClr val="1A1A1A"/>
                </a:solidFill>
              </a:rPr>
              <a:t>•  Close: the government pillar is usually rated weakest — link to the DGI's 'digital-by-design'.</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Expected: People Medium–High, Business Low–Moderate, Government Early/Low. Good fixes: a shared digital ID + payment rail (like Aadhaar/UPI), digital-by-design services (not scanned PDFs), open data. Reward concrete, borrowed-best-practice answers.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92 / 100</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S15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The World Bank DAI measures adoption across which three pillars?</a:t>
            </a:r>
          </a:p>
          <a:p>
            <a:pPr lvl="1"/>
            <a:r>
              <a:rPr sz="1500" b="1">
                <a:solidFill>
                  <a:srgbClr val="0F6E56"/>
                </a:solidFill>
              </a:rPr>
              <a:t>a) rich/middle/poor   b) ✅ People, Business, Government   c) phones/PCs/servers   d) urban/rural/remote</a:t>
            </a:r>
          </a:p>
          <a:p>
            <a:pPr lvl="1">
              <a:spcBef>
                <a:spcPts val="600"/>
              </a:spcBef>
            </a:pPr>
            <a:r>
              <a:rPr sz="1500" i="1">
                <a:solidFill>
                  <a:srgbClr val="1A1A1A"/>
                </a:solidFill>
              </a:rPr>
              <a:t>     Why: the DAI's three pillars are People, Business, and Government — each with its own indicators.</a:t>
            </a:r>
          </a:p>
          <a:p>
            <a:pPr>
              <a:spcBef>
                <a:spcPts val="900"/>
              </a:spcBef>
            </a:pPr>
            <a:r>
              <a:rPr sz="1700" b="1">
                <a:solidFill>
                  <a:srgbClr val="0C2B4A"/>
                </a:solidFill>
              </a:rPr>
              <a:t>Q2.  A government service that is a scanned PDF of an old paper form scores LOW on the DGI's:</a:t>
            </a:r>
          </a:p>
          <a:p>
            <a:pPr lvl="1"/>
            <a:r>
              <a:rPr sz="1500" b="1">
                <a:solidFill>
                  <a:srgbClr val="0F6E56"/>
                </a:solidFill>
              </a:rPr>
              <a:t>a) openness   b) ✅ 'digital by design'   c) fines   d) network effect</a:t>
            </a:r>
          </a:p>
          <a:p>
            <a:pPr lvl="1">
              <a:spcBef>
                <a:spcPts val="600"/>
              </a:spcBef>
            </a:pPr>
            <a:r>
              <a:rPr sz="1500" i="1">
                <a:solidFill>
                  <a:srgbClr val="1A1A1A"/>
                </a:solidFill>
              </a:rPr>
              <a:t>     Why: digital-by-design means rebuilt digitally, not paper copied — a scanned form is access, not maturity.</a:t>
            </a:r>
          </a:p>
          <a:p>
            <a:pPr lvl="1">
              <a:spcBef>
                <a:spcPts val="600"/>
              </a:spcBef>
            </a:pPr>
            <a:r>
              <a:rPr sz="1500" i="1">
                <a:solidFill>
                  <a:srgbClr val="1A1A1A"/>
                </a:solidFill>
              </a:rPr>
              <a:t>Discussion: rate Nepal on the three DAI pillars and propose a fix for the weakest.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93 / 100</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S15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Digital adoption = effective USE, not access; the World Bank DAI measures it across People, Business, Government.</a:t>
            </a:r>
          </a:p>
          <a:p>
            <a:pPr>
              <a:spcAft>
                <a:spcPts val="800"/>
              </a:spcAft>
            </a:pPr>
            <a:r>
              <a:rPr sz="1500">
                <a:solidFill>
                  <a:srgbClr val="1A1A1A"/>
                </a:solidFill>
              </a:rPr>
              <a:t>2.  The OECD DGI measures digital-GOVERNMENT maturity across 6 dimensions (user-centric, digital-by-design, data-driven, proactive, gov-as-platform, open).</a:t>
            </a:r>
          </a:p>
          <a:p>
            <a:pPr>
              <a:spcAft>
                <a:spcPts val="800"/>
              </a:spcAft>
            </a:pPr>
            <a:r>
              <a:rPr sz="1500">
                <a:solidFill>
                  <a:srgbClr val="1A1A1A"/>
                </a:solidFill>
              </a:rPr>
              <a:t>3.  Nepal: strong on People, lagging on Business &amp; Government — the same diagnosis from both indexes.</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These indexes are how governments, the World Bank, and investors judge a country's digital readiness — and where Nepal ranks shapes real policy and investment. Knowing what they measure lets you read those judgements critically and see exactly which gap to close.</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Next unit — Unit 3: Digital Markets, Strategy &amp; Innovation (competition &amp; co-opetition, the layered internet model, digital business &amp; value-creation models).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94 / 100</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2 · CHEAT SHEET</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One-page revision reference</a:t>
            </a:r>
          </a:p>
        </p:txBody>
      </p:sp>
      <p:sp>
        <p:nvSpPr>
          <p:cNvPr id="5" name="Rounded Rectangle 4"/>
          <p:cNvSpPr/>
          <p:nvPr/>
        </p:nvSpPr>
        <p:spPr>
          <a:xfrm>
            <a:off x="640080" y="1572768"/>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Platforms (S9)</a:t>
            </a:r>
          </a:p>
          <a:p>
            <a:pPr>
              <a:spcBef>
                <a:spcPts val="300"/>
              </a:spcBef>
            </a:pPr>
            <a:r>
              <a:rPr sz="1200">
                <a:solidFill>
                  <a:srgbClr val="1A1A1A"/>
                </a:solidFill>
              </a:rPr>
              <a:t>Pipe = firm makes &amp; sells value (one way); platform = connects groups, users create value (many ways). MSP = 2+ interdependent groups, solves matching. Value via: lower transaction cost, matching, trust, tools, network value.</a:t>
            </a:r>
          </a:p>
        </p:txBody>
      </p:sp>
      <p:sp>
        <p:nvSpPr>
          <p:cNvPr id="6" name="Rounded Rectangle 5"/>
          <p:cNvSpPr/>
          <p:nvPr/>
        </p:nvSpPr>
        <p:spPr>
          <a:xfrm>
            <a:off x="6199632" y="1572768"/>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Network effects (S10)</a:t>
            </a:r>
          </a:p>
          <a:p>
            <a:pPr>
              <a:spcBef>
                <a:spcPts val="300"/>
              </a:spcBef>
            </a:pPr>
            <a:r>
              <a:rPr sz="1200">
                <a:solidFill>
                  <a:srgbClr val="1A1A1A"/>
                </a:solidFill>
              </a:rPr>
              <a:t>Value rises as more users join → positive feedback (best-connected wins). 4 types: direct/same-side, indirect/cross-side, data, standard. Limits: congestion, spam, toxicity, surge — can reverse. Network ≠ viral.</a:t>
            </a:r>
          </a:p>
        </p:txBody>
      </p:sp>
      <p:sp>
        <p:nvSpPr>
          <p:cNvPr id="7" name="Rounded Rectangle 6"/>
          <p:cNvSpPr/>
          <p:nvPr/>
        </p:nvSpPr>
        <p:spPr>
          <a:xfrm>
            <a:off x="640080" y="3072384"/>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Two-sided pricing (S11)</a:t>
            </a:r>
          </a:p>
          <a:p>
            <a:pPr>
              <a:spcBef>
                <a:spcPts val="300"/>
              </a:spcBef>
            </a:pPr>
            <a:r>
              <a:rPr sz="1200">
                <a:solidFill>
                  <a:srgbClr val="1A1A1A"/>
                </a:solidFill>
              </a:rPr>
              <a:t>Charge the money side, subsidise the side that attracts it (cross-subsidy) — 'free' has a payer. High fixed + ~0 marginal cost → average cost falls with scale. Chicken-and-egg: subsidise/seed/exclusive/freemium/incentives → critical mass.</a:t>
            </a:r>
          </a:p>
        </p:txBody>
      </p:sp>
      <p:sp>
        <p:nvSpPr>
          <p:cNvPr id="8" name="Rounded Rectangle 7"/>
          <p:cNvSpPr/>
          <p:nvPr/>
        </p:nvSpPr>
        <p:spPr>
          <a:xfrm>
            <a:off x="6199632" y="3072384"/>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Lock-in (S12)</a:t>
            </a:r>
          </a:p>
          <a:p>
            <a:pPr>
              <a:spcBef>
                <a:spcPts val="300"/>
              </a:spcBef>
            </a:pPr>
            <a:r>
              <a:rPr sz="1200">
                <a:solidFill>
                  <a:srgbClr val="1A1A1A"/>
                </a:solidFill>
              </a:rPr>
              <a:t>Flywheel = designed loop (acquire→activate→engage→retain); network effect = natural. 5 switching costs: financial, learning, data/asset, network/social, psychological. Lock-in engineered via bundling, formats, loyalty, sync, exclusives. Multi-homing weakens it.</a:t>
            </a:r>
          </a:p>
        </p:txBody>
      </p:sp>
      <p:sp>
        <p:nvSpPr>
          <p:cNvPr id="9" name="Rounded Rectangle 8"/>
          <p:cNvSpPr/>
          <p:nvPr/>
        </p:nvSpPr>
        <p:spPr>
          <a:xfrm>
            <a:off x="640080" y="4572000"/>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Monopolies (S13–S14)</a:t>
            </a:r>
          </a:p>
          <a:p>
            <a:pPr>
              <a:spcBef>
                <a:spcPts val="300"/>
              </a:spcBef>
            </a:pPr>
            <a:r>
              <a:rPr sz="1200">
                <a:solidFill>
                  <a:srgbClr val="1A1A1A"/>
                </a:solidFill>
              </a:rPr>
              <a:t>Winner-take-most via increasing returns; tips past a point (not always). 6 forces: network effects, scale, scope, data, low marginal cost, switching costs. Market types incl. monopsony. Risks: less innovation, privacy, price control, copying. Tools: portability, interoperability, fines, break-up. Not inevitable (PickMe, ONDC, MySpace).</a:t>
            </a:r>
          </a:p>
        </p:txBody>
      </p:sp>
      <p:sp>
        <p:nvSpPr>
          <p:cNvPr id="10" name="Rounded Rectangle 9"/>
          <p:cNvSpPr/>
          <p:nvPr/>
        </p:nvSpPr>
        <p:spPr>
          <a:xfrm>
            <a:off x="6199632" y="4572000"/>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Adoption indexes (S15)</a:t>
            </a:r>
          </a:p>
          <a:p>
            <a:pPr>
              <a:spcBef>
                <a:spcPts val="300"/>
              </a:spcBef>
            </a:pPr>
            <a:r>
              <a:rPr sz="1200">
                <a:solidFill>
                  <a:srgbClr val="1A1A1A"/>
                </a:solidFill>
              </a:rPr>
              <a:t>Adoption = effective USE. World Bank DAI: 3 pillars (People/Business/Government). OECD DGI: 6 dimensions of digital-government maturity (user-centric, digital-by-design, data-driven, proactive, gov-as-platform, open). Nepal: strong People, lagging Business &amp; Government.</a:t>
            </a:r>
          </a:p>
        </p:txBody>
      </p:sp>
      <p:sp>
        <p:nvSpPr>
          <p:cNvPr id="11" name="TextBox 10"/>
          <p:cNvSpPr txBox="1"/>
          <p:nvPr/>
        </p:nvSpPr>
        <p:spPr>
          <a:xfrm>
            <a:off x="11292840" y="274320"/>
            <a:ext cx="822960" cy="320040"/>
          </a:xfrm>
          <a:prstGeom prst="rect">
            <a:avLst/>
          </a:prstGeom>
          <a:noFill/>
        </p:spPr>
        <p:txBody>
          <a:bodyPr wrap="none">
            <a:spAutoFit/>
          </a:bodyPr>
          <a:lstStyle/>
          <a:p>
            <a:pPr algn="r"/>
            <a:r>
              <a:rPr sz="1000">
                <a:solidFill>
                  <a:srgbClr val="55606B"/>
                </a:solidFill>
              </a:rPr>
              <a:t>95 / 100</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2 · GLOSSARY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Key terms — quick reference</a:t>
            </a:r>
          </a:p>
        </p:txBody>
      </p:sp>
      <p:sp>
        <p:nvSpPr>
          <p:cNvPr id="5" name="TextBox 4"/>
          <p:cNvSpPr txBox="1"/>
          <p:nvPr/>
        </p:nvSpPr>
        <p:spPr>
          <a:xfrm>
            <a:off x="640080" y="1600200"/>
            <a:ext cx="5349240" cy="4846320"/>
          </a:xfrm>
          <a:prstGeom prst="rect">
            <a:avLst/>
          </a:prstGeom>
          <a:noFill/>
        </p:spPr>
        <p:txBody>
          <a:bodyPr wrap="square">
            <a:spAutoFit/>
          </a:bodyPr>
          <a:lstStyle/>
          <a:p>
            <a:pPr>
              <a:spcAft>
                <a:spcPts val="600"/>
              </a:spcAft>
            </a:pPr>
            <a:r>
              <a:rPr sz="1150" b="1">
                <a:solidFill>
                  <a:srgbClr val="0C2B4A"/>
                </a:solidFill>
              </a:rPr>
              <a:t>Pipe (linear) business — </a:t>
            </a:r>
            <a:r>
              <a:rPr sz="1150">
                <a:solidFill>
                  <a:srgbClr val="1A1A1A"/>
                </a:solidFill>
              </a:rPr>
              <a:t>a firm that makes and sells its own value, one-way to customers.</a:t>
            </a:r>
          </a:p>
          <a:p>
            <a:pPr>
              <a:spcAft>
                <a:spcPts val="600"/>
              </a:spcAft>
            </a:pPr>
            <a:r>
              <a:rPr sz="1150" b="1">
                <a:solidFill>
                  <a:srgbClr val="0C2B4A"/>
                </a:solidFill>
              </a:rPr>
              <a:t>Platform business — </a:t>
            </a:r>
            <a:r>
              <a:rPr sz="1150">
                <a:solidFill>
                  <a:srgbClr val="1A1A1A"/>
                </a:solidFill>
              </a:rPr>
              <a:t>a business that connects groups so they create value for each other.</a:t>
            </a:r>
          </a:p>
          <a:p>
            <a:pPr>
              <a:spcAft>
                <a:spcPts val="600"/>
              </a:spcAft>
            </a:pPr>
            <a:r>
              <a:rPr sz="1150" b="1">
                <a:solidFill>
                  <a:srgbClr val="0C2B4A"/>
                </a:solidFill>
              </a:rPr>
              <a:t>Multi-sided platform (MSP) — </a:t>
            </a:r>
            <a:r>
              <a:rPr sz="1150">
                <a:solidFill>
                  <a:srgbClr val="1A1A1A"/>
                </a:solidFill>
              </a:rPr>
              <a:t>a model linking 2+ interdependent user groups via matching.</a:t>
            </a:r>
          </a:p>
          <a:p>
            <a:pPr>
              <a:spcAft>
                <a:spcPts val="600"/>
              </a:spcAft>
            </a:pPr>
            <a:r>
              <a:rPr sz="1150" b="1">
                <a:solidFill>
                  <a:srgbClr val="0C2B4A"/>
                </a:solidFill>
              </a:rPr>
              <a:t>Transaction cost — </a:t>
            </a:r>
            <a:r>
              <a:rPr sz="1150">
                <a:solidFill>
                  <a:srgbClr val="1A1A1A"/>
                </a:solidFill>
              </a:rPr>
              <a:t>the cost of search, negotiation &amp; enforcement in a trade.</a:t>
            </a:r>
          </a:p>
          <a:p>
            <a:pPr>
              <a:spcAft>
                <a:spcPts val="600"/>
              </a:spcAft>
            </a:pPr>
            <a:r>
              <a:rPr sz="1150" b="1">
                <a:solidFill>
                  <a:srgbClr val="0C2B4A"/>
                </a:solidFill>
              </a:rPr>
              <a:t>Network effect — </a:t>
            </a:r>
            <a:r>
              <a:rPr sz="1150">
                <a:solidFill>
                  <a:srgbClr val="1A1A1A"/>
                </a:solidFill>
              </a:rPr>
              <a:t>a product becomes more valuable as more people use it.</a:t>
            </a:r>
          </a:p>
          <a:p>
            <a:pPr>
              <a:spcAft>
                <a:spcPts val="600"/>
              </a:spcAft>
            </a:pPr>
            <a:r>
              <a:rPr sz="1150" b="1">
                <a:solidFill>
                  <a:srgbClr val="0C2B4A"/>
                </a:solidFill>
              </a:rPr>
              <a:t>Positive feedback loop — </a:t>
            </a:r>
            <a:r>
              <a:rPr sz="1150">
                <a:solidFill>
                  <a:srgbClr val="1A1A1A"/>
                </a:solidFill>
              </a:rPr>
              <a:t>more users → more value → more users.</a:t>
            </a:r>
          </a:p>
          <a:p>
            <a:pPr>
              <a:spcAft>
                <a:spcPts val="600"/>
              </a:spcAft>
            </a:pPr>
            <a:r>
              <a:rPr sz="1150" b="1">
                <a:solidFill>
                  <a:srgbClr val="0C2B4A"/>
                </a:solidFill>
              </a:rPr>
              <a:t>Direct (same-side) effect — </a:t>
            </a:r>
            <a:r>
              <a:rPr sz="1150">
                <a:solidFill>
                  <a:srgbClr val="1A1A1A"/>
                </a:solidFill>
              </a:rPr>
              <a:t>value from more users of the same group (WhatsApp).</a:t>
            </a:r>
          </a:p>
          <a:p>
            <a:pPr>
              <a:spcAft>
                <a:spcPts val="600"/>
              </a:spcAft>
            </a:pPr>
            <a:r>
              <a:rPr sz="1150" b="1">
                <a:solidFill>
                  <a:srgbClr val="0C2B4A"/>
                </a:solidFill>
              </a:rPr>
              <a:t>Indirect (cross-side) effect — </a:t>
            </a:r>
            <a:r>
              <a:rPr sz="1150">
                <a:solidFill>
                  <a:srgbClr val="1A1A1A"/>
                </a:solidFill>
              </a:rPr>
              <a:t>value from more users on the other side (riders↔drivers).</a:t>
            </a:r>
          </a:p>
          <a:p>
            <a:pPr>
              <a:spcAft>
                <a:spcPts val="600"/>
              </a:spcAft>
            </a:pPr>
            <a:r>
              <a:rPr sz="1150" b="1">
                <a:solidFill>
                  <a:srgbClr val="0C2B4A"/>
                </a:solidFill>
              </a:rPr>
              <a:t>Data network effect — </a:t>
            </a:r>
            <a:r>
              <a:rPr sz="1150">
                <a:solidFill>
                  <a:srgbClr val="1A1A1A"/>
                </a:solidFill>
              </a:rPr>
              <a:t>usage → data → a better product → more users.</a:t>
            </a:r>
          </a:p>
          <a:p>
            <a:pPr>
              <a:spcAft>
                <a:spcPts val="600"/>
              </a:spcAft>
            </a:pPr>
            <a:r>
              <a:rPr sz="1150" b="1">
                <a:solidFill>
                  <a:srgbClr val="0C2B4A"/>
                </a:solidFill>
              </a:rPr>
              <a:t>Standard/technology effect — </a:t>
            </a:r>
            <a:r>
              <a:rPr sz="1150">
                <a:solidFill>
                  <a:srgbClr val="1A1A1A"/>
                </a:solidFill>
              </a:rPr>
              <a:t>a standard grows more valuable as it dominates (QR, USB-C).</a:t>
            </a:r>
          </a:p>
          <a:p>
            <a:pPr>
              <a:spcAft>
                <a:spcPts val="600"/>
              </a:spcAft>
            </a:pPr>
            <a:r>
              <a:rPr sz="1150" b="1">
                <a:solidFill>
                  <a:srgbClr val="0C2B4A"/>
                </a:solidFill>
              </a:rPr>
              <a:t>Viral effect — </a:t>
            </a:r>
            <a:r>
              <a:rPr sz="1150">
                <a:solidFill>
                  <a:srgbClr val="1A1A1A"/>
                </a:solidFill>
              </a:rPr>
              <a:t>fast spread via sharing; not necessarily lasting value.</a:t>
            </a:r>
          </a:p>
          <a:p>
            <a:pPr>
              <a:spcAft>
                <a:spcPts val="600"/>
              </a:spcAft>
            </a:pPr>
            <a:r>
              <a:rPr sz="1150" b="1">
                <a:solidFill>
                  <a:srgbClr val="0C2B4A"/>
                </a:solidFill>
              </a:rPr>
              <a:t>Negative network effect — </a:t>
            </a:r>
            <a:r>
              <a:rPr sz="1150">
                <a:solidFill>
                  <a:srgbClr val="1A1A1A"/>
                </a:solidFill>
              </a:rPr>
              <a:t>more users REDUCE value (congestion, spam, toxicity).</a:t>
            </a:r>
          </a:p>
          <a:p>
            <a:pPr>
              <a:spcAft>
                <a:spcPts val="600"/>
              </a:spcAft>
            </a:pPr>
            <a:r>
              <a:rPr sz="1150" b="1">
                <a:solidFill>
                  <a:srgbClr val="0C2B4A"/>
                </a:solidFill>
              </a:rPr>
              <a:t>Two-sided pricing — </a:t>
            </a:r>
            <a:r>
              <a:rPr sz="1150">
                <a:solidFill>
                  <a:srgbClr val="1A1A1A"/>
                </a:solidFill>
              </a:rPr>
              <a:t>charging one side while subsidising another.</a:t>
            </a:r>
          </a:p>
          <a:p>
            <a:pPr>
              <a:spcAft>
                <a:spcPts val="600"/>
              </a:spcAft>
            </a:pPr>
            <a:r>
              <a:rPr sz="1150" b="1">
                <a:solidFill>
                  <a:srgbClr val="0C2B4A"/>
                </a:solidFill>
              </a:rPr>
              <a:t>Money side / subsidy side — </a:t>
            </a:r>
            <a:r>
              <a:rPr sz="1150">
                <a:solidFill>
                  <a:srgbClr val="1A1A1A"/>
                </a:solidFill>
              </a:rPr>
              <a:t>the side that pays / the side kept free to attract it.</a:t>
            </a:r>
          </a:p>
          <a:p>
            <a:pPr>
              <a:spcAft>
                <a:spcPts val="600"/>
              </a:spcAft>
            </a:pPr>
            <a:r>
              <a:rPr sz="1150" b="1">
                <a:solidFill>
                  <a:srgbClr val="0C2B4A"/>
                </a:solidFill>
              </a:rPr>
              <a:t>Cross-subsidy — </a:t>
            </a:r>
            <a:r>
              <a:rPr sz="1150">
                <a:solidFill>
                  <a:srgbClr val="1A1A1A"/>
                </a:solidFill>
              </a:rPr>
              <a:t>subsidising the side that attracts the paying side.</a:t>
            </a:r>
          </a:p>
          <a:p>
            <a:pPr>
              <a:spcAft>
                <a:spcPts val="600"/>
              </a:spcAft>
            </a:pPr>
            <a:r>
              <a:rPr sz="1150" b="1">
                <a:solidFill>
                  <a:srgbClr val="0C2B4A"/>
                </a:solidFill>
              </a:rPr>
              <a:t>Marginal cost — </a:t>
            </a:r>
            <a:r>
              <a:rPr sz="1150">
                <a:solidFill>
                  <a:srgbClr val="1A1A1A"/>
                </a:solidFill>
              </a:rPr>
              <a:t>the cost of serving one more user (near-zero for digital).</a:t>
            </a:r>
          </a:p>
          <a:p>
            <a:pPr>
              <a:spcAft>
                <a:spcPts val="600"/>
              </a:spcAft>
            </a:pPr>
            <a:r>
              <a:rPr sz="1150" b="1">
                <a:solidFill>
                  <a:srgbClr val="0C2B4A"/>
                </a:solidFill>
              </a:rPr>
              <a:t>Economies of scale — </a:t>
            </a:r>
            <a:r>
              <a:rPr sz="1150">
                <a:solidFill>
                  <a:srgbClr val="1A1A1A"/>
                </a:solidFill>
              </a:rPr>
              <a:t>average cost per user falls as the platform grows.</a:t>
            </a:r>
          </a:p>
          <a:p>
            <a:pPr>
              <a:spcAft>
                <a:spcPts val="600"/>
              </a:spcAft>
            </a:pPr>
            <a:r>
              <a:rPr sz="1150" b="1">
                <a:solidFill>
                  <a:srgbClr val="0C2B4A"/>
                </a:solidFill>
              </a:rPr>
              <a:t>Economies of scope — </a:t>
            </a:r>
            <a:r>
              <a:rPr sz="1150">
                <a:solidFill>
                  <a:srgbClr val="1A1A1A"/>
                </a:solidFill>
              </a:rPr>
              <a:t>one infrastructure/dataset serves many products.</a:t>
            </a:r>
          </a:p>
          <a:p>
            <a:pPr>
              <a:spcAft>
                <a:spcPts val="600"/>
              </a:spcAft>
            </a:pPr>
            <a:r>
              <a:rPr sz="1150" b="1">
                <a:solidFill>
                  <a:srgbClr val="0C2B4A"/>
                </a:solidFill>
              </a:rPr>
              <a:t>Chicken-and-egg problem — </a:t>
            </a:r>
            <a:r>
              <a:rPr sz="1150">
                <a:solidFill>
                  <a:srgbClr val="1A1A1A"/>
                </a:solidFill>
              </a:rPr>
              <a:t>neither side of a platform will join before the other.</a:t>
            </a:r>
          </a:p>
        </p:txBody>
      </p:sp>
      <p:sp>
        <p:nvSpPr>
          <p:cNvPr id="6" name="TextBox 5"/>
          <p:cNvSpPr txBox="1"/>
          <p:nvPr/>
        </p:nvSpPr>
        <p:spPr>
          <a:xfrm>
            <a:off x="6199632" y="1600200"/>
            <a:ext cx="5349240" cy="4846320"/>
          </a:xfrm>
          <a:prstGeom prst="rect">
            <a:avLst/>
          </a:prstGeom>
          <a:noFill/>
        </p:spPr>
        <p:txBody>
          <a:bodyPr wrap="square">
            <a:spAutoFit/>
          </a:bodyPr>
          <a:lstStyle/>
          <a:p>
            <a:pPr>
              <a:spcAft>
                <a:spcPts val="600"/>
              </a:spcAft>
            </a:pPr>
            <a:r>
              <a:rPr sz="1150" b="1">
                <a:solidFill>
                  <a:srgbClr val="0C2B4A"/>
                </a:solidFill>
              </a:rPr>
              <a:t>Critical mass / liquidity — </a:t>
            </a:r>
            <a:r>
              <a:rPr sz="1150">
                <a:solidFill>
                  <a:srgbClr val="1A1A1A"/>
                </a:solidFill>
              </a:rPr>
              <a:t>enough participants that the network effect self-sustains.</a:t>
            </a:r>
          </a:p>
          <a:p>
            <a:pPr>
              <a:spcAft>
                <a:spcPts val="600"/>
              </a:spcAft>
            </a:pPr>
            <a:r>
              <a:rPr sz="1150" b="1">
                <a:solidFill>
                  <a:srgbClr val="0C2B4A"/>
                </a:solidFill>
              </a:rPr>
              <a:t>Flywheel — </a:t>
            </a:r>
            <a:r>
              <a:rPr sz="1150">
                <a:solidFill>
                  <a:srgbClr val="1A1A1A"/>
                </a:solidFill>
              </a:rPr>
              <a:t>a designed positive-feedback loop (acquire→activate→engage→retain).</a:t>
            </a:r>
          </a:p>
          <a:p>
            <a:pPr>
              <a:spcAft>
                <a:spcPts val="600"/>
              </a:spcAft>
            </a:pPr>
            <a:r>
              <a:rPr sz="1150" b="1">
                <a:solidFill>
                  <a:srgbClr val="0C2B4A"/>
                </a:solidFill>
              </a:rPr>
              <a:t>Switching cost — </a:t>
            </a:r>
            <a:r>
              <a:rPr sz="1150">
                <a:solidFill>
                  <a:srgbClr val="1A1A1A"/>
                </a:solidFill>
              </a:rPr>
              <a:t>what a user loses/spends to move to another platform.</a:t>
            </a:r>
          </a:p>
          <a:p>
            <a:pPr>
              <a:spcAft>
                <a:spcPts val="600"/>
              </a:spcAft>
            </a:pPr>
            <a:r>
              <a:rPr sz="1150" b="1">
                <a:solidFill>
                  <a:srgbClr val="0C2B4A"/>
                </a:solidFill>
              </a:rPr>
              <a:t>Lock-in — </a:t>
            </a:r>
            <a:r>
              <a:rPr sz="1150">
                <a:solidFill>
                  <a:srgbClr val="1A1A1A"/>
                </a:solidFill>
              </a:rPr>
              <a:t>high switching costs that keep users from leaving.</a:t>
            </a:r>
          </a:p>
          <a:p>
            <a:pPr>
              <a:spcAft>
                <a:spcPts val="600"/>
              </a:spcAft>
            </a:pPr>
            <a:r>
              <a:rPr sz="1150" b="1">
                <a:solidFill>
                  <a:srgbClr val="0C2B4A"/>
                </a:solidFill>
              </a:rPr>
              <a:t>Walled garden — </a:t>
            </a:r>
            <a:r>
              <a:rPr sz="1150">
                <a:solidFill>
                  <a:srgbClr val="1A1A1A"/>
                </a:solidFill>
              </a:rPr>
              <a:t>a closed ecosystem, smooth inside, hard to leave.</a:t>
            </a:r>
          </a:p>
          <a:p>
            <a:pPr>
              <a:spcAft>
                <a:spcPts val="600"/>
              </a:spcAft>
            </a:pPr>
            <a:r>
              <a:rPr sz="1150" b="1">
                <a:solidFill>
                  <a:srgbClr val="0C2B4A"/>
                </a:solidFill>
              </a:rPr>
              <a:t>Multi-homing — </a:t>
            </a:r>
            <a:r>
              <a:rPr sz="1150">
                <a:solidFill>
                  <a:srgbClr val="1A1A1A"/>
                </a:solidFill>
              </a:rPr>
              <a:t>using several competing platforms at once.</a:t>
            </a:r>
          </a:p>
          <a:p>
            <a:pPr>
              <a:spcAft>
                <a:spcPts val="600"/>
              </a:spcAft>
            </a:pPr>
            <a:r>
              <a:rPr sz="1150" b="1">
                <a:solidFill>
                  <a:srgbClr val="0C2B4A"/>
                </a:solidFill>
              </a:rPr>
              <a:t>Winner-take-most — </a:t>
            </a:r>
            <a:r>
              <a:rPr sz="1150">
                <a:solidFill>
                  <a:srgbClr val="1A1A1A"/>
                </a:solidFill>
              </a:rPr>
              <a:t>the leader captures most of the market; rivals fade.</a:t>
            </a:r>
          </a:p>
          <a:p>
            <a:pPr>
              <a:spcAft>
                <a:spcPts val="600"/>
              </a:spcAft>
            </a:pPr>
            <a:r>
              <a:rPr sz="1150" b="1">
                <a:solidFill>
                  <a:srgbClr val="0C2B4A"/>
                </a:solidFill>
              </a:rPr>
              <a:t>Tipping point — </a:t>
            </a:r>
            <a:r>
              <a:rPr sz="1150">
                <a:solidFill>
                  <a:srgbClr val="1A1A1A"/>
                </a:solidFill>
              </a:rPr>
              <a:t>when a market tips decisively to one platform.</a:t>
            </a:r>
          </a:p>
          <a:p>
            <a:pPr>
              <a:spcAft>
                <a:spcPts val="600"/>
              </a:spcAft>
            </a:pPr>
            <a:r>
              <a:rPr sz="1150" b="1">
                <a:solidFill>
                  <a:srgbClr val="0C2B4A"/>
                </a:solidFill>
              </a:rPr>
              <a:t>Data advantage — </a:t>
            </a:r>
            <a:r>
              <a:rPr sz="1150">
                <a:solidFill>
                  <a:srgbClr val="1A1A1A"/>
                </a:solidFill>
              </a:rPr>
              <a:t>more users → more data → a better product.</a:t>
            </a:r>
          </a:p>
          <a:p>
            <a:pPr>
              <a:spcAft>
                <a:spcPts val="600"/>
              </a:spcAft>
            </a:pPr>
            <a:r>
              <a:rPr sz="1150" b="1">
                <a:solidFill>
                  <a:srgbClr val="0C2B4A"/>
                </a:solidFill>
              </a:rPr>
              <a:t>Monopoly / oligopoly — </a:t>
            </a:r>
            <a:r>
              <a:rPr sz="1150">
                <a:solidFill>
                  <a:srgbClr val="1A1A1A"/>
                </a:solidFill>
              </a:rPr>
              <a:t>one / a few dominant sellers.</a:t>
            </a:r>
          </a:p>
          <a:p>
            <a:pPr>
              <a:spcAft>
                <a:spcPts val="600"/>
              </a:spcAft>
            </a:pPr>
            <a:r>
              <a:rPr sz="1150" b="1">
                <a:solidFill>
                  <a:srgbClr val="0C2B4A"/>
                </a:solidFill>
              </a:rPr>
              <a:t>Monopsony / oligopsony — </a:t>
            </a:r>
            <a:r>
              <a:rPr sz="1150">
                <a:solidFill>
                  <a:srgbClr val="1A1A1A"/>
                </a:solidFill>
              </a:rPr>
              <a:t>one / a few dominant BUYERS with market power.</a:t>
            </a:r>
          </a:p>
          <a:p>
            <a:pPr>
              <a:spcAft>
                <a:spcPts val="600"/>
              </a:spcAft>
            </a:pPr>
            <a:r>
              <a:rPr sz="1150" b="1">
                <a:solidFill>
                  <a:srgbClr val="0C2B4A"/>
                </a:solidFill>
              </a:rPr>
              <a:t>Entry barrier — </a:t>
            </a:r>
            <a:r>
              <a:rPr sz="1150">
                <a:solidFill>
                  <a:srgbClr val="1A1A1A"/>
                </a:solidFill>
              </a:rPr>
              <a:t>what makes it hard for a new competitor to enter.</a:t>
            </a:r>
          </a:p>
          <a:p>
            <a:pPr>
              <a:spcAft>
                <a:spcPts val="600"/>
              </a:spcAft>
            </a:pPr>
            <a:r>
              <a:rPr sz="1150" b="1">
                <a:solidFill>
                  <a:srgbClr val="0C2B4A"/>
                </a:solidFill>
              </a:rPr>
              <a:t>Data portability — </a:t>
            </a:r>
            <a:r>
              <a:rPr sz="1150">
                <a:solidFill>
                  <a:srgbClr val="1A1A1A"/>
                </a:solidFill>
              </a:rPr>
              <a:t>the right to take your data to a rival service.</a:t>
            </a:r>
          </a:p>
          <a:p>
            <a:pPr>
              <a:spcAft>
                <a:spcPts val="600"/>
              </a:spcAft>
            </a:pPr>
            <a:r>
              <a:rPr sz="1150" b="1">
                <a:solidFill>
                  <a:srgbClr val="0C2B4A"/>
                </a:solidFill>
              </a:rPr>
              <a:t>Interoperability — </a:t>
            </a:r>
            <a:r>
              <a:rPr sz="1150">
                <a:solidFill>
                  <a:srgbClr val="1A1A1A"/>
                </a:solidFill>
              </a:rPr>
              <a:t>requiring platforms/standards to work together.</a:t>
            </a:r>
          </a:p>
          <a:p>
            <a:pPr>
              <a:spcAft>
                <a:spcPts val="600"/>
              </a:spcAft>
            </a:pPr>
            <a:r>
              <a:rPr sz="1150" b="1">
                <a:solidFill>
                  <a:srgbClr val="0C2B4A"/>
                </a:solidFill>
              </a:rPr>
              <a:t>Digital adoption — </a:t>
            </a:r>
            <a:r>
              <a:rPr sz="1150">
                <a:solidFill>
                  <a:srgbClr val="1A1A1A"/>
                </a:solidFill>
              </a:rPr>
              <a:t>the effective USE of digital tools (not just access).</a:t>
            </a:r>
          </a:p>
          <a:p>
            <a:pPr>
              <a:spcAft>
                <a:spcPts val="600"/>
              </a:spcAft>
            </a:pPr>
            <a:r>
              <a:rPr sz="1150" b="1">
                <a:solidFill>
                  <a:srgbClr val="0C2B4A"/>
                </a:solidFill>
              </a:rPr>
              <a:t>World Bank DAI — </a:t>
            </a:r>
            <a:r>
              <a:rPr sz="1150">
                <a:solidFill>
                  <a:srgbClr val="1A1A1A"/>
                </a:solidFill>
              </a:rPr>
              <a:t>Digital Adoption Index — People, Business, Government pillars.</a:t>
            </a:r>
          </a:p>
          <a:p>
            <a:pPr>
              <a:spcAft>
                <a:spcPts val="600"/>
              </a:spcAft>
            </a:pPr>
            <a:r>
              <a:rPr sz="1150" b="1">
                <a:solidFill>
                  <a:srgbClr val="0C2B4A"/>
                </a:solidFill>
              </a:rPr>
              <a:t>OECD DGI — </a:t>
            </a:r>
            <a:r>
              <a:rPr sz="1150">
                <a:solidFill>
                  <a:srgbClr val="1A1A1A"/>
                </a:solidFill>
              </a:rPr>
              <a:t>Digital Government Index — 6 dimensions of gov digital maturity.</a:t>
            </a:r>
          </a:p>
          <a:p>
            <a:pPr>
              <a:spcAft>
                <a:spcPts val="600"/>
              </a:spcAft>
            </a:pPr>
            <a:r>
              <a:rPr sz="1150" b="1">
                <a:solidFill>
                  <a:srgbClr val="0C2B4A"/>
                </a:solidFill>
              </a:rPr>
              <a:t>Digital by design — </a:t>
            </a:r>
            <a:r>
              <a:rPr sz="1150">
                <a:solidFill>
                  <a:srgbClr val="1A1A1A"/>
                </a:solidFill>
              </a:rPr>
              <a:t>services built digitally from the start, not paper copied.</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96 / 100</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UNIT 2 · REVISION</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Consolidated end-of-unit quiz</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Twelve MCQs across the whole unit (answers shown), then short-answer, applied-case, and discussion questions to work from the concept slides and Unit2_material.md.</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97 / 100</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Section A — Multiple choice (answers shown)</a:t>
            </a:r>
          </a:p>
        </p:txBody>
      </p:sp>
      <p:sp>
        <p:nvSpPr>
          <p:cNvPr id="5" name="TextBox 4"/>
          <p:cNvSpPr txBox="1"/>
          <p:nvPr/>
        </p:nvSpPr>
        <p:spPr>
          <a:xfrm>
            <a:off x="640080" y="1600200"/>
            <a:ext cx="10881360" cy="4846320"/>
          </a:xfrm>
          <a:prstGeom prst="rect">
            <a:avLst/>
          </a:prstGeom>
          <a:noFill/>
        </p:spPr>
        <p:txBody>
          <a:bodyPr wrap="square">
            <a:spAutoFit/>
          </a:bodyPr>
          <a:lstStyle/>
          <a:p>
            <a:pPr lvl="1"/>
            <a:r>
              <a:rPr sz="1250" b="1">
                <a:solidFill>
                  <a:srgbClr val="0F6E56"/>
                </a:solidFill>
              </a:rPr>
              <a:t>1.  A platform business differs from a pipe in that   →  ✅ users create the value for each other</a:t>
            </a:r>
          </a:p>
          <a:p>
            <a:pPr lvl="1"/>
            <a:r>
              <a:rPr sz="1250" b="1">
                <a:solidFill>
                  <a:srgbClr val="0F6E56"/>
                </a:solidFill>
              </a:rPr>
              <a:t>2.  A multi-sided platform connects   →  ✅ 2+ interdependent groups (solves matching)</a:t>
            </a:r>
          </a:p>
          <a:p>
            <a:pPr lvl="1"/>
            <a:r>
              <a:rPr sz="1250" b="1">
                <a:solidFill>
                  <a:srgbClr val="0F6E56"/>
                </a:solidFill>
              </a:rPr>
              <a:t>3.  Riders-attract-drivers-attract-riders is a   →  ✅ indirect / cross-side network effect</a:t>
            </a:r>
          </a:p>
          <a:p>
            <a:pPr lvl="1"/>
            <a:r>
              <a:rPr sz="1250" b="1">
                <a:solidFill>
                  <a:srgbClr val="0F6E56"/>
                </a:solidFill>
              </a:rPr>
              <a:t>4.  TikTok's feed improving with use is a   →  ✅ data network effect</a:t>
            </a:r>
          </a:p>
          <a:p>
            <a:pPr lvl="1"/>
            <a:r>
              <a:rPr sz="1250" b="1">
                <a:solidFill>
                  <a:srgbClr val="0F6E56"/>
                </a:solidFill>
              </a:rPr>
              <a:t>5.  Google is free to users because   →  ✅ advertisers (money side) pay for their attention</a:t>
            </a:r>
          </a:p>
          <a:p>
            <a:pPr lvl="1"/>
            <a:r>
              <a:rPr sz="1250" b="1">
                <a:solidFill>
                  <a:srgbClr val="0F6E56"/>
                </a:solidFill>
              </a:rPr>
              <a:t>6.  As a digital platform scales, average cost per user   →  ✅ falls (near-zero marginal cost)</a:t>
            </a:r>
          </a:p>
          <a:p>
            <a:pPr lvl="1"/>
            <a:r>
              <a:rPr sz="1250" b="1">
                <a:solidFill>
                  <a:srgbClr val="0F6E56"/>
                </a:solidFill>
              </a:rPr>
              <a:t>7.  Neither side joining first is the   →  ✅ chicken-and-egg problem</a:t>
            </a:r>
          </a:p>
          <a:p>
            <a:pPr lvl="1"/>
            <a:r>
              <a:rPr sz="1250" b="1">
                <a:solidFill>
                  <a:srgbClr val="0F6E56"/>
                </a:solidFill>
              </a:rPr>
              <a:t>8.  A flywheel differs from a network effect in that it is   →  ✅ designed, not natural</a:t>
            </a:r>
          </a:p>
          <a:p>
            <a:pPr lvl="1"/>
            <a:r>
              <a:rPr sz="1250" b="1">
                <a:solidFill>
                  <a:srgbClr val="0F6E56"/>
                </a:solidFill>
              </a:rPr>
              <a:t>9.  Losing chat history + groups if you leave = which switching costs   →  ✅ data/asset + network/social</a:t>
            </a:r>
          </a:p>
          <a:p>
            <a:pPr lvl="1"/>
            <a:r>
              <a:rPr sz="1250" b="1">
                <a:solidFill>
                  <a:srgbClr val="0F6E56"/>
                </a:solidFill>
              </a:rPr>
              <a:t>10.  'Winner-take-most' is driven by   →  ✅ increasing returns (network effects + scale + lock-in)</a:t>
            </a:r>
          </a:p>
          <a:p>
            <a:pPr lvl="1"/>
            <a:r>
              <a:rPr sz="1250" b="1">
                <a:solidFill>
                  <a:srgbClr val="0F6E56"/>
                </a:solidFill>
              </a:rPr>
              <a:t>11.  Amazon dictating terms to dependent sellers is   →  ✅ monopsony (buyer power)</a:t>
            </a:r>
          </a:p>
          <a:p>
            <a:pPr lvl="1"/>
            <a:r>
              <a:rPr sz="1250" b="1">
                <a:solidFill>
                  <a:srgbClr val="0F6E56"/>
                </a:solidFill>
              </a:rPr>
              <a:t>12.  The OECD DGI measures   →  ✅ digital-government maturity (6 dimensions)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98 / 100</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Sections B–D — short answer, applied case &amp; discussion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500"/>
              </a:spcBef>
            </a:pPr>
            <a:r>
              <a:rPr sz="1400" b="1">
                <a:solidFill>
                  <a:srgbClr val="0C2B4A"/>
                </a:solidFill>
              </a:rPr>
              <a:t>Section B — Short answer</a:t>
            </a:r>
          </a:p>
          <a:p>
            <a:pPr lvl="1">
              <a:spcBef>
                <a:spcPts val="200"/>
              </a:spcBef>
            </a:pPr>
            <a:r>
              <a:rPr sz="1250" i="1">
                <a:solidFill>
                  <a:srgbClr val="1A1A1A"/>
                </a:solidFill>
              </a:rPr>
              <a:t>13. Define a multi-sided platform + name 2 value-creation mechanisms.   14. Name the 4 network-effect types with an example each.   15. Explain cross-subsidy with one example.</a:t>
            </a:r>
          </a:p>
          <a:p>
            <a:pPr lvl="1">
              <a:spcBef>
                <a:spcPts val="200"/>
              </a:spcBef>
            </a:pPr>
            <a:r>
              <a:rPr sz="1250" i="1">
                <a:solidFill>
                  <a:srgbClr val="1A1A1A"/>
                </a:solidFill>
              </a:rPr>
              <a:t>16. List the 6 forces behind digital monopolies.   17. Name the DAI's 3 pillars and the OECD DGI.</a:t>
            </a:r>
          </a:p>
          <a:p>
            <a:pPr>
              <a:spcBef>
                <a:spcPts val="500"/>
              </a:spcBef>
            </a:pPr>
            <a:r>
              <a:rPr sz="1400" b="1">
                <a:solidFill>
                  <a:srgbClr val="0C2B4A"/>
                </a:solidFill>
              </a:rPr>
              <a:t>Section C — Applied case</a:t>
            </a:r>
          </a:p>
          <a:p>
            <a:pPr lvl="1">
              <a:spcBef>
                <a:spcPts val="200"/>
              </a:spcBef>
            </a:pPr>
            <a:r>
              <a:rPr sz="1250" i="1">
                <a:solidFill>
                  <a:srgbClr val="1A1A1A"/>
                </a:solidFill>
              </a:rPr>
              <a:t>18. Choose ONE Nepali platform (Pathao / eSewa / Daraz / Foodmandu) and analyse it on: network effect · lock-in · switching cost · monopoly risk.</a:t>
            </a:r>
          </a:p>
          <a:p>
            <a:pPr lvl="1">
              <a:spcBef>
                <a:spcPts val="200"/>
              </a:spcBef>
            </a:pPr>
            <a:r>
              <a:rPr sz="1250" i="1">
                <a:solidFill>
                  <a:srgbClr val="1A1A1A"/>
                </a:solidFill>
              </a:rPr>
              <a:t>19. Assess Nepal on the DAI's three pillars (People / Business / Government) and justify each rating.</a:t>
            </a:r>
          </a:p>
          <a:p>
            <a:pPr>
              <a:spcBef>
                <a:spcPts val="500"/>
              </a:spcBef>
            </a:pPr>
            <a:r>
              <a:rPr sz="1400" b="1">
                <a:solidFill>
                  <a:srgbClr val="0C2B4A"/>
                </a:solidFill>
              </a:rPr>
              <a:t>Section D — Discussion</a:t>
            </a:r>
          </a:p>
          <a:p>
            <a:pPr lvl="1">
              <a:spcBef>
                <a:spcPts val="200"/>
              </a:spcBef>
            </a:pPr>
            <a:r>
              <a:rPr sz="1250" i="1">
                <a:solidFill>
                  <a:srgbClr val="1A1A1A"/>
                </a:solidFill>
              </a:rPr>
              <a:t>20. 'Are digital monopolies inevitable?' Argue using tipping/winner-take-most vs the PickMe/ONDC counter-cases.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99 / 100</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0C2B4A"/>
        </a:solidFill>
        <a:effectLst/>
      </p:bgPr>
    </p:bg>
    <p:spTree>
      <p:nvGrpSpPr>
        <p:cNvPr id="1" name=""/>
        <p:cNvGrpSpPr/>
        <p:nvPr/>
      </p:nvGrpSpPr>
      <p:grpSpPr/>
      <p:sp>
        <p:nvSpPr>
          <p:cNvPr id="2" name="Rectangle 1"/>
          <p:cNvSpPr/>
          <p:nvPr/>
        </p:nvSpPr>
        <p:spPr>
          <a:xfrm>
            <a:off x="822960" y="2788920"/>
            <a:ext cx="1463040" cy="91440"/>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1005840"/>
          </a:xfrm>
          <a:prstGeom prst="rect">
            <a:avLst/>
          </a:prstGeom>
          <a:noFill/>
        </p:spPr>
        <p:txBody>
          <a:bodyPr wrap="square">
            <a:spAutoFit/>
          </a:bodyPr>
          <a:lstStyle/>
          <a:p>
            <a:r>
              <a:rPr sz="3300" b="1">
                <a:solidFill>
                  <a:srgbClr val="FFFFFF"/>
                </a:solidFill>
              </a:rPr>
              <a:t>End of Unit 2  ·  IT 250</a:t>
            </a:r>
          </a:p>
        </p:txBody>
      </p:sp>
      <p:sp>
        <p:nvSpPr>
          <p:cNvPr id="4" name="TextBox 3"/>
          <p:cNvSpPr txBox="1"/>
          <p:nvPr/>
        </p:nvSpPr>
        <p:spPr>
          <a:xfrm>
            <a:off x="822960" y="3017520"/>
            <a:ext cx="10515600" cy="1097280"/>
          </a:xfrm>
          <a:prstGeom prst="rect">
            <a:avLst/>
          </a:prstGeom>
          <a:noFill/>
        </p:spPr>
        <p:txBody>
          <a:bodyPr wrap="square">
            <a:spAutoFit/>
          </a:bodyPr>
          <a:lstStyle/>
          <a:p>
            <a:r>
              <a:rPr sz="1800">
                <a:solidFill>
                  <a:srgbClr val="CFDDEA"/>
                </a:solidFill>
              </a:rPr>
              <a:t>S9–S15 complete: multi-sided platforms · network effects &amp; positive feedback · two-sided pricing (who pays/who's subsidised) · lock-in, switching costs &amp; the flywheel · formation of monopolies (the six forces) · risks &amp; regulation · measuring digital adoption (DAI &amp; OECD DGI)</a:t>
            </a:r>
          </a:p>
        </p:txBody>
      </p:sp>
      <p:sp>
        <p:nvSpPr>
          <p:cNvPr id="5" name="TextBox 4"/>
          <p:cNvSpPr txBox="1"/>
          <p:nvPr/>
        </p:nvSpPr>
        <p:spPr>
          <a:xfrm>
            <a:off x="822960" y="5852160"/>
            <a:ext cx="10515600" cy="731520"/>
          </a:xfrm>
          <a:prstGeom prst="rect">
            <a:avLst/>
          </a:prstGeom>
          <a:noFill/>
        </p:spPr>
        <p:txBody>
          <a:bodyPr wrap="square">
            <a:spAutoFit/>
          </a:bodyPr>
          <a:lstStyle/>
          <a:p>
            <a:r>
              <a:rPr sz="1300">
                <a:solidFill>
                  <a:srgbClr val="9AB2C6"/>
                </a:solidFill>
              </a:rPr>
              <a:t>Built to COURSE_MATERIAL_STANDARD.md incl. the §7A depth rule · comparison &amp; concrete-example tables throughout · self-contained, PDF-safe, Nepal-localised · Next: Unit 3 — Digital Markets, Strategy &amp; Innovation.</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100 / 100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