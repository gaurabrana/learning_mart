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the counter-to-code shift. Agenda: what e-governance is -&gt; its four goals -&gt; the G2C/G2B/G2G/G2E types.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it is redesign, not just scanning old forms. Nagarik App as the anchor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Link each goal to a Nepal example (e-procurement = transparency + accountability). Use the 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diagram. Have students place Nagarik App (G2C), IRD e-VAT (G2B), budget system (G2G), payroll (G2E).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definition, the four goals (T-E-A-P) and the four types (G2C/G2B/G2G/G2E).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Trace one tap through the system. Agenda: the process model -&gt; the 4-layer architecture + security -&gt; maturity stages and where Nepal sits.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Emphasise feedback — the step Nepal most often skips, so services don't improve. Use the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stack diagram. 'Server down' = infrastructure layer failed. Security is not a 5th layer — it crosses 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Nepal has transactional services (pay tax, apply passport) but they are not 'connected' (siloed). Use the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Drill the process order, the four layers, and the transactional-vs-connected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the policy promise with the Humla reality. Agenda: named initiatives -&gt; the policy framework (fresh) -&gt; the 8 sectors &amp; the integration gap. NOTE: policy names/dates from general knowledge — flag 'verify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These are real and used — but uneven. Use the table; note the integration gap comes in Concept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FLAG: names/dates from general knowledge — say 'verify current status'. Use the policy-instrument 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8-sector diagram. The '60 vs 45' figure is reported — flag it. This is the 'built vs written' verdict.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policy stack, the 8 sectors, and the built-vs-written / integration-gap idea.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Three vignettes of inclusion. Agenda: what inclusion is &amp; why it matters -&gt; the ecosystem, wallet flow &amp; regulation (NRB/NTA, fresh) -&gt; rural gaps &amp; impact.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access AND use. Credit access via wallet history is the underrated benefit. Use the stakeholder table.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FRESH regulation content — flag 'verify status'. Interoperability (NepalPay QR) is the key modern win. Use diagram + 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41% figure is reported — flag it. Solutions are concrete (agents, USSD, simplified KYC). Use the challenge-&gt;solution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NRB-vs-NTA roles, inclusion = use (not ownership), and one barrier-&gt;solution pair.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Set up the honest-scorecard framing. Agenda: the opportunities (with matching gaps) -&gt; the digital divide -&gt; the cybersecurity &amp; data-protection gap (fresh).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Model the scorecard method: never a win without its gap. Use the comparison table.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'13+ PMs' figure is reported — flag it. The divide is multi-dimensional. Use the divide 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FRESH content — flag 'verify current status'. This gap threatens all the wins. Use the legal-stack table.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honest scorecard, the multi-dimensional digital divide, and the data-protection gap.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Value moving from middlemen to producers. Agenda: digital trade + LDC-2026 clock -&gt; digital tourism -&gt; the win-vs-gap beyond the cities.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LDC-2026 &amp; UPI figures are reported — flag them. The win/gap comes next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QR-ticketing sites are reported examples — flag. Small operator + global reach is the key story. Use the table.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Tie back to S44's Digital Foundation. Use the barrier table; keep it concrete.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LDC-2026 clock, digital tourism's reach win, and the city-vs-hills access gap.</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'Great tool, broken access.' Agenda: agriculture (tool vs access) -&gt; SMEs (win vs barriers) -&gt; the 4-sector scorecard &amp; the whole-course synthesis.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TelePlantDoctor/FAO 2024 is reported — flag. 'Great tool, broken access' is the memory line. Use the table.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SME figures are reported — flag. Link back to S45: wallet history as credit is the bridge. Use the table.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scorecard image to synthesise the whole course. Land the honest verdict; feed the closing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 — capstone.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Close on 'great tool, broken access', SMEs as the backbone, and the whole-course 2035 verdict.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 This is the final teaching session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(No genuine IT 250 past-paper exists — built from the syllabus + the in-lecture character scenarios.)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 Correct-answer positions vary across b/c/d; key matches.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Unit6_material.md.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6 — Digitalization in the Nepalese Perspective</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250: Digital Economy  ·  BIM 8th Semester  ·  Sessions S42–S48 (7 lecture hours)  ·  CLOSES THE COURSE</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Nepal deep-dive: e-governance, digital financial inclusion, public-sector opportunity vs challenge, and sector performance (trade, tourism, agriculture, SMEs). Self-contained, PDF-safe, §7A depth tables. Policy/figures flagged 'verify current status' / 'reported' — do not over-claim precision.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NEPAL PERSPECTIVE  ·  S42–S48</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6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e-governance and explain its goals, its G2C/G2B/G2G/G2E types, process, and structure (S42–S43)</a:t>
            </a:r>
          </a:p>
          <a:p>
            <a:pPr>
              <a:spcAft>
                <a:spcPts val="500"/>
              </a:spcAft>
            </a:pPr>
            <a:r>
              <a:rPr sz="1450">
                <a:solidFill>
                  <a:srgbClr val="1A1A1A"/>
                </a:solidFill>
              </a:rPr>
              <a:t>•  Describe Nepal's e-governance practices and policy framework — IT Policy 2072, Digital Nepal Framework, National ID (S44)</a:t>
            </a:r>
          </a:p>
          <a:p>
            <a:pPr>
              <a:spcAft>
                <a:spcPts val="500"/>
              </a:spcAft>
            </a:pPr>
            <a:r>
              <a:rPr sz="1450">
                <a:solidFill>
                  <a:srgbClr val="1A1A1A"/>
                </a:solidFill>
              </a:rPr>
              <a:t>•  Explain digital financial inclusion in Nepal, its ecosystem, and its regulation — NRB, NTA, NepalPay QR (S45)</a:t>
            </a:r>
          </a:p>
          <a:p>
            <a:pPr>
              <a:spcAft>
                <a:spcPts val="500"/>
              </a:spcAft>
            </a:pPr>
            <a:r>
              <a:rPr sz="1450">
                <a:solidFill>
                  <a:srgbClr val="1A1A1A"/>
                </a:solidFill>
              </a:rPr>
              <a:t>•  Analyse the opportunities and challenges of public-sector digital transformation, incl. the data-protection gap (S46)</a:t>
            </a:r>
          </a:p>
          <a:p>
            <a:pPr>
              <a:spcAft>
                <a:spcPts val="500"/>
              </a:spcAft>
            </a:pPr>
            <a:r>
              <a:rPr sz="1450">
                <a:solidFill>
                  <a:srgbClr val="1A1A1A"/>
                </a:solidFill>
              </a:rPr>
              <a:t>•  Assess digital transformation's impact on trade, tourism, agriculture, and SMEs in Nepal (S47–S48)</a:t>
            </a:r>
          </a:p>
          <a:p>
            <a:pPr>
              <a:spcAft>
                <a:spcPts val="500"/>
              </a:spcAft>
            </a:pPr>
            <a:r>
              <a:rPr sz="1450">
                <a:solidFill>
                  <a:srgbClr val="1A1A1A"/>
                </a:solidFill>
              </a:rPr>
              <a:t>•  Synthesise Nepal's digital-economy trajectory across all six units of IT 250 (S48)</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the final unit of IT 250. It grounds the whole course in Nepal: it applies platforms, network effects, pricing, transformation and the economics of information to Nepal's own state, money, and sectors — and closes with an honest, whole-course verdict.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(S42–S48)</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S42  E-governance: concepts &amp; goals (G2C/G2B/G2G/G2E)
S43  E-governance: process, structure &amp; maturity
S44  E-gov practices &amp; policy in Nepal (policy stack) ⭐
S45  Digital financial inclusion &amp; its regulation
S46  Opportunities, challenges &amp; the data-protection gap
S47  Economic performance: trade &amp; tourism
S48  Economic performance: agriculture &amp; SMEs (closes course)</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1  Introduction (digital/K-economy, 4IR) — done
Unit 2  Fundamentals (platforms, network effects) — done
Unit 3  Digital markets, strategy &amp; innovation — done
Unit 4  Digital transformation &amp; currencies — done
Unit 5  Economics of information — done
Unit 6  THIS UNIT — the Nepalese perspective (final)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42 · LECTURE HOUR 1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E-Governance: Concepts &amp; Goals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renew a passport online at midnight, pay the electricity bill from a tea shop in Jumla, and check a citizenship record on your phone — no queue, no ministry visit, no 'aaja hudaina, bholi aaunus'. That shift, from counters to code, is e-governance. This unit asks how far Nepal has actually travelled — and where it is stuck.</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E-Governance Is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E-governance is the use of ICT — websites, apps, databases, networks — by government to deliver public services, share information, and interact with citizens more efficiently and transparently. It is the digitalization of government: moving service delivery from paper counters to digital channels, and redesigning the service, not just computerising the old queue.</a:t>
            </a:r>
          </a:p>
          <a:p>
            <a:pPr>
              <a:spcAft>
                <a:spcPts val="500"/>
              </a:spcAft>
            </a:pPr>
            <a:r>
              <a:rPr sz="1200" b="1">
                <a:solidFill>
                  <a:srgbClr val="185FA5"/>
                </a:solidFill>
              </a:rPr>
              <a:t>HOW IT WORKS</a:t>
            </a:r>
          </a:p>
          <a:p>
            <a:pPr>
              <a:spcAft>
                <a:spcPts val="600"/>
              </a:spcAft>
            </a:pPr>
            <a:r>
              <a:rPr sz="1400">
                <a:solidFill>
                  <a:srgbClr val="1A1A1A"/>
                </a:solidFill>
              </a:rPr>
              <a:t>•  Digitalizes services: forms, records, payments and applications move online.</a:t>
            </a:r>
          </a:p>
          <a:p>
            <a:pPr>
              <a:spcAft>
                <a:spcPts val="600"/>
              </a:spcAft>
            </a:pPr>
            <a:r>
              <a:rPr sz="1400">
                <a:solidFill>
                  <a:srgbClr val="1A1A1A"/>
                </a:solidFill>
              </a:rPr>
              <a:t>•  Connects the state to four groups: citizens, businesses, other agencies, and its own staff.</a:t>
            </a:r>
          </a:p>
          <a:p>
            <a:pPr>
              <a:spcAft>
                <a:spcPts val="600"/>
              </a:spcAft>
            </a:pPr>
            <a:r>
              <a:rPr sz="1400">
                <a:solidFill>
                  <a:srgbClr val="1A1A1A"/>
                </a:solidFill>
              </a:rPr>
              <a:t>•  Aim is redesigned, accessible service — not merely 'computers in the office'.</a:t>
            </a:r>
          </a:p>
          <a:p>
            <a:pPr>
              <a:spcAft>
                <a:spcPts val="600"/>
              </a:spcAft>
            </a:pPr>
            <a:r>
              <a:rPr sz="1400">
                <a:solidFill>
                  <a:srgbClr val="1A1A1A"/>
                </a:solidFill>
              </a:rPr>
              <a:t>•  Broader than e-government: also covers participation and decision-making (e-democracy).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E-governance = using ICT to run and deliver government — counters become code.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service vs e-governed service in Nepal</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116666"/>
                <a:gridCol w="3527777"/>
                <a:gridCol w="3386666"/>
                <a:gridCol w="2398888"/>
              </a:tblGrid>
              <a:tr h="630936">
                <a:tc>
                  <a:txBody>
                    <a:bodyPr wrap="square"/>
                    <a:lstStyle/>
                    <a:p>
                      <a:r>
                        <a:rPr sz="1100" b="1">
                          <a:solidFill>
                            <a:srgbClr val="FFFFFF"/>
                          </a:solidFill>
                        </a:rPr>
                        <a:t>Service</a:t>
                      </a:r>
                    </a:p>
                  </a:txBody>
                  <a:tcPr anchor="ctr" marL="73152" marR="54864" marT="27432" marB="27432">
                    <a:solidFill>
                      <a:srgbClr val="0C2B4A"/>
                    </a:solidFill>
                  </a:tcPr>
                </a:tc>
                <a:tc>
                  <a:txBody>
                    <a:bodyPr wrap="square"/>
                    <a:lstStyle/>
                    <a:p>
                      <a:r>
                        <a:rPr sz="1100" b="1">
                          <a:solidFill>
                            <a:srgbClr val="FFFFFF"/>
                          </a:solidFill>
                        </a:rPr>
                        <a:t>Traditional (before)</a:t>
                      </a:r>
                    </a:p>
                  </a:txBody>
                  <a:tcPr anchor="ctr" marL="73152" marR="54864" marT="27432" marB="27432">
                    <a:solidFill>
                      <a:srgbClr val="0C2B4A"/>
                    </a:solidFill>
                  </a:tcPr>
                </a:tc>
                <a:tc>
                  <a:txBody>
                    <a:bodyPr wrap="square"/>
                    <a:lstStyle/>
                    <a:p>
                      <a:r>
                        <a:rPr sz="1100" b="1">
                          <a:solidFill>
                            <a:srgbClr val="FFFFFF"/>
                          </a:solidFill>
                        </a:rPr>
                        <a:t>E-governed (after)</a:t>
                      </a:r>
                    </a:p>
                  </a:txBody>
                  <a:tcPr anchor="ctr" marL="73152" marR="54864" marT="27432" marB="27432">
                    <a:solidFill>
                      <a:srgbClr val="0C2B4A"/>
                    </a:solidFill>
                  </a:tcPr>
                </a:tc>
                <a:tc>
                  <a:txBody>
                    <a:bodyPr wrap="square"/>
                    <a:lstStyle/>
                    <a:p>
                      <a:r>
                        <a:rPr sz="1100" b="1">
                          <a:solidFill>
                            <a:srgbClr val="FFFFFF"/>
                          </a:solidFill>
                        </a:rPr>
                        <a:t>Benefit</a:t>
                      </a:r>
                    </a:p>
                  </a:txBody>
                  <a:tcPr anchor="ctr" marL="73152" marR="54864" marT="27432" marB="27432">
                    <a:solidFill>
                      <a:srgbClr val="0C2B4A"/>
                    </a:solidFill>
                  </a:tcPr>
                </a:tc>
              </a:tr>
              <a:tr h="630936">
                <a:tc>
                  <a:txBody>
                    <a:bodyPr wrap="square"/>
                    <a:lstStyle/>
                    <a:p>
                      <a:r>
                        <a:rPr sz="1050" b="1">
                          <a:solidFill>
                            <a:srgbClr val="0C2B4A"/>
                          </a:solidFill>
                        </a:rPr>
                        <a:t>Passport</a:t>
                      </a:r>
                    </a:p>
                  </a:txBody>
                  <a:tcPr anchor="ctr" marL="73152" marR="54864" marT="27432" marB="27432">
                    <a:solidFill>
                      <a:srgbClr val="FFFFFF"/>
                    </a:solidFill>
                  </a:tcPr>
                </a:tc>
                <a:tc>
                  <a:txBody>
                    <a:bodyPr wrap="square"/>
                    <a:lstStyle/>
                    <a:p>
                      <a:r>
                        <a:rPr sz="1050">
                          <a:solidFill>
                            <a:srgbClr val="1A1A1A"/>
                          </a:solidFill>
                        </a:rPr>
                        <a:t>Queue at the passport dept, forms by hand</a:t>
                      </a:r>
                    </a:p>
                  </a:txBody>
                  <a:tcPr anchor="ctr" marL="73152" marR="54864" marT="27432" marB="27432">
                    <a:solidFill>
                      <a:srgbClr val="FFFFFF"/>
                    </a:solidFill>
                  </a:tcPr>
                </a:tc>
                <a:tc>
                  <a:txBody>
                    <a:bodyPr wrap="square"/>
                    <a:lstStyle/>
                    <a:p>
                      <a:r>
                        <a:rPr sz="1050">
                          <a:solidFill>
                            <a:srgbClr val="1A1A1A"/>
                          </a:solidFill>
                        </a:rPr>
                        <a:t>Online application + booked appointment</a:t>
                      </a:r>
                    </a:p>
                  </a:txBody>
                  <a:tcPr anchor="ctr" marL="73152" marR="54864" marT="27432" marB="27432">
                    <a:solidFill>
                      <a:srgbClr val="FFFFFF"/>
                    </a:solidFill>
                  </a:tcPr>
                </a:tc>
                <a:tc>
                  <a:txBody>
                    <a:bodyPr wrap="square"/>
                    <a:lstStyle/>
                    <a:p>
                      <a:r>
                        <a:rPr sz="1050">
                          <a:solidFill>
                            <a:srgbClr val="1A1A1A"/>
                          </a:solidFill>
                        </a:rPr>
                        <a:t>Less time, smaller crowd</a:t>
                      </a:r>
                    </a:p>
                  </a:txBody>
                  <a:tcPr anchor="ctr" marL="73152" marR="54864" marT="27432" marB="27432">
                    <a:solidFill>
                      <a:srgbClr val="FFFFFF"/>
                    </a:solidFill>
                  </a:tcPr>
                </a:tc>
              </a:tr>
              <a:tr h="630936">
                <a:tc>
                  <a:txBody>
                    <a:bodyPr wrap="square"/>
                    <a:lstStyle/>
                    <a:p>
                      <a:r>
                        <a:rPr sz="1050" b="1">
                          <a:solidFill>
                            <a:srgbClr val="0C2B4A"/>
                          </a:solidFill>
                        </a:rPr>
                        <a:t>Electricity bill</a:t>
                      </a:r>
                    </a:p>
                  </a:txBody>
                  <a:tcPr anchor="ctr" marL="73152" marR="54864" marT="27432" marB="27432">
                    <a:solidFill>
                      <a:srgbClr val="EEF3F8"/>
                    </a:solidFill>
                  </a:tcPr>
                </a:tc>
                <a:tc>
                  <a:txBody>
                    <a:bodyPr wrap="square"/>
                    <a:lstStyle/>
                    <a:p>
                      <a:r>
                        <a:rPr sz="1050">
                          <a:solidFill>
                            <a:srgbClr val="1A1A1A"/>
                          </a:solidFill>
                        </a:rPr>
                        <a:t>Queue at the NEA counter</a:t>
                      </a:r>
                    </a:p>
                  </a:txBody>
                  <a:tcPr anchor="ctr" marL="73152" marR="54864" marT="27432" marB="27432">
                    <a:solidFill>
                      <a:srgbClr val="EEF3F8"/>
                    </a:solidFill>
                  </a:tcPr>
                </a:tc>
                <a:tc>
                  <a:txBody>
                    <a:bodyPr wrap="square"/>
                    <a:lstStyle/>
                    <a:p>
                      <a:r>
                        <a:rPr sz="1050">
                          <a:solidFill>
                            <a:srgbClr val="1A1A1A"/>
                          </a:solidFill>
                        </a:rPr>
                        <a:t>Pay via eSewa/Khalti/ConnectIPS</a:t>
                      </a:r>
                    </a:p>
                  </a:txBody>
                  <a:tcPr anchor="ctr" marL="73152" marR="54864" marT="27432" marB="27432">
                    <a:solidFill>
                      <a:srgbClr val="EEF3F8"/>
                    </a:solidFill>
                  </a:tcPr>
                </a:tc>
                <a:tc>
                  <a:txBody>
                    <a:bodyPr wrap="square"/>
                    <a:lstStyle/>
                    <a:p>
                      <a:r>
                        <a:rPr sz="1050">
                          <a:solidFill>
                            <a:srgbClr val="1A1A1A"/>
                          </a:solidFill>
                        </a:rPr>
                        <a:t>Pay anytime, anywhere</a:t>
                      </a:r>
                    </a:p>
                  </a:txBody>
                  <a:tcPr anchor="ctr" marL="73152" marR="54864" marT="27432" marB="27432">
                    <a:solidFill>
                      <a:srgbClr val="EEF3F8"/>
                    </a:solidFill>
                  </a:tcPr>
                </a:tc>
              </a:tr>
              <a:tr h="630936">
                <a:tc>
                  <a:txBody>
                    <a:bodyPr wrap="square"/>
                    <a:lstStyle/>
                    <a:p>
                      <a:r>
                        <a:rPr sz="1050" b="1">
                          <a:solidFill>
                            <a:srgbClr val="0C2B4A"/>
                          </a:solidFill>
                        </a:rPr>
                        <a:t>Vehicle tax (Bluebook)</a:t>
                      </a:r>
                    </a:p>
                  </a:txBody>
                  <a:tcPr anchor="ctr" marL="73152" marR="54864" marT="27432" marB="27432">
                    <a:solidFill>
                      <a:srgbClr val="FFFFFF"/>
                    </a:solidFill>
                  </a:tcPr>
                </a:tc>
                <a:tc>
                  <a:txBody>
                    <a:bodyPr wrap="square"/>
                    <a:lstStyle/>
                    <a:p>
                      <a:r>
                        <a:rPr sz="1050">
                          <a:solidFill>
                            <a:srgbClr val="1A1A1A"/>
                          </a:solidFill>
                        </a:rPr>
                        <a:t>Queue at transport office, agents</a:t>
                      </a:r>
                    </a:p>
                  </a:txBody>
                  <a:tcPr anchor="ctr" marL="73152" marR="54864" marT="27432" marB="27432">
                    <a:solidFill>
                      <a:srgbClr val="FFFFFF"/>
                    </a:solidFill>
                  </a:tcPr>
                </a:tc>
                <a:tc>
                  <a:txBody>
                    <a:bodyPr wrap="square"/>
                    <a:lstStyle/>
                    <a:p>
                      <a:r>
                        <a:rPr sz="1050">
                          <a:solidFill>
                            <a:srgbClr val="1A1A1A"/>
                          </a:solidFill>
                        </a:rPr>
                        <a:t>Online / wallet tax payment</a:t>
                      </a:r>
                    </a:p>
                  </a:txBody>
                  <a:tcPr anchor="ctr" marL="73152" marR="54864" marT="27432" marB="27432">
                    <a:solidFill>
                      <a:srgbClr val="FFFFFF"/>
                    </a:solidFill>
                  </a:tcPr>
                </a:tc>
                <a:tc>
                  <a:txBody>
                    <a:bodyPr wrap="square"/>
                    <a:lstStyle/>
                    <a:p>
                      <a:r>
                        <a:rPr sz="1050">
                          <a:solidFill>
                            <a:srgbClr val="1A1A1A"/>
                          </a:solidFill>
                        </a:rPr>
                        <a:t>Faster, fewer touts</a:t>
                      </a:r>
                    </a:p>
                  </a:txBody>
                  <a:tcPr anchor="ctr" marL="73152" marR="54864" marT="27432" marB="27432">
                    <a:solidFill>
                      <a:srgbClr val="FFFFFF"/>
                    </a:solidFill>
                  </a:tcPr>
                </a:tc>
              </a:tr>
              <a:tr h="630936">
                <a:tc>
                  <a:txBody>
                    <a:bodyPr wrap="square"/>
                    <a:lstStyle/>
                    <a:p>
                      <a:r>
                        <a:rPr sz="1050" b="1">
                          <a:solidFill>
                            <a:srgbClr val="0C2B4A"/>
                          </a:solidFill>
                        </a:rPr>
                        <a:t>PAN / VAT filing</a:t>
                      </a:r>
                    </a:p>
                  </a:txBody>
                  <a:tcPr anchor="ctr" marL="73152" marR="54864" marT="27432" marB="27432">
                    <a:solidFill>
                      <a:srgbClr val="EEF3F8"/>
                    </a:solidFill>
                  </a:tcPr>
                </a:tc>
                <a:tc>
                  <a:txBody>
                    <a:bodyPr wrap="square"/>
                    <a:lstStyle/>
                    <a:p>
                      <a:r>
                        <a:rPr sz="1050">
                          <a:solidFill>
                            <a:srgbClr val="1A1A1A"/>
                          </a:solidFill>
                        </a:rPr>
                        <a:t>Visit the IRD office</a:t>
                      </a:r>
                    </a:p>
                  </a:txBody>
                  <a:tcPr anchor="ctr" marL="73152" marR="54864" marT="27432" marB="27432">
                    <a:solidFill>
                      <a:srgbClr val="EEF3F8"/>
                    </a:solidFill>
                  </a:tcPr>
                </a:tc>
                <a:tc>
                  <a:txBody>
                    <a:bodyPr wrap="square"/>
                    <a:lstStyle/>
                    <a:p>
                      <a:r>
                        <a:rPr sz="1050">
                          <a:solidFill>
                            <a:srgbClr val="1A1A1A"/>
                          </a:solidFill>
                        </a:rPr>
                        <a:t>IRD online portal e-filing</a:t>
                      </a:r>
                    </a:p>
                  </a:txBody>
                  <a:tcPr anchor="ctr" marL="73152" marR="54864" marT="27432" marB="27432">
                    <a:solidFill>
                      <a:srgbClr val="EEF3F8"/>
                    </a:solidFill>
                  </a:tcPr>
                </a:tc>
                <a:tc>
                  <a:txBody>
                    <a:bodyPr wrap="square"/>
                    <a:lstStyle/>
                    <a:p>
                      <a:r>
                        <a:rPr sz="1050">
                          <a:solidFill>
                            <a:srgbClr val="1A1A1A"/>
                          </a:solidFill>
                        </a:rPr>
                        <a:t>Businesses register/file remotely</a:t>
                      </a:r>
                    </a:p>
                  </a:txBody>
                  <a:tcPr anchor="ctr" marL="73152" marR="54864" marT="27432" marB="27432">
                    <a:solidFill>
                      <a:srgbClr val="EEF3F8"/>
                    </a:solidFill>
                  </a:tcPr>
                </a:tc>
              </a:tr>
              <a:tr h="630936">
                <a:tc>
                  <a:txBody>
                    <a:bodyPr wrap="square"/>
                    <a:lstStyle/>
                    <a:p>
                      <a:r>
                        <a:rPr sz="1050" b="1">
                          <a:solidFill>
                            <a:srgbClr val="0C2B4A"/>
                          </a:solidFill>
                        </a:rPr>
                        <a:t>Citizenship/vital records</a:t>
                      </a:r>
                    </a:p>
                  </a:txBody>
                  <a:tcPr anchor="ctr" marL="73152" marR="54864" marT="27432" marB="27432">
                    <a:solidFill>
                      <a:srgbClr val="FFFFFF"/>
                    </a:solidFill>
                  </a:tcPr>
                </a:tc>
                <a:tc>
                  <a:txBody>
                    <a:bodyPr wrap="square"/>
                    <a:lstStyle/>
                    <a:p>
                      <a:r>
                        <a:rPr sz="1050">
                          <a:solidFill>
                            <a:srgbClr val="1A1A1A"/>
                          </a:solidFill>
                        </a:rPr>
                        <a:t>Ward-office visit, paper ledgers</a:t>
                      </a:r>
                    </a:p>
                  </a:txBody>
                  <a:tcPr anchor="ctr" marL="73152" marR="54864" marT="27432" marB="27432">
                    <a:solidFill>
                      <a:srgbClr val="FFFFFF"/>
                    </a:solidFill>
                  </a:tcPr>
                </a:tc>
                <a:tc>
                  <a:txBody>
                    <a:bodyPr wrap="square"/>
                    <a:lstStyle/>
                    <a:p>
                      <a:r>
                        <a:rPr sz="1050">
                          <a:solidFill>
                            <a:srgbClr val="1A1A1A"/>
                          </a:solidFill>
                        </a:rPr>
                        <a:t>Nagarik App digital records</a:t>
                      </a:r>
                    </a:p>
                  </a:txBody>
                  <a:tcPr anchor="ctr" marL="73152" marR="54864" marT="27432" marB="27432">
                    <a:solidFill>
                      <a:srgbClr val="FFFFFF"/>
                    </a:solidFill>
                  </a:tcPr>
                </a:tc>
                <a:tc>
                  <a:txBody>
                    <a:bodyPr wrap="square"/>
                    <a:lstStyle/>
                    <a:p>
                      <a:r>
                        <a:rPr sz="1050">
                          <a:solidFill>
                            <a:srgbClr val="1A1A1A"/>
                          </a:solidFill>
                        </a:rPr>
                        <a:t>Fewer trips to the office</a:t>
                      </a:r>
                    </a:p>
                  </a:txBody>
                  <a:tcPr anchor="ctr" marL="73152" marR="54864" marT="27432" marB="27432">
                    <a:solidFill>
                      <a:srgbClr val="FFFFFF"/>
                    </a:solidFill>
                  </a:tcPr>
                </a:tc>
              </a:tr>
              <a:tr h="630936">
                <a:tc>
                  <a:txBody>
                    <a:bodyPr wrap="square"/>
                    <a:lstStyle/>
                    <a:p>
                      <a:r>
                        <a:rPr sz="1050" b="1">
                          <a:solidFill>
                            <a:srgbClr val="0C2B4A"/>
                          </a:solidFill>
                        </a:rPr>
                        <a:t>Exam results</a:t>
                      </a:r>
                    </a:p>
                  </a:txBody>
                  <a:tcPr anchor="ctr" marL="73152" marR="54864" marT="27432" marB="27432">
                    <a:solidFill>
                      <a:srgbClr val="EEF3F8"/>
                    </a:solidFill>
                  </a:tcPr>
                </a:tc>
                <a:tc>
                  <a:txBody>
                    <a:bodyPr wrap="square"/>
                    <a:lstStyle/>
                    <a:p>
                      <a:r>
                        <a:rPr sz="1050">
                          <a:solidFill>
                            <a:srgbClr val="1A1A1A"/>
                          </a:solidFill>
                        </a:rPr>
                        <a:t>Notice board / newspaper</a:t>
                      </a:r>
                    </a:p>
                  </a:txBody>
                  <a:tcPr anchor="ctr" marL="73152" marR="54864" marT="27432" marB="27432">
                    <a:solidFill>
                      <a:srgbClr val="EEF3F8"/>
                    </a:solidFill>
                  </a:tcPr>
                </a:tc>
                <a:tc>
                  <a:txBody>
                    <a:bodyPr wrap="square"/>
                    <a:lstStyle/>
                    <a:p>
                      <a:r>
                        <a:rPr sz="1050">
                          <a:solidFill>
                            <a:srgbClr val="1A1A1A"/>
                          </a:solidFill>
                        </a:rPr>
                        <a:t>Online results portal</a:t>
                      </a:r>
                    </a:p>
                  </a:txBody>
                  <a:tcPr anchor="ctr" marL="73152" marR="54864" marT="27432" marB="27432">
                    <a:solidFill>
                      <a:srgbClr val="EEF3F8"/>
                    </a:solidFill>
                  </a:tcPr>
                </a:tc>
                <a:tc>
                  <a:txBody>
                    <a:bodyPr wrap="square"/>
                    <a:lstStyle/>
                    <a:p>
                      <a:r>
                        <a:rPr sz="1050">
                          <a:solidFill>
                            <a:srgbClr val="1A1A1A"/>
                          </a:solidFill>
                        </a:rPr>
                        <a:t>Instant, from anywhere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E-governance is judged by the 'after' being genuinely easier — not by a scanned PDF of the old form sitting on a website.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E-Governance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Nagarik App is e-governance in one place: a citizen can view PAN details, EPF/CIT balances, vehicle records and more from a phone, instead of visiting several offices. The online passport system lets you apply and book a slot without camping outside the department at dawn. The state's job (identity, records, payment) is being delivered through digital channels.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"E-governance just means the government has a website." A website is a channel; e-governance is redesigning the SERVICE for digital delivery — application, verification, payment and record all online. A scanned paper form you must still submit in person is not e-governance; it is a webpage.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E-governance is the use of ICT (websites, apps, databases, networks) by government to deliver public services, share information and interact with citizens more efficiently and transparently — the digitalization of government from paper counters to digital channels. It is broader than e-government: it also covers citizen participation and decision-making. Nepal examples: Nagarik App, online passport, IRD e-filing.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e-governance · digitalization of government · ICT for public service · e-government vs e-democracy · redesign not scanning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Goals of E-Governance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E-governance pursues four goals. Transparency: information and processes are open, so citizens can see how decisions and money flow. Efficiency: services are faster and cheaper (no queues, less paper). Accountability: digital records create a trail, so officials can be held answerable. Participation: citizens can give feedback, complain and take part in decisions. Together they aim at cleaner, faster, answerable government.</a:t>
            </a:r>
          </a:p>
          <a:p>
            <a:pPr>
              <a:spcAft>
                <a:spcPts val="500"/>
              </a:spcAft>
            </a:pPr>
            <a:r>
              <a:rPr sz="1200" b="1">
                <a:solidFill>
                  <a:srgbClr val="185FA5"/>
                </a:solidFill>
              </a:rPr>
              <a:t>HOW IT WORKS</a:t>
            </a:r>
          </a:p>
          <a:p>
            <a:pPr>
              <a:spcAft>
                <a:spcPts val="600"/>
              </a:spcAft>
            </a:pPr>
            <a:r>
              <a:rPr sz="1400">
                <a:solidFill>
                  <a:srgbClr val="1A1A1A"/>
                </a:solidFill>
              </a:rPr>
              <a:t>•  Transparency — open information &amp; processes (budgets, tenders, status visible).</a:t>
            </a:r>
          </a:p>
          <a:p>
            <a:pPr>
              <a:spcAft>
                <a:spcPts val="600"/>
              </a:spcAft>
            </a:pPr>
            <a:r>
              <a:rPr sz="1400">
                <a:solidFill>
                  <a:srgbClr val="1A1A1A"/>
                </a:solidFill>
              </a:rPr>
              <a:t>•  Efficiency — faster, cheaper service; less queuing, less paper.</a:t>
            </a:r>
          </a:p>
          <a:p>
            <a:pPr>
              <a:spcAft>
                <a:spcPts val="600"/>
              </a:spcAft>
            </a:pPr>
            <a:r>
              <a:rPr sz="1400">
                <a:solidFill>
                  <a:srgbClr val="1A1A1A"/>
                </a:solidFill>
              </a:rPr>
              <a:t>•  Accountability — digital records leave a trail; responsibility can be traced.</a:t>
            </a:r>
          </a:p>
          <a:p>
            <a:pPr>
              <a:spcAft>
                <a:spcPts val="600"/>
              </a:spcAft>
            </a:pPr>
            <a:r>
              <a:rPr sz="1400">
                <a:solidFill>
                  <a:srgbClr val="1A1A1A"/>
                </a:solidFill>
              </a:rPr>
              <a:t>•  Participation — feedback, grievances and consultation channels for citizens.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goals: Transparency, Efficiency, Accountability, Participation (T-E-A-P).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goals — mechanism &amp; Nepal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12571"/>
                <a:gridCol w="4735285"/>
                <a:gridCol w="4082142"/>
              </a:tblGrid>
              <a:tr h="883310">
                <a:tc>
                  <a:txBody>
                    <a:bodyPr wrap="square"/>
                    <a:lstStyle/>
                    <a:p>
                      <a:r>
                        <a:rPr sz="1150" b="1">
                          <a:solidFill>
                            <a:srgbClr val="FFFFFF"/>
                          </a:solidFill>
                        </a:rPr>
                        <a:t>Goal</a:t>
                      </a:r>
                    </a:p>
                  </a:txBody>
                  <a:tcPr anchor="ctr" marL="73152" marR="54864" marT="27432" marB="27432">
                    <a:solidFill>
                      <a:srgbClr val="0C2B4A"/>
                    </a:solidFill>
                  </a:tcPr>
                </a:tc>
                <a:tc>
                  <a:txBody>
                    <a:bodyPr wrap="square"/>
                    <a:lstStyle/>
                    <a:p>
                      <a:r>
                        <a:rPr sz="1150" b="1">
                          <a:solidFill>
                            <a:srgbClr val="FFFFFF"/>
                          </a:solidFill>
                        </a:rPr>
                        <a:t>How e-governance delivers it</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883310">
                <a:tc>
                  <a:txBody>
                    <a:bodyPr wrap="square"/>
                    <a:lstStyle/>
                    <a:p>
                      <a:r>
                        <a:rPr sz="1100" b="1">
                          <a:solidFill>
                            <a:srgbClr val="0C2B4A"/>
                          </a:solidFill>
                        </a:rPr>
                        <a:t>Transparency</a:t>
                      </a:r>
                    </a:p>
                  </a:txBody>
                  <a:tcPr anchor="ctr" marL="73152" marR="54864" marT="27432" marB="27432">
                    <a:solidFill>
                      <a:srgbClr val="FFFFFF"/>
                    </a:solidFill>
                  </a:tcPr>
                </a:tc>
                <a:tc>
                  <a:txBody>
                    <a:bodyPr wrap="square"/>
                    <a:lstStyle/>
                    <a:p>
                      <a:r>
                        <a:rPr sz="1100">
                          <a:solidFill>
                            <a:srgbClr val="1A1A1A"/>
                          </a:solidFill>
                        </a:rPr>
                        <a:t>Open data, visible status &amp; processes</a:t>
                      </a:r>
                    </a:p>
                  </a:txBody>
                  <a:tcPr anchor="ctr" marL="73152" marR="54864" marT="27432" marB="27432">
                    <a:solidFill>
                      <a:srgbClr val="FFFFFF"/>
                    </a:solidFill>
                  </a:tcPr>
                </a:tc>
                <a:tc>
                  <a:txBody>
                    <a:bodyPr wrap="square"/>
                    <a:lstStyle/>
                    <a:p>
                      <a:r>
                        <a:rPr sz="1100">
                          <a:solidFill>
                            <a:srgbClr val="1A1A1A"/>
                          </a:solidFill>
                        </a:rPr>
                        <a:t>PPMO e-procurement tenders published online</a:t>
                      </a:r>
                    </a:p>
                  </a:txBody>
                  <a:tcPr anchor="ctr" marL="73152" marR="54864" marT="27432" marB="27432">
                    <a:solidFill>
                      <a:srgbClr val="FFFFFF"/>
                    </a:solidFill>
                  </a:tcPr>
                </a:tc>
              </a:tr>
              <a:tr h="883310">
                <a:tc>
                  <a:txBody>
                    <a:bodyPr wrap="square"/>
                    <a:lstStyle/>
                    <a:p>
                      <a:r>
                        <a:rPr sz="1100" b="1">
                          <a:solidFill>
                            <a:srgbClr val="0C2B4A"/>
                          </a:solidFill>
                        </a:rPr>
                        <a:t>Efficiency</a:t>
                      </a:r>
                    </a:p>
                  </a:txBody>
                  <a:tcPr anchor="ctr" marL="73152" marR="54864" marT="27432" marB="27432">
                    <a:solidFill>
                      <a:srgbClr val="EEF3F8"/>
                    </a:solidFill>
                  </a:tcPr>
                </a:tc>
                <a:tc>
                  <a:txBody>
                    <a:bodyPr wrap="square"/>
                    <a:lstStyle/>
                    <a:p>
                      <a:r>
                        <a:rPr sz="1100">
                          <a:solidFill>
                            <a:srgbClr val="1A1A1A"/>
                          </a:solidFill>
                        </a:rPr>
                        <a:t>Automation, self-service, no queues</a:t>
                      </a:r>
                    </a:p>
                  </a:txBody>
                  <a:tcPr anchor="ctr" marL="73152" marR="54864" marT="27432" marB="27432">
                    <a:solidFill>
                      <a:srgbClr val="EEF3F8"/>
                    </a:solidFill>
                  </a:tcPr>
                </a:tc>
                <a:tc>
                  <a:txBody>
                    <a:bodyPr wrap="square"/>
                    <a:lstStyle/>
                    <a:p>
                      <a:r>
                        <a:rPr sz="1100">
                          <a:solidFill>
                            <a:srgbClr val="1A1A1A"/>
                          </a:solidFill>
                        </a:rPr>
                        <a:t>eSewa/ConnectIPS bill &amp; tax payment</a:t>
                      </a:r>
                    </a:p>
                  </a:txBody>
                  <a:tcPr anchor="ctr" marL="73152" marR="54864" marT="27432" marB="27432">
                    <a:solidFill>
                      <a:srgbClr val="EEF3F8"/>
                    </a:solidFill>
                  </a:tcPr>
                </a:tc>
              </a:tr>
              <a:tr h="883310">
                <a:tc>
                  <a:txBody>
                    <a:bodyPr wrap="square"/>
                    <a:lstStyle/>
                    <a:p>
                      <a:r>
                        <a:rPr sz="1100" b="1">
                          <a:solidFill>
                            <a:srgbClr val="0C2B4A"/>
                          </a:solidFill>
                        </a:rPr>
                        <a:t>Accountability</a:t>
                      </a:r>
                    </a:p>
                  </a:txBody>
                  <a:tcPr anchor="ctr" marL="73152" marR="54864" marT="27432" marB="27432">
                    <a:solidFill>
                      <a:srgbClr val="FFFFFF"/>
                    </a:solidFill>
                  </a:tcPr>
                </a:tc>
                <a:tc>
                  <a:txBody>
                    <a:bodyPr wrap="square"/>
                    <a:lstStyle/>
                    <a:p>
                      <a:r>
                        <a:rPr sz="1100">
                          <a:solidFill>
                            <a:srgbClr val="1A1A1A"/>
                          </a:solidFill>
                        </a:rPr>
                        <a:t>Every action logged; auditable trail</a:t>
                      </a:r>
                    </a:p>
                  </a:txBody>
                  <a:tcPr anchor="ctr" marL="73152" marR="54864" marT="27432" marB="27432">
                    <a:solidFill>
                      <a:srgbClr val="FFFFFF"/>
                    </a:solidFill>
                  </a:tcPr>
                </a:tc>
                <a:tc>
                  <a:txBody>
                    <a:bodyPr wrap="square"/>
                    <a:lstStyle/>
                    <a:p>
                      <a:r>
                        <a:rPr sz="1100">
                          <a:solidFill>
                            <a:srgbClr val="1A1A1A"/>
                          </a:solidFill>
                        </a:rPr>
                        <a:t>Digital records make bribes harder to hide</a:t>
                      </a:r>
                    </a:p>
                  </a:txBody>
                  <a:tcPr anchor="ctr" marL="73152" marR="54864" marT="27432" marB="27432">
                    <a:solidFill>
                      <a:srgbClr val="FFFFFF"/>
                    </a:solidFill>
                  </a:tcPr>
                </a:tc>
              </a:tr>
              <a:tr h="883312">
                <a:tc>
                  <a:txBody>
                    <a:bodyPr wrap="square"/>
                    <a:lstStyle/>
                    <a:p>
                      <a:r>
                        <a:rPr sz="1100" b="1">
                          <a:solidFill>
                            <a:srgbClr val="0C2B4A"/>
                          </a:solidFill>
                        </a:rPr>
                        <a:t>Participation</a:t>
                      </a:r>
                    </a:p>
                  </a:txBody>
                  <a:tcPr anchor="ctr" marL="73152" marR="54864" marT="27432" marB="27432">
                    <a:solidFill>
                      <a:srgbClr val="EEF3F8"/>
                    </a:solidFill>
                  </a:tcPr>
                </a:tc>
                <a:tc>
                  <a:txBody>
                    <a:bodyPr wrap="square"/>
                    <a:lstStyle/>
                    <a:p>
                      <a:r>
                        <a:rPr sz="1100">
                          <a:solidFill>
                            <a:srgbClr val="1A1A1A"/>
                          </a:solidFill>
                        </a:rPr>
                        <a:t>Feedback, grievance &amp; consultation channels</a:t>
                      </a:r>
                    </a:p>
                  </a:txBody>
                  <a:tcPr anchor="ctr" marL="73152" marR="54864" marT="27432" marB="27432">
                    <a:solidFill>
                      <a:srgbClr val="EEF3F8"/>
                    </a:solidFill>
                  </a:tcPr>
                </a:tc>
                <a:tc>
                  <a:txBody>
                    <a:bodyPr wrap="square"/>
                    <a:lstStyle/>
                    <a:p>
                      <a:r>
                        <a:rPr sz="1100">
                          <a:solidFill>
                            <a:srgbClr val="1A1A1A"/>
                          </a:solidFill>
                        </a:rPr>
                        <a:t>Online grievance portals; ward feedback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four goals reinforce each other: a transparent, logged process is also more accountable, and a self-service one is more efficient. Weakness in one (e.g. no data-protection law) undermines trust in the rest.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Goals of E-Governance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e-procurement system (PPMO) shows the goals together: tenders are published and submitted online (transparency), bids are processed faster (efficiency), every step is logged (accountability), and vendors can query the process (participation). Where a bribe once greased a paper tender behind a counter, the digital trail makes the same trick far harder — the goals working as 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"E-governance is only about doing things faster." Speed (efficiency) is just one of four goals. Transparency, accountability and participation matter as much: a fast service that hides its decisions and answers to no one fails the point. Good e-governance is faster AND cleaner AND answerable AND participatory.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E-governance pursues four goals: transparency (open information and processes), efficiency (faster, cheaper, queue-free service), accountability (digital records create an auditable trail so officials can be held answerable), and participation (feedback, grievance and consultation channels for citizens). They reinforce one another — Nepal's e-procurement delivers all four at once — so a system strong on speed but weak on transparency still fails.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transparency · efficiency · accountability · participation · goals reinforce each other · T-E-A-P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Types: G2C, G2B, G2G, G2E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E-governance is classified by WHO the state connects with. G2C (Government-to-Citizen): services and information to the public. G2B (Government-to-Business): licences, tax, procurement for firms. G2G (Government-to-Government): data and coordination between agencies and tiers (federal, province, local). G2E (Government-to-Employee): internal HR, payroll and records for civil servants. Each flows both ways — citizens/firms also send data back.</a:t>
            </a:r>
          </a:p>
          <a:p>
            <a:pPr>
              <a:spcAft>
                <a:spcPts val="500"/>
              </a:spcAft>
            </a:pPr>
            <a:r>
              <a:rPr sz="1200" b="1">
                <a:solidFill>
                  <a:srgbClr val="185FA5"/>
                </a:solidFill>
              </a:rPr>
              <a:t>HOW IT WORKS</a:t>
            </a:r>
          </a:p>
          <a:p>
            <a:pPr>
              <a:spcAft>
                <a:spcPts val="600"/>
              </a:spcAft>
            </a:pPr>
            <a:r>
              <a:rPr sz="1400">
                <a:solidFill>
                  <a:srgbClr val="1A1A1A"/>
                </a:solidFill>
              </a:rPr>
              <a:t>•  G2C — citizen services &amp; information (the most visible type).</a:t>
            </a:r>
          </a:p>
          <a:p>
            <a:pPr>
              <a:spcAft>
                <a:spcPts val="600"/>
              </a:spcAft>
            </a:pPr>
            <a:r>
              <a:rPr sz="1400">
                <a:solidFill>
                  <a:srgbClr val="1A1A1A"/>
                </a:solidFill>
              </a:rPr>
              <a:t>•  G2B — business-facing: registration, tax, e-procurement, permits.</a:t>
            </a:r>
          </a:p>
          <a:p>
            <a:pPr>
              <a:spcAft>
                <a:spcPts val="600"/>
              </a:spcAft>
            </a:pPr>
            <a:r>
              <a:rPr sz="1400">
                <a:solidFill>
                  <a:srgbClr val="1A1A1A"/>
                </a:solidFill>
              </a:rPr>
              <a:t>•  G2G — agency-to-agency and tier-to-tier data sharing &amp; coordination.</a:t>
            </a:r>
          </a:p>
          <a:p>
            <a:pPr>
              <a:spcAft>
                <a:spcPts val="600"/>
              </a:spcAft>
            </a:pPr>
            <a:r>
              <a:rPr sz="1400">
                <a:solidFill>
                  <a:srgbClr val="1A1A1A"/>
                </a:solidFill>
              </a:rPr>
              <a:t>•  G2E — the government as an employer: staff HR, payroll, records.</a:t>
            </a:r>
          </a:p>
        </p:txBody>
      </p:sp>
      <p:pic>
        <p:nvPicPr>
          <p:cNvPr id="6" name="Picture 5" descr="s42_egov_types.png"/>
          <p:cNvPicPr>
            <a:picLocks noChangeAspect="1"/>
          </p:cNvPicPr>
          <p:nvPr/>
        </p:nvPicPr>
        <p:blipFill>
          <a:blip r:embed="rId2"/>
          <a:stretch>
            <a:fillRect/>
          </a:stretch>
        </p:blipFill>
        <p:spPr>
          <a:xfrm>
            <a:off x="6355080" y="2494097"/>
            <a:ext cx="5532120" cy="264704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types by counterpart: Citizen (G2C), Business (G2B), Government (G2G), Employee (G2E).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e-governance types — what each connects, Nepal example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254512"/>
                <a:gridCol w="2369634"/>
                <a:gridCol w="3624146"/>
                <a:gridCol w="4181707"/>
              </a:tblGrid>
              <a:tr h="883310">
                <a:tc>
                  <a:txBody>
                    <a:bodyPr wrap="square"/>
                    <a:lstStyle/>
                    <a:p>
                      <a:r>
                        <a:rPr sz="1100" b="1">
                          <a:solidFill>
                            <a:srgbClr val="FFFFFF"/>
                          </a:solidFill>
                        </a:rPr>
                        <a:t>Type</a:t>
                      </a:r>
                    </a:p>
                  </a:txBody>
                  <a:tcPr anchor="ctr" marL="73152" marR="54864" marT="27432" marB="27432">
                    <a:solidFill>
                      <a:srgbClr val="0C2B4A"/>
                    </a:solidFill>
                  </a:tcPr>
                </a:tc>
                <a:tc>
                  <a:txBody>
                    <a:bodyPr wrap="square"/>
                    <a:lstStyle/>
                    <a:p>
                      <a:r>
                        <a:rPr sz="1100" b="1">
                          <a:solidFill>
                            <a:srgbClr val="FFFFFF"/>
                          </a:solidFill>
                        </a:rPr>
                        <a:t>Connects</a:t>
                      </a:r>
                    </a:p>
                  </a:txBody>
                  <a:tcPr anchor="ctr" marL="73152" marR="54864" marT="27432" marB="27432">
                    <a:solidFill>
                      <a:srgbClr val="0C2B4A"/>
                    </a:solidFill>
                  </a:tcPr>
                </a:tc>
                <a:tc>
                  <a:txBody>
                    <a:bodyPr wrap="square"/>
                    <a:lstStyle/>
                    <a:p>
                      <a:r>
                        <a:rPr sz="1100" b="1">
                          <a:solidFill>
                            <a:srgbClr val="FFFFFF"/>
                          </a:solidFill>
                        </a:rPr>
                        <a:t>What flows</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r>
              <a:tr h="883310">
                <a:tc>
                  <a:txBody>
                    <a:bodyPr wrap="square"/>
                    <a:lstStyle/>
                    <a:p>
                      <a:r>
                        <a:rPr sz="1050" b="1">
                          <a:solidFill>
                            <a:srgbClr val="0C2B4A"/>
                          </a:solidFill>
                        </a:rPr>
                        <a:t>G2C</a:t>
                      </a:r>
                    </a:p>
                  </a:txBody>
                  <a:tcPr anchor="ctr" marL="73152" marR="54864" marT="27432" marB="27432">
                    <a:solidFill>
                      <a:srgbClr val="FFFFFF"/>
                    </a:solidFill>
                  </a:tcPr>
                </a:tc>
                <a:tc>
                  <a:txBody>
                    <a:bodyPr wrap="square"/>
                    <a:lstStyle/>
                    <a:p>
                      <a:r>
                        <a:rPr sz="1050">
                          <a:solidFill>
                            <a:srgbClr val="1A1A1A"/>
                          </a:solidFill>
                        </a:rPr>
                        <a:t>State &lt;-&gt; Citizens</a:t>
                      </a:r>
                    </a:p>
                  </a:txBody>
                  <a:tcPr anchor="ctr" marL="73152" marR="54864" marT="27432" marB="27432">
                    <a:solidFill>
                      <a:srgbClr val="FFFFFF"/>
                    </a:solidFill>
                  </a:tcPr>
                </a:tc>
                <a:tc>
                  <a:txBody>
                    <a:bodyPr wrap="square"/>
                    <a:lstStyle/>
                    <a:p>
                      <a:r>
                        <a:rPr sz="1050">
                          <a:solidFill>
                            <a:srgbClr val="1A1A1A"/>
                          </a:solidFill>
                        </a:rPr>
                        <a:t>Services &amp; information to people</a:t>
                      </a:r>
                    </a:p>
                  </a:txBody>
                  <a:tcPr anchor="ctr" marL="73152" marR="54864" marT="27432" marB="27432">
                    <a:solidFill>
                      <a:srgbClr val="FFFFFF"/>
                    </a:solidFill>
                  </a:tcPr>
                </a:tc>
                <a:tc>
                  <a:txBody>
                    <a:bodyPr wrap="square"/>
                    <a:lstStyle/>
                    <a:p>
                      <a:r>
                        <a:rPr sz="1050">
                          <a:solidFill>
                            <a:srgbClr val="1A1A1A"/>
                          </a:solidFill>
                        </a:rPr>
                        <a:t>Nagarik App, online passport, PAN</a:t>
                      </a:r>
                    </a:p>
                  </a:txBody>
                  <a:tcPr anchor="ctr" marL="73152" marR="54864" marT="27432" marB="27432">
                    <a:solidFill>
                      <a:srgbClr val="FFFFFF"/>
                    </a:solidFill>
                  </a:tcPr>
                </a:tc>
              </a:tr>
              <a:tr h="883310">
                <a:tc>
                  <a:txBody>
                    <a:bodyPr wrap="square"/>
                    <a:lstStyle/>
                    <a:p>
                      <a:r>
                        <a:rPr sz="1050" b="1">
                          <a:solidFill>
                            <a:srgbClr val="0C2B4A"/>
                          </a:solidFill>
                        </a:rPr>
                        <a:t>G2B</a:t>
                      </a:r>
                    </a:p>
                  </a:txBody>
                  <a:tcPr anchor="ctr" marL="73152" marR="54864" marT="27432" marB="27432">
                    <a:solidFill>
                      <a:srgbClr val="EEF3F8"/>
                    </a:solidFill>
                  </a:tcPr>
                </a:tc>
                <a:tc>
                  <a:txBody>
                    <a:bodyPr wrap="square"/>
                    <a:lstStyle/>
                    <a:p>
                      <a:r>
                        <a:rPr sz="1050">
                          <a:solidFill>
                            <a:srgbClr val="1A1A1A"/>
                          </a:solidFill>
                        </a:rPr>
                        <a:t>State &lt;-&gt; Business</a:t>
                      </a:r>
                    </a:p>
                  </a:txBody>
                  <a:tcPr anchor="ctr" marL="73152" marR="54864" marT="27432" marB="27432">
                    <a:solidFill>
                      <a:srgbClr val="EEF3F8"/>
                    </a:solidFill>
                  </a:tcPr>
                </a:tc>
                <a:tc>
                  <a:txBody>
                    <a:bodyPr wrap="square"/>
                    <a:lstStyle/>
                    <a:p>
                      <a:r>
                        <a:rPr sz="1050">
                          <a:solidFill>
                            <a:srgbClr val="1A1A1A"/>
                          </a:solidFill>
                        </a:rPr>
                        <a:t>Licences, tax, procurement</a:t>
                      </a:r>
                    </a:p>
                  </a:txBody>
                  <a:tcPr anchor="ctr" marL="73152" marR="54864" marT="27432" marB="27432">
                    <a:solidFill>
                      <a:srgbClr val="EEF3F8"/>
                    </a:solidFill>
                  </a:tcPr>
                </a:tc>
                <a:tc>
                  <a:txBody>
                    <a:bodyPr wrap="square"/>
                    <a:lstStyle/>
                    <a:p>
                      <a:r>
                        <a:rPr sz="1050">
                          <a:solidFill>
                            <a:srgbClr val="1A1A1A"/>
                          </a:solidFill>
                        </a:rPr>
                        <a:t>IRD e-VAT filing, PPMO e-procurement, OCR company reg.</a:t>
                      </a:r>
                    </a:p>
                  </a:txBody>
                  <a:tcPr anchor="ctr" marL="73152" marR="54864" marT="27432" marB="27432">
                    <a:solidFill>
                      <a:srgbClr val="EEF3F8"/>
                    </a:solidFill>
                  </a:tcPr>
                </a:tc>
              </a:tr>
              <a:tr h="883310">
                <a:tc>
                  <a:txBody>
                    <a:bodyPr wrap="square"/>
                    <a:lstStyle/>
                    <a:p>
                      <a:r>
                        <a:rPr sz="1050" b="1">
                          <a:solidFill>
                            <a:srgbClr val="0C2B4A"/>
                          </a:solidFill>
                        </a:rPr>
                        <a:t>G2G</a:t>
                      </a:r>
                    </a:p>
                  </a:txBody>
                  <a:tcPr anchor="ctr" marL="73152" marR="54864" marT="27432" marB="27432">
                    <a:solidFill>
                      <a:srgbClr val="FFFFFF"/>
                    </a:solidFill>
                  </a:tcPr>
                </a:tc>
                <a:tc>
                  <a:txBody>
                    <a:bodyPr wrap="square"/>
                    <a:lstStyle/>
                    <a:p>
                      <a:r>
                        <a:rPr sz="1050">
                          <a:solidFill>
                            <a:srgbClr val="1A1A1A"/>
                          </a:solidFill>
                        </a:rPr>
                        <a:t>State &lt;-&gt; Government</a:t>
                      </a:r>
                    </a:p>
                  </a:txBody>
                  <a:tcPr anchor="ctr" marL="73152" marR="54864" marT="27432" marB="27432">
                    <a:solidFill>
                      <a:srgbClr val="FFFFFF"/>
                    </a:solidFill>
                  </a:tcPr>
                </a:tc>
                <a:tc>
                  <a:txBody>
                    <a:bodyPr wrap="square"/>
                    <a:lstStyle/>
                    <a:p>
                      <a:r>
                        <a:rPr sz="1050">
                          <a:solidFill>
                            <a:srgbClr val="1A1A1A"/>
                          </a:solidFill>
                        </a:rPr>
                        <a:t>Data &amp; coordination across agencies/tiers</a:t>
                      </a:r>
                    </a:p>
                  </a:txBody>
                  <a:tcPr anchor="ctr" marL="73152" marR="54864" marT="27432" marB="27432">
                    <a:solidFill>
                      <a:srgbClr val="FFFFFF"/>
                    </a:solidFill>
                  </a:tcPr>
                </a:tc>
                <a:tc>
                  <a:txBody>
                    <a:bodyPr wrap="square"/>
                    <a:lstStyle/>
                    <a:p>
                      <a:r>
                        <a:rPr sz="1050">
                          <a:solidFill>
                            <a:srgbClr val="1A1A1A"/>
                          </a:solidFill>
                        </a:rPr>
                        <a:t>Federal-province-local data sharing, LMBIS budget system</a:t>
                      </a:r>
                    </a:p>
                  </a:txBody>
                  <a:tcPr anchor="ctr" marL="73152" marR="54864" marT="27432" marB="27432">
                    <a:solidFill>
                      <a:srgbClr val="FFFFFF"/>
                    </a:solidFill>
                  </a:tcPr>
                </a:tc>
              </a:tr>
              <a:tr h="883312">
                <a:tc>
                  <a:txBody>
                    <a:bodyPr wrap="square"/>
                    <a:lstStyle/>
                    <a:p>
                      <a:r>
                        <a:rPr sz="1050" b="1">
                          <a:solidFill>
                            <a:srgbClr val="0C2B4A"/>
                          </a:solidFill>
                        </a:rPr>
                        <a:t>G2E</a:t>
                      </a:r>
                    </a:p>
                  </a:txBody>
                  <a:tcPr anchor="ctr" marL="73152" marR="54864" marT="27432" marB="27432">
                    <a:solidFill>
                      <a:srgbClr val="EEF3F8"/>
                    </a:solidFill>
                  </a:tcPr>
                </a:tc>
                <a:tc>
                  <a:txBody>
                    <a:bodyPr wrap="square"/>
                    <a:lstStyle/>
                    <a:p>
                      <a:r>
                        <a:rPr sz="1050">
                          <a:solidFill>
                            <a:srgbClr val="1A1A1A"/>
                          </a:solidFill>
                        </a:rPr>
                        <a:t>State &lt;-&gt; Employees</a:t>
                      </a:r>
                    </a:p>
                  </a:txBody>
                  <a:tcPr anchor="ctr" marL="73152" marR="54864" marT="27432" marB="27432">
                    <a:solidFill>
                      <a:srgbClr val="EEF3F8"/>
                    </a:solidFill>
                  </a:tcPr>
                </a:tc>
                <a:tc>
                  <a:txBody>
                    <a:bodyPr wrap="square"/>
                    <a:lstStyle/>
                    <a:p>
                      <a:r>
                        <a:rPr sz="1050">
                          <a:solidFill>
                            <a:srgbClr val="1A1A1A"/>
                          </a:solidFill>
                        </a:rPr>
                        <a:t>Internal HR, payroll, records</a:t>
                      </a:r>
                    </a:p>
                  </a:txBody>
                  <a:tcPr anchor="ctr" marL="73152" marR="54864" marT="27432" marB="27432">
                    <a:solidFill>
                      <a:srgbClr val="EEF3F8"/>
                    </a:solidFill>
                  </a:tcPr>
                </a:tc>
                <a:tc>
                  <a:txBody>
                    <a:bodyPr wrap="square"/>
                    <a:lstStyle/>
                    <a:p>
                      <a:r>
                        <a:rPr sz="1050">
                          <a:solidFill>
                            <a:srgbClr val="1A1A1A"/>
                          </a:solidFill>
                        </a:rPr>
                        <a:t>Civil-service payroll &amp; personnel records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platform can serve several types: Nagarik App is mainly G2C but touches G2B (business records) and G2G (shared registries) behind the scenes.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Types: G2C, G2B, G2G, G2E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Raju uses G2C when he books a passport slot; his shop uses G2B when it files VAT on the IRD portal and bids on PPMO; the two offices that verify his citizenship use G2G when they share a registry; and the clerk who serves him is paid through G2E payroll. One citizen's morning can touch all four types — which is why joining them up (interoperability) matters so much.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"E-governance is only citizens using government websites (G2C)." That is the most visible type, but three others matter: G2B (business services), G2G (agencies sharing data), and G2E (managing staff). Much of the value — and many of Nepal's gaps — lie in G2G: if agencies don't share data, the citizen re-submits the same paper everywhere.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E-governance is classified by counterpart: G2C (Government-to-Citizen — services/info to the public), G2B (Government-to-Business — licences, tax, procurement), G2G (Government-to-Government — data and coordination across agencies and tiers), and G2E (Government-to-Employee — internal HR, payroll, records). Each is two-way. Nepal examples: Nagarik App (G2C), IRD e-VAT (G2B), the LMBIS budget system (G2G), civil-service payroll (G2E).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G2C · G2B · G2G · G2E · classified by counterpart · two-way flows · G2G = interoperability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S42 — 'Sort the service'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five Nepali government services you or your family have used.</a:t>
            </a:r>
          </a:p>
          <a:p>
            <a:pPr>
              <a:spcAft>
                <a:spcPts val="700"/>
              </a:spcAft>
            </a:pPr>
            <a:r>
              <a:rPr sz="1550">
                <a:solidFill>
                  <a:srgbClr val="1A1A1A"/>
                </a:solidFill>
              </a:rPr>
              <a:t>•  Classify each as G2C, G2B, G2G or G2E, and name which of the 4 goals it best serves.</a:t>
            </a:r>
          </a:p>
          <a:p>
            <a:pPr>
              <a:spcAft>
                <a:spcPts val="700"/>
              </a:spcAft>
            </a:pPr>
            <a:r>
              <a:rPr sz="1550">
                <a:solidFill>
                  <a:srgbClr val="1A1A1A"/>
                </a:solidFill>
              </a:rPr>
              <a:t>•  Take 3–4 answers aloud (3 min); resolve any that touch more than one type.</a:t>
            </a:r>
          </a:p>
          <a:p>
            <a:pPr>
              <a:spcAft>
                <a:spcPts val="700"/>
              </a:spcAft>
            </a:pPr>
            <a:r>
              <a:rPr sz="1550">
                <a:solidFill>
                  <a:srgbClr val="1A1A1A"/>
                </a:solidFill>
              </a:rPr>
              <a:t>•  Close: note how many are still only 'partly' online — a preview of S46's honest scorecard.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sorting: online passport = G2C (efficiency); IRD e-VAT = G2B (transparency/efficiency); PPMO e-procurement = G2B/G2G (accountability); payroll = G2E. Reward spotting services that span types.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E-governance is best defined as:</a:t>
            </a:r>
          </a:p>
          <a:p>
            <a:pPr lvl="1"/>
            <a:r>
              <a:rPr sz="1500" b="1">
                <a:solidFill>
                  <a:srgbClr val="0F6E56"/>
                </a:solidFill>
              </a:rPr>
              <a:t>a) government websites only   b) ✅ using ICT to deliver &amp; run public services   c) buying office computers   d) the internet</a:t>
            </a:r>
          </a:p>
          <a:p>
            <a:pPr lvl="1">
              <a:spcBef>
                <a:spcPts val="600"/>
              </a:spcBef>
            </a:pPr>
            <a:r>
              <a:rPr sz="1500" i="1">
                <a:solidFill>
                  <a:srgbClr val="1A1A1A"/>
                </a:solidFill>
              </a:rPr>
              <a:t>     Why: it is the digitalization of government service and interaction, not merely owning computers or a website.</a:t>
            </a:r>
          </a:p>
          <a:p>
            <a:pPr>
              <a:spcBef>
                <a:spcPts val="900"/>
              </a:spcBef>
            </a:pPr>
            <a:r>
              <a:rPr sz="1700" b="1">
                <a:solidFill>
                  <a:srgbClr val="0C2B4A"/>
                </a:solidFill>
              </a:rPr>
              <a:t>Q2.  A citizen filing VAT on the IRD portal is which type?</a:t>
            </a:r>
          </a:p>
          <a:p>
            <a:pPr lvl="1"/>
            <a:r>
              <a:rPr sz="1500" b="1">
                <a:solidFill>
                  <a:srgbClr val="0F6E56"/>
                </a:solidFill>
              </a:rPr>
              <a:t>a) G2C   b) ✅ G2B   c) G2G   d) G2E</a:t>
            </a:r>
          </a:p>
          <a:p>
            <a:pPr lvl="1">
              <a:spcBef>
                <a:spcPts val="600"/>
              </a:spcBef>
            </a:pPr>
            <a:r>
              <a:rPr sz="1500" i="1">
                <a:solidFill>
                  <a:srgbClr val="1A1A1A"/>
                </a:solidFill>
              </a:rPr>
              <a:t>     Why: the state is serving a business (tax filing) — Government-to-Business.</a:t>
            </a:r>
          </a:p>
          <a:p>
            <a:pPr lvl="1">
              <a:spcBef>
                <a:spcPts val="600"/>
              </a:spcBef>
            </a:pPr>
            <a:r>
              <a:rPr sz="1500" i="1">
                <a:solidFill>
                  <a:srgbClr val="1A1A1A"/>
                </a:solidFill>
              </a:rPr>
              <a:t>Discussion: name a Nepali e-service and the goal (transparency/efficiency/accountability/participation) it serves.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E-governance = using ICT to deliver and run government; it redesigns the service, not just scans old forms.</a:t>
            </a:r>
          </a:p>
          <a:p>
            <a:pPr>
              <a:spcAft>
                <a:spcPts val="800"/>
              </a:spcAft>
            </a:pPr>
            <a:r>
              <a:rPr sz="1500">
                <a:solidFill>
                  <a:srgbClr val="1A1A1A"/>
                </a:solidFill>
              </a:rPr>
              <a:t>2.  Four goals: transparency, efficiency, accountability, participation — they reinforce one another.</a:t>
            </a:r>
          </a:p>
          <a:p>
            <a:pPr>
              <a:spcAft>
                <a:spcPts val="800"/>
              </a:spcAft>
            </a:pPr>
            <a:r>
              <a:rPr sz="1500">
                <a:solidFill>
                  <a:srgbClr val="1A1A1A"/>
                </a:solidFill>
              </a:rPr>
              <a:t>3.  Four types by counterpart: G2C (citizens), G2B (business), G2G (agencies/tiers), G2E (employees) — all two-way.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Nepali digital-government story — Nagarik App, e-passport, e-procurement — fits this frame. Naming the goal and the type is how you diagnose whether a service is real e-governance or just a webpage.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S43 — what happens behind the glass: the process model, the 4-layer architecture, and how mature Nepal's e-governance is.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43 · LECTURE HOUR 2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E-Governance: Process, Structure &amp; Maturity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When you tap 'renew' in the Nagarik App, what actually happens behind the glass? Your request travels through layers — a screen, a rules engine, a database, and the servers and wires beneath — then returns as a result you can act on. Understanding that pipeline explains why e-services sometimes work beautifully and sometimes just say 'the server is down'.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Process Model: Input → Process → Output → Feedback</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E-governance runs on a four-step cycle. Input: the citizen submits a request or data (an application, a payment). Process: the system validates it and applies rules against its databases. Output: the service or result is delivered (a receipt, an approval, a document). Feedback: the citizen rates, complains or the system logs the outcome — and that feeds improvement. It is a loop, not a one-off.</a:t>
            </a:r>
          </a:p>
          <a:p>
            <a:pPr>
              <a:spcAft>
                <a:spcPts val="500"/>
              </a:spcAft>
            </a:pPr>
            <a:r>
              <a:rPr sz="1200" b="1">
                <a:solidFill>
                  <a:srgbClr val="185FA5"/>
                </a:solidFill>
              </a:rPr>
              <a:t>HOW IT WORKS</a:t>
            </a:r>
          </a:p>
          <a:p>
            <a:pPr>
              <a:spcAft>
                <a:spcPts val="600"/>
              </a:spcAft>
            </a:pPr>
            <a:r>
              <a:rPr sz="1400">
                <a:solidFill>
                  <a:srgbClr val="1A1A1A"/>
                </a:solidFill>
              </a:rPr>
              <a:t>•  Input — citizen submits a request/data through the app or portal.</a:t>
            </a:r>
          </a:p>
          <a:p>
            <a:pPr>
              <a:spcAft>
                <a:spcPts val="600"/>
              </a:spcAft>
            </a:pPr>
            <a:r>
              <a:rPr sz="1400">
                <a:solidFill>
                  <a:srgbClr val="1A1A1A"/>
                </a:solidFill>
              </a:rPr>
              <a:t>•  Process — the system validates, checks rules, queries registries.</a:t>
            </a:r>
          </a:p>
          <a:p>
            <a:pPr>
              <a:spcAft>
                <a:spcPts val="600"/>
              </a:spcAft>
            </a:pPr>
            <a:r>
              <a:rPr sz="1400">
                <a:solidFill>
                  <a:srgbClr val="1A1A1A"/>
                </a:solidFill>
              </a:rPr>
              <a:t>•  Output — the result is delivered: receipt, approval, certificate.</a:t>
            </a:r>
          </a:p>
          <a:p>
            <a:pPr>
              <a:spcAft>
                <a:spcPts val="600"/>
              </a:spcAft>
            </a:pPr>
            <a:r>
              <a:rPr sz="1400">
                <a:solidFill>
                  <a:srgbClr val="1A1A1A"/>
                </a:solidFill>
              </a:rPr>
              <a:t>•  Feedback — ratings/grievances/logs close the loop and drive improvement.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Cycle: INPUT -&gt; PROCESS -&gt; OUTPUT -&gt; FEEDBACK (a loop, not a one-shot).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process model — each stage with a Nepal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92816"/>
                <a:gridCol w="4507605"/>
                <a:gridCol w="4829577"/>
              </a:tblGrid>
              <a:tr h="883310">
                <a:tc>
                  <a:txBody>
                    <a:bodyPr wrap="square"/>
                    <a:lstStyle/>
                    <a:p>
                      <a:r>
                        <a:rPr sz="1150" b="1">
                          <a:solidFill>
                            <a:srgbClr val="FFFFFF"/>
                          </a:solidFill>
                        </a:rPr>
                        <a:t>Stage</a:t>
                      </a:r>
                    </a:p>
                  </a:txBody>
                  <a:tcPr anchor="ctr" marL="73152" marR="54864" marT="27432" marB="27432">
                    <a:solidFill>
                      <a:srgbClr val="0C2B4A"/>
                    </a:solidFill>
                  </a:tcPr>
                </a:tc>
                <a:tc>
                  <a:txBody>
                    <a:bodyPr wrap="square"/>
                    <a:lstStyle/>
                    <a:p>
                      <a:r>
                        <a:rPr sz="1150" b="1">
                          <a:solidFill>
                            <a:srgbClr val="FFFFFF"/>
                          </a:solidFill>
                        </a:rPr>
                        <a:t>What happens</a:t>
                      </a:r>
                    </a:p>
                  </a:txBody>
                  <a:tcPr anchor="ctr" marL="73152" marR="54864" marT="27432" marB="27432">
                    <a:solidFill>
                      <a:srgbClr val="0C2B4A"/>
                    </a:solidFill>
                  </a:tcPr>
                </a:tc>
                <a:tc>
                  <a:txBody>
                    <a:bodyPr wrap="square"/>
                    <a:lstStyle/>
                    <a:p>
                      <a:r>
                        <a:rPr sz="1150" b="1">
                          <a:solidFill>
                            <a:srgbClr val="FFFFFF"/>
                          </a:solidFill>
                        </a:rPr>
                        <a:t>Nepal example (paying vehicle tax)</a:t>
                      </a:r>
                    </a:p>
                  </a:txBody>
                  <a:tcPr anchor="ctr" marL="73152" marR="54864" marT="27432" marB="27432">
                    <a:solidFill>
                      <a:srgbClr val="0C2B4A"/>
                    </a:solidFill>
                  </a:tcPr>
                </a:tc>
              </a:tr>
              <a:tr h="883310">
                <a:tc>
                  <a:txBody>
                    <a:bodyPr wrap="square"/>
                    <a:lstStyle/>
                    <a:p>
                      <a:r>
                        <a:rPr sz="1100" b="1">
                          <a:solidFill>
                            <a:srgbClr val="0C2B4A"/>
                          </a:solidFill>
                        </a:rPr>
                        <a:t>Input</a:t>
                      </a:r>
                    </a:p>
                  </a:txBody>
                  <a:tcPr anchor="ctr" marL="73152" marR="54864" marT="27432" marB="27432">
                    <a:solidFill>
                      <a:srgbClr val="FFFFFF"/>
                    </a:solidFill>
                  </a:tcPr>
                </a:tc>
                <a:tc>
                  <a:txBody>
                    <a:bodyPr wrap="square"/>
                    <a:lstStyle/>
                    <a:p>
                      <a:r>
                        <a:rPr sz="1100">
                          <a:solidFill>
                            <a:srgbClr val="1A1A1A"/>
                          </a:solidFill>
                        </a:rPr>
                        <a:t>Citizen submits request/data</a:t>
                      </a:r>
                    </a:p>
                  </a:txBody>
                  <a:tcPr anchor="ctr" marL="73152" marR="54864" marT="27432" marB="27432">
                    <a:solidFill>
                      <a:srgbClr val="FFFFFF"/>
                    </a:solidFill>
                  </a:tcPr>
                </a:tc>
                <a:tc>
                  <a:txBody>
                    <a:bodyPr wrap="square"/>
                    <a:lstStyle/>
                    <a:p>
                      <a:r>
                        <a:rPr sz="1100">
                          <a:solidFill>
                            <a:srgbClr val="1A1A1A"/>
                          </a:solidFill>
                        </a:rPr>
                        <a:t>Enter Bluebook &amp; vehicle details, choose to pay</a:t>
                      </a:r>
                    </a:p>
                  </a:txBody>
                  <a:tcPr anchor="ctr" marL="73152" marR="54864" marT="27432" marB="27432">
                    <a:solidFill>
                      <a:srgbClr val="FFFFFF"/>
                    </a:solidFill>
                  </a:tcPr>
                </a:tc>
              </a:tr>
              <a:tr h="883310">
                <a:tc>
                  <a:txBody>
                    <a:bodyPr wrap="square"/>
                    <a:lstStyle/>
                    <a:p>
                      <a:r>
                        <a:rPr sz="1100" b="1">
                          <a:solidFill>
                            <a:srgbClr val="0C2B4A"/>
                          </a:solidFill>
                        </a:rPr>
                        <a:t>Process</a:t>
                      </a:r>
                    </a:p>
                  </a:txBody>
                  <a:tcPr anchor="ctr" marL="73152" marR="54864" marT="27432" marB="27432">
                    <a:solidFill>
                      <a:srgbClr val="EEF3F8"/>
                    </a:solidFill>
                  </a:tcPr>
                </a:tc>
                <a:tc>
                  <a:txBody>
                    <a:bodyPr wrap="square"/>
                    <a:lstStyle/>
                    <a:p>
                      <a:r>
                        <a:rPr sz="1100">
                          <a:solidFill>
                            <a:srgbClr val="1A1A1A"/>
                          </a:solidFill>
                        </a:rPr>
                        <a:t>Validate, apply rules, query registries</a:t>
                      </a:r>
                    </a:p>
                  </a:txBody>
                  <a:tcPr anchor="ctr" marL="73152" marR="54864" marT="27432" marB="27432">
                    <a:solidFill>
                      <a:srgbClr val="EEF3F8"/>
                    </a:solidFill>
                  </a:tcPr>
                </a:tc>
                <a:tc>
                  <a:txBody>
                    <a:bodyPr wrap="square"/>
                    <a:lstStyle/>
                    <a:p>
                      <a:r>
                        <a:rPr sz="1100">
                          <a:solidFill>
                            <a:srgbClr val="1A1A1A"/>
                          </a:solidFill>
                        </a:rPr>
                        <a:t>System checks records, computes tax + penalty</a:t>
                      </a:r>
                    </a:p>
                  </a:txBody>
                  <a:tcPr anchor="ctr" marL="73152" marR="54864" marT="27432" marB="27432">
                    <a:solidFill>
                      <a:srgbClr val="EEF3F8"/>
                    </a:solidFill>
                  </a:tcPr>
                </a:tc>
              </a:tr>
              <a:tr h="883310">
                <a:tc>
                  <a:txBody>
                    <a:bodyPr wrap="square"/>
                    <a:lstStyle/>
                    <a:p>
                      <a:r>
                        <a:rPr sz="1100" b="1">
                          <a:solidFill>
                            <a:srgbClr val="0C2B4A"/>
                          </a:solidFill>
                        </a:rPr>
                        <a:t>Output</a:t>
                      </a:r>
                    </a:p>
                  </a:txBody>
                  <a:tcPr anchor="ctr" marL="73152" marR="54864" marT="27432" marB="27432">
                    <a:solidFill>
                      <a:srgbClr val="FFFFFF"/>
                    </a:solidFill>
                  </a:tcPr>
                </a:tc>
                <a:tc>
                  <a:txBody>
                    <a:bodyPr wrap="square"/>
                    <a:lstStyle/>
                    <a:p>
                      <a:r>
                        <a:rPr sz="1100">
                          <a:solidFill>
                            <a:srgbClr val="1A1A1A"/>
                          </a:solidFill>
                        </a:rPr>
                        <a:t>Deliver the service/result</a:t>
                      </a:r>
                    </a:p>
                  </a:txBody>
                  <a:tcPr anchor="ctr" marL="73152" marR="54864" marT="27432" marB="27432">
                    <a:solidFill>
                      <a:srgbClr val="FFFFFF"/>
                    </a:solidFill>
                  </a:tcPr>
                </a:tc>
                <a:tc>
                  <a:txBody>
                    <a:bodyPr wrap="square"/>
                    <a:lstStyle/>
                    <a:p>
                      <a:r>
                        <a:rPr sz="1100">
                          <a:solidFill>
                            <a:srgbClr val="1A1A1A"/>
                          </a:solidFill>
                        </a:rPr>
                        <a:t>Digital receipt &amp; updated tax status issued</a:t>
                      </a:r>
                    </a:p>
                  </a:txBody>
                  <a:tcPr anchor="ctr" marL="73152" marR="54864" marT="27432" marB="27432">
                    <a:solidFill>
                      <a:srgbClr val="FFFFFF"/>
                    </a:solidFill>
                  </a:tcPr>
                </a:tc>
              </a:tr>
              <a:tr h="883312">
                <a:tc>
                  <a:txBody>
                    <a:bodyPr wrap="square"/>
                    <a:lstStyle/>
                    <a:p>
                      <a:r>
                        <a:rPr sz="1100" b="1">
                          <a:solidFill>
                            <a:srgbClr val="0C2B4A"/>
                          </a:solidFill>
                        </a:rPr>
                        <a:t>Feedback</a:t>
                      </a:r>
                    </a:p>
                  </a:txBody>
                  <a:tcPr anchor="ctr" marL="73152" marR="54864" marT="27432" marB="27432">
                    <a:solidFill>
                      <a:srgbClr val="EEF3F8"/>
                    </a:solidFill>
                  </a:tcPr>
                </a:tc>
                <a:tc>
                  <a:txBody>
                    <a:bodyPr wrap="square"/>
                    <a:lstStyle/>
                    <a:p>
                      <a:r>
                        <a:rPr sz="1100">
                          <a:solidFill>
                            <a:srgbClr val="1A1A1A"/>
                          </a:solidFill>
                        </a:rPr>
                        <a:t>Rate, complain, log for improvement</a:t>
                      </a:r>
                    </a:p>
                  </a:txBody>
                  <a:tcPr anchor="ctr" marL="73152" marR="54864" marT="27432" marB="27432">
                    <a:solidFill>
                      <a:srgbClr val="EEF3F8"/>
                    </a:solidFill>
                  </a:tcPr>
                </a:tc>
                <a:tc>
                  <a:txBody>
                    <a:bodyPr wrap="square"/>
                    <a:lstStyle/>
                    <a:p>
                      <a:r>
                        <a:rPr sz="1100">
                          <a:solidFill>
                            <a:srgbClr val="1A1A1A"/>
                          </a:solidFill>
                        </a:rPr>
                        <a:t>Rating/grievance; logs flag repeated errors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Skipping feedback is why some Nepali e-services never improve: without ratings and logs feeding back, the same friction repeats every year.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Process Model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Kanchhi Maiya renews her scooter tax online: she enters the vehicle details (input), the system checks her records and calculates tax plus any penalty (process), issues a digital receipt and updates her status (output), and she can rate the experience or file a grievance if it failed (feedback). If the department reads that feedback, next year's flow gets smoother — that is the loop working.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 e-service ends when you get your receipt." The output is not the end — feedback is. Without capturing ratings, complaints and error logs, a service cannot improve, and citizens hit the same problem every year. The loop, not the transaction, is the model.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E-governance follows a four-step process cycle: Input (the citizen submits a request or data), Process (the system validates and applies rules against its databases), Output (the service or result is delivered — receipt, approval, certificate), and Feedback (ratings, grievances and logs close the loop and drive improvement). It is a loop, not a one-off; skipping feedback is why services stop improving.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input · process · output · feedback · a loop not a one-shot · feedback drives improvement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4-Layer Architecture &amp; Security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e-governance system is built in four layers. Presentation: the app/website/portal you see and touch. Application: the business logic — rules, workflows, validation. Data: the databases and registries (citizen, PAN, vehicle, land). Infrastructure: the servers, network and data centre underneath. Security wraps every layer: National-ID login, encryption of data, and 2FA/OTP to confirm identity.</a:t>
            </a:r>
          </a:p>
          <a:p>
            <a:pPr>
              <a:spcAft>
                <a:spcPts val="500"/>
              </a:spcAft>
            </a:pPr>
            <a:r>
              <a:rPr sz="1200" b="1">
                <a:solidFill>
                  <a:srgbClr val="185FA5"/>
                </a:solidFill>
              </a:rPr>
              <a:t>HOW IT WORKS</a:t>
            </a:r>
          </a:p>
          <a:p>
            <a:pPr>
              <a:spcAft>
                <a:spcPts val="600"/>
              </a:spcAft>
            </a:pPr>
            <a:r>
              <a:rPr sz="1400">
                <a:solidFill>
                  <a:srgbClr val="1A1A1A"/>
                </a:solidFill>
              </a:rPr>
              <a:t>•  Presentation — the interface: Nagarik App screen, e-passport portal.</a:t>
            </a:r>
          </a:p>
          <a:p>
            <a:pPr>
              <a:spcAft>
                <a:spcPts val="600"/>
              </a:spcAft>
            </a:pPr>
            <a:r>
              <a:rPr sz="1400">
                <a:solidFill>
                  <a:srgbClr val="1A1A1A"/>
                </a:solidFill>
              </a:rPr>
              <a:t>•  Application — rules &amp; workflows: validates forms, routes requests.</a:t>
            </a:r>
          </a:p>
          <a:p>
            <a:pPr>
              <a:spcAft>
                <a:spcPts val="600"/>
              </a:spcAft>
            </a:pPr>
            <a:r>
              <a:rPr sz="1400">
                <a:solidFill>
                  <a:srgbClr val="1A1A1A"/>
                </a:solidFill>
              </a:rPr>
              <a:t>•  Data — registries &amp; databases: citizen, PAN, vehicle, land records.</a:t>
            </a:r>
          </a:p>
          <a:p>
            <a:pPr>
              <a:spcAft>
                <a:spcPts val="600"/>
              </a:spcAft>
            </a:pPr>
            <a:r>
              <a:rPr sz="1400">
                <a:solidFill>
                  <a:srgbClr val="1A1A1A"/>
                </a:solidFill>
              </a:rPr>
              <a:t>•  Infrastructure — servers, network, the Govt Integrated Data Centre; security wraps all four.</a:t>
            </a:r>
          </a:p>
        </p:txBody>
      </p:sp>
      <p:pic>
        <p:nvPicPr>
          <p:cNvPr id="6" name="Picture 5" descr="s43_egov_architecture.png"/>
          <p:cNvPicPr>
            <a:picLocks noChangeAspect="1"/>
          </p:cNvPicPr>
          <p:nvPr/>
        </p:nvPicPr>
        <p:blipFill>
          <a:blip r:embed="rId2"/>
          <a:stretch>
            <a:fillRect/>
          </a:stretch>
        </p:blipFill>
        <p:spPr>
          <a:xfrm>
            <a:off x="6355080" y="2598802"/>
            <a:ext cx="5532120" cy="243763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layers: Presentation / Application / Data / Infrastructure; security wraps all.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architecture layers — role &amp; Nepal example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388358"/>
                <a:gridCol w="4606119"/>
                <a:gridCol w="4435522"/>
              </a:tblGrid>
              <a:tr h="736092">
                <a:tc>
                  <a:txBody>
                    <a:bodyPr wrap="square"/>
                    <a:lstStyle/>
                    <a:p>
                      <a:r>
                        <a:rPr sz="1150" b="1">
                          <a:solidFill>
                            <a:srgbClr val="FFFFFF"/>
                          </a:solidFill>
                        </a:rPr>
                        <a:t>Layer</a:t>
                      </a:r>
                    </a:p>
                  </a:txBody>
                  <a:tcPr anchor="ctr" marL="73152" marR="54864" marT="27432" marB="27432">
                    <a:solidFill>
                      <a:srgbClr val="0C2B4A"/>
                    </a:solidFill>
                  </a:tcPr>
                </a:tc>
                <a:tc>
                  <a:txBody>
                    <a:bodyPr wrap="square"/>
                    <a:lstStyle/>
                    <a:p>
                      <a:r>
                        <a:rPr sz="1150" b="1">
                          <a:solidFill>
                            <a:srgbClr val="FFFFFF"/>
                          </a:solidFill>
                        </a:rPr>
                        <a:t>Role</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Presentation</a:t>
                      </a:r>
                    </a:p>
                  </a:txBody>
                  <a:tcPr anchor="ctr" marL="73152" marR="54864" marT="27432" marB="27432">
                    <a:solidFill>
                      <a:srgbClr val="FFFFFF"/>
                    </a:solidFill>
                  </a:tcPr>
                </a:tc>
                <a:tc>
                  <a:txBody>
                    <a:bodyPr wrap="square"/>
                    <a:lstStyle/>
                    <a:p>
                      <a:r>
                        <a:rPr sz="1100">
                          <a:solidFill>
                            <a:srgbClr val="1A1A1A"/>
                          </a:solidFill>
                        </a:rPr>
                        <a:t>What the citizen sees &amp; touches</a:t>
                      </a:r>
                    </a:p>
                  </a:txBody>
                  <a:tcPr anchor="ctr" marL="73152" marR="54864" marT="27432" marB="27432">
                    <a:solidFill>
                      <a:srgbClr val="FFFFFF"/>
                    </a:solidFill>
                  </a:tcPr>
                </a:tc>
                <a:tc>
                  <a:txBody>
                    <a:bodyPr wrap="square"/>
                    <a:lstStyle/>
                    <a:p>
                      <a:r>
                        <a:rPr sz="1100">
                          <a:solidFill>
                            <a:srgbClr val="1A1A1A"/>
                          </a:solidFill>
                        </a:rPr>
                        <a:t>Nagarik App screen; e-passport portal</a:t>
                      </a:r>
                    </a:p>
                  </a:txBody>
                  <a:tcPr anchor="ctr" marL="73152" marR="54864" marT="27432" marB="27432">
                    <a:solidFill>
                      <a:srgbClr val="FFFFFF"/>
                    </a:solidFill>
                  </a:tcPr>
                </a:tc>
              </a:tr>
              <a:tr h="736092">
                <a:tc>
                  <a:txBody>
                    <a:bodyPr wrap="square"/>
                    <a:lstStyle/>
                    <a:p>
                      <a:r>
                        <a:rPr sz="1100" b="1">
                          <a:solidFill>
                            <a:srgbClr val="0C2B4A"/>
                          </a:solidFill>
                        </a:rPr>
                        <a:t>Application</a:t>
                      </a:r>
                    </a:p>
                  </a:txBody>
                  <a:tcPr anchor="ctr" marL="73152" marR="54864" marT="27432" marB="27432">
                    <a:solidFill>
                      <a:srgbClr val="EEF3F8"/>
                    </a:solidFill>
                  </a:tcPr>
                </a:tc>
                <a:tc>
                  <a:txBody>
                    <a:bodyPr wrap="square"/>
                    <a:lstStyle/>
                    <a:p>
                      <a:r>
                        <a:rPr sz="1100">
                          <a:solidFill>
                            <a:srgbClr val="1A1A1A"/>
                          </a:solidFill>
                        </a:rPr>
                        <a:t>Business logic — rules, workflows, validation</a:t>
                      </a:r>
                    </a:p>
                  </a:txBody>
                  <a:tcPr anchor="ctr" marL="73152" marR="54864" marT="27432" marB="27432">
                    <a:solidFill>
                      <a:srgbClr val="EEF3F8"/>
                    </a:solidFill>
                  </a:tcPr>
                </a:tc>
                <a:tc>
                  <a:txBody>
                    <a:bodyPr wrap="square"/>
                    <a:lstStyle/>
                    <a:p>
                      <a:r>
                        <a:rPr sz="1100">
                          <a:solidFill>
                            <a:srgbClr val="1A1A1A"/>
                          </a:solidFill>
                        </a:rPr>
                        <a:t>Checks eligibility, computes fees, routes requests</a:t>
                      </a:r>
                    </a:p>
                  </a:txBody>
                  <a:tcPr anchor="ctr" marL="73152" marR="54864" marT="27432" marB="27432">
                    <a:solidFill>
                      <a:srgbClr val="EEF3F8"/>
                    </a:solidFill>
                  </a:tcPr>
                </a:tc>
              </a:tr>
              <a:tr h="736092">
                <a:tc>
                  <a:txBody>
                    <a:bodyPr wrap="square"/>
                    <a:lstStyle/>
                    <a:p>
                      <a:r>
                        <a:rPr sz="1100" b="1">
                          <a:solidFill>
                            <a:srgbClr val="0C2B4A"/>
                          </a:solidFill>
                        </a:rPr>
                        <a:t>Data</a:t>
                      </a:r>
                    </a:p>
                  </a:txBody>
                  <a:tcPr anchor="ctr" marL="73152" marR="54864" marT="27432" marB="27432">
                    <a:solidFill>
                      <a:srgbClr val="FFFFFF"/>
                    </a:solidFill>
                  </a:tcPr>
                </a:tc>
                <a:tc>
                  <a:txBody>
                    <a:bodyPr wrap="square"/>
                    <a:lstStyle/>
                    <a:p>
                      <a:r>
                        <a:rPr sz="1100">
                          <a:solidFill>
                            <a:srgbClr val="1A1A1A"/>
                          </a:solidFill>
                        </a:rPr>
                        <a:t>Databases &amp; registries that hold records</a:t>
                      </a:r>
                    </a:p>
                  </a:txBody>
                  <a:tcPr anchor="ctr" marL="73152" marR="54864" marT="27432" marB="27432">
                    <a:solidFill>
                      <a:srgbClr val="FFFFFF"/>
                    </a:solidFill>
                  </a:tcPr>
                </a:tc>
                <a:tc>
                  <a:txBody>
                    <a:bodyPr wrap="square"/>
                    <a:lstStyle/>
                    <a:p>
                      <a:r>
                        <a:rPr sz="1100">
                          <a:solidFill>
                            <a:srgbClr val="1A1A1A"/>
                          </a:solidFill>
                        </a:rPr>
                        <a:t>Citizen, PAN, vehicle, land registries</a:t>
                      </a:r>
                    </a:p>
                  </a:txBody>
                  <a:tcPr anchor="ctr" marL="73152" marR="54864" marT="27432" marB="27432">
                    <a:solidFill>
                      <a:srgbClr val="FFFFFF"/>
                    </a:solidFill>
                  </a:tcPr>
                </a:tc>
              </a:tr>
              <a:tr h="736092">
                <a:tc>
                  <a:txBody>
                    <a:bodyPr wrap="square"/>
                    <a:lstStyle/>
                    <a:p>
                      <a:r>
                        <a:rPr sz="1100" b="1">
                          <a:solidFill>
                            <a:srgbClr val="0C2B4A"/>
                          </a:solidFill>
                        </a:rPr>
                        <a:t>Infrastructure</a:t>
                      </a:r>
                    </a:p>
                  </a:txBody>
                  <a:tcPr anchor="ctr" marL="73152" marR="54864" marT="27432" marB="27432">
                    <a:solidFill>
                      <a:srgbClr val="EEF3F8"/>
                    </a:solidFill>
                  </a:tcPr>
                </a:tc>
                <a:tc>
                  <a:txBody>
                    <a:bodyPr wrap="square"/>
                    <a:lstStyle/>
                    <a:p>
                      <a:r>
                        <a:rPr sz="1100">
                          <a:solidFill>
                            <a:srgbClr val="1A1A1A"/>
                          </a:solidFill>
                        </a:rPr>
                        <a:t>Servers, network, hosting</a:t>
                      </a:r>
                    </a:p>
                  </a:txBody>
                  <a:tcPr anchor="ctr" marL="73152" marR="54864" marT="27432" marB="27432">
                    <a:solidFill>
                      <a:srgbClr val="EEF3F8"/>
                    </a:solidFill>
                  </a:tcPr>
                </a:tc>
                <a:tc>
                  <a:txBody>
                    <a:bodyPr wrap="square"/>
                    <a:lstStyle/>
                    <a:p>
                      <a:r>
                        <a:rPr sz="1100">
                          <a:solidFill>
                            <a:srgbClr val="1A1A1A"/>
                          </a:solidFill>
                        </a:rPr>
                        <a:t>Government Integrated Data Centre, fibre, cloud</a:t>
                      </a:r>
                    </a:p>
                  </a:txBody>
                  <a:tcPr anchor="ctr" marL="73152" marR="54864" marT="27432" marB="27432">
                    <a:solidFill>
                      <a:srgbClr val="EEF3F8"/>
                    </a:solidFill>
                  </a:tcPr>
                </a:tc>
              </a:tr>
              <a:tr h="736092">
                <a:tc>
                  <a:txBody>
                    <a:bodyPr wrap="square"/>
                    <a:lstStyle/>
                    <a:p>
                      <a:r>
                        <a:rPr sz="1100" b="1">
                          <a:solidFill>
                            <a:srgbClr val="0C2B4A"/>
                          </a:solidFill>
                        </a:rPr>
                        <a:t>Security (all layers)</a:t>
                      </a:r>
                    </a:p>
                  </a:txBody>
                  <a:tcPr anchor="ctr" marL="73152" marR="54864" marT="27432" marB="27432">
                    <a:solidFill>
                      <a:srgbClr val="FFFFFF"/>
                    </a:solidFill>
                  </a:tcPr>
                </a:tc>
                <a:tc>
                  <a:txBody>
                    <a:bodyPr wrap="square"/>
                    <a:lstStyle/>
                    <a:p>
                      <a:r>
                        <a:rPr sz="1100">
                          <a:solidFill>
                            <a:srgbClr val="1A1A1A"/>
                          </a:solidFill>
                        </a:rPr>
                        <a:t>Protects every layer</a:t>
                      </a:r>
                    </a:p>
                  </a:txBody>
                  <a:tcPr anchor="ctr" marL="73152" marR="54864" marT="27432" marB="27432">
                    <a:solidFill>
                      <a:srgbClr val="FFFFFF"/>
                    </a:solidFill>
                  </a:tcPr>
                </a:tc>
                <a:tc>
                  <a:txBody>
                    <a:bodyPr wrap="square"/>
                    <a:lstStyle/>
                    <a:p>
                      <a:r>
                        <a:rPr sz="1100">
                          <a:solidFill>
                            <a:srgbClr val="1A1A1A"/>
                          </a:solidFill>
                        </a:rPr>
                        <a:t>National-ID login, encryption, 2FA/OTP</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Layering lets one layer change without breaking the others (a new app UI can reuse the same data layer). Security is drawn as crossing all four, not sitting inside one.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4-Layer Architecture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Renewing a passport touches all four layers: the portal you fill in (presentation), the rules that check your eligibility and slot (application), the citizenship and passport registries it reads (data), and the data-centre servers hosting it (infrastructure) — while National-ID login, encryption and OTP keep it secure. When people say 'the site is down', it is usually the infrastructure layer, not the app design, that failed.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"Security is just one more layer on top." Security is not a layer — it crosses ALL four: the login (presentation), authorised workflows (application), encrypted registries (data), and hardened servers (infrastructure). Bolt it onto only one and the others leak.</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e-governance system has four layers: Presentation (the app/website interface), Application (business logic — rules, workflows, validation), Data (databases and registries: citizen, PAN, vehicle, land), and Infrastructure (servers, network, data centre). Security — National-ID login, encryption, 2FA/OTP — wraps every layer rather than being a separate one. Layering lets one layer change without breaking the others.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presentation · application · data · infrastructure · security across all layers · Govt Integrated Data Centre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E-Governance Maturity (the UN 4 stages)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E-governance grows through maturity stages. The UN model has four: Emerging (static information only — read a webpage), Enhanced (downloadable forms and richer content), Transactional (do a two-way transaction — pay, apply, submit online), and Connected (services joined up across agencies around one identity, proactive and seamless). Countries climb this ladder; Nepal is reportedly around the transactional stage for many services, not yet connected.</a:t>
            </a:r>
          </a:p>
          <a:p>
            <a:pPr>
              <a:spcAft>
                <a:spcPts val="500"/>
              </a:spcAft>
            </a:pPr>
            <a:r>
              <a:rPr sz="1200" b="1">
                <a:solidFill>
                  <a:srgbClr val="185FA5"/>
                </a:solidFill>
              </a:rPr>
              <a:t>HOW IT WORKS</a:t>
            </a:r>
          </a:p>
          <a:p>
            <a:pPr>
              <a:spcAft>
                <a:spcPts val="600"/>
              </a:spcAft>
            </a:pPr>
            <a:r>
              <a:rPr sz="1400">
                <a:solidFill>
                  <a:srgbClr val="1A1A1A"/>
                </a:solidFill>
              </a:rPr>
              <a:t>•  Emerging — information only; you can read but not act.</a:t>
            </a:r>
          </a:p>
          <a:p>
            <a:pPr>
              <a:spcAft>
                <a:spcPts val="600"/>
              </a:spcAft>
            </a:pPr>
            <a:r>
              <a:rPr sz="1400">
                <a:solidFill>
                  <a:srgbClr val="1A1A1A"/>
                </a:solidFill>
              </a:rPr>
              <a:t>•  Enhanced — download forms, more content; still no online transaction.</a:t>
            </a:r>
          </a:p>
          <a:p>
            <a:pPr>
              <a:spcAft>
                <a:spcPts val="600"/>
              </a:spcAft>
            </a:pPr>
            <a:r>
              <a:rPr sz="1400">
                <a:solidFill>
                  <a:srgbClr val="1A1A1A"/>
                </a:solidFill>
              </a:rPr>
              <a:t>•  Transactional — pay, apply, submit fully online (two-way).</a:t>
            </a:r>
          </a:p>
          <a:p>
            <a:pPr>
              <a:spcAft>
                <a:spcPts val="600"/>
              </a:spcAft>
            </a:pPr>
            <a:r>
              <a:rPr sz="1400">
                <a:solidFill>
                  <a:srgbClr val="1A1A1A"/>
                </a:solidFill>
              </a:rPr>
              <a:t>•  Connected — services integrated across agencies around one identity; proactive.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Maturity ladder: Emerging -&gt; Enhanced -&gt; Transactional -&gt; Connected. Nepal ~ transactional.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maturity stages — what a citizen can do, and Nepal's position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286000"/>
                <a:gridCol w="4898571"/>
                <a:gridCol w="4245428"/>
              </a:tblGrid>
              <a:tr h="883310">
                <a:tc>
                  <a:txBody>
                    <a:bodyPr wrap="square"/>
                    <a:lstStyle/>
                    <a:p>
                      <a:r>
                        <a:rPr sz="1150" b="1">
                          <a:solidFill>
                            <a:srgbClr val="FFFFFF"/>
                          </a:solidFill>
                        </a:rPr>
                        <a:t>Stage</a:t>
                      </a:r>
                    </a:p>
                  </a:txBody>
                  <a:tcPr anchor="ctr" marL="73152" marR="54864" marT="27432" marB="27432">
                    <a:solidFill>
                      <a:srgbClr val="0C2B4A"/>
                    </a:solidFill>
                  </a:tcPr>
                </a:tc>
                <a:tc>
                  <a:txBody>
                    <a:bodyPr wrap="square"/>
                    <a:lstStyle/>
                    <a:p>
                      <a:r>
                        <a:rPr sz="1150" b="1">
                          <a:solidFill>
                            <a:srgbClr val="FFFFFF"/>
                          </a:solidFill>
                        </a:rPr>
                        <a:t>What the citizen can do</a:t>
                      </a:r>
                    </a:p>
                  </a:txBody>
                  <a:tcPr anchor="ctr" marL="73152" marR="54864" marT="27432" marB="27432">
                    <a:solidFill>
                      <a:srgbClr val="0C2B4A"/>
                    </a:solidFill>
                  </a:tcPr>
                </a:tc>
                <a:tc>
                  <a:txBody>
                    <a:bodyPr wrap="square"/>
                    <a:lstStyle/>
                    <a:p>
                      <a:r>
                        <a:rPr sz="1150" b="1">
                          <a:solidFill>
                            <a:srgbClr val="FFFFFF"/>
                          </a:solidFill>
                        </a:rPr>
                        <a:t>Nepal position (reported)</a:t>
                      </a:r>
                    </a:p>
                  </a:txBody>
                  <a:tcPr anchor="ctr" marL="73152" marR="54864" marT="27432" marB="27432">
                    <a:solidFill>
                      <a:srgbClr val="0C2B4A"/>
                    </a:solidFill>
                  </a:tcPr>
                </a:tc>
              </a:tr>
              <a:tr h="883310">
                <a:tc>
                  <a:txBody>
                    <a:bodyPr wrap="square"/>
                    <a:lstStyle/>
                    <a:p>
                      <a:r>
                        <a:rPr sz="1100" b="1">
                          <a:solidFill>
                            <a:srgbClr val="0C2B4A"/>
                          </a:solidFill>
                        </a:rPr>
                        <a:t>Emerging</a:t>
                      </a:r>
                    </a:p>
                  </a:txBody>
                  <a:tcPr anchor="ctr" marL="73152" marR="54864" marT="27432" marB="27432">
                    <a:solidFill>
                      <a:srgbClr val="FFFFFF"/>
                    </a:solidFill>
                  </a:tcPr>
                </a:tc>
                <a:tc>
                  <a:txBody>
                    <a:bodyPr wrap="square"/>
                    <a:lstStyle/>
                    <a:p>
                      <a:r>
                        <a:rPr sz="1100">
                          <a:solidFill>
                            <a:srgbClr val="1A1A1A"/>
                          </a:solidFill>
                        </a:rPr>
                        <a:t>Read static information on a page</a:t>
                      </a:r>
                    </a:p>
                  </a:txBody>
                  <a:tcPr anchor="ctr" marL="73152" marR="54864" marT="27432" marB="27432">
                    <a:solidFill>
                      <a:srgbClr val="FFFFFF"/>
                    </a:solidFill>
                  </a:tcPr>
                </a:tc>
                <a:tc>
                  <a:txBody>
                    <a:bodyPr wrap="square"/>
                    <a:lstStyle/>
                    <a:p>
                      <a:r>
                        <a:rPr sz="1100">
                          <a:solidFill>
                            <a:srgbClr val="1A1A1A"/>
                          </a:solidFill>
                        </a:rPr>
                        <a:t>Long past this stage</a:t>
                      </a:r>
                    </a:p>
                  </a:txBody>
                  <a:tcPr anchor="ctr" marL="73152" marR="54864" marT="27432" marB="27432">
                    <a:solidFill>
                      <a:srgbClr val="FFFFFF"/>
                    </a:solidFill>
                  </a:tcPr>
                </a:tc>
              </a:tr>
              <a:tr h="883310">
                <a:tc>
                  <a:txBody>
                    <a:bodyPr wrap="square"/>
                    <a:lstStyle/>
                    <a:p>
                      <a:r>
                        <a:rPr sz="1100" b="1">
                          <a:solidFill>
                            <a:srgbClr val="0C2B4A"/>
                          </a:solidFill>
                        </a:rPr>
                        <a:t>Enhanced</a:t>
                      </a:r>
                    </a:p>
                  </a:txBody>
                  <a:tcPr anchor="ctr" marL="73152" marR="54864" marT="27432" marB="27432">
                    <a:solidFill>
                      <a:srgbClr val="EEF3F8"/>
                    </a:solidFill>
                  </a:tcPr>
                </a:tc>
                <a:tc>
                  <a:txBody>
                    <a:bodyPr wrap="square"/>
                    <a:lstStyle/>
                    <a:p>
                      <a:r>
                        <a:rPr sz="1100">
                          <a:solidFill>
                            <a:srgbClr val="1A1A1A"/>
                          </a:solidFill>
                        </a:rPr>
                        <a:t>Download forms, richer content</a:t>
                      </a:r>
                    </a:p>
                  </a:txBody>
                  <a:tcPr anchor="ctr" marL="73152" marR="54864" marT="27432" marB="27432">
                    <a:solidFill>
                      <a:srgbClr val="EEF3F8"/>
                    </a:solidFill>
                  </a:tcPr>
                </a:tc>
                <a:tc>
                  <a:txBody>
                    <a:bodyPr wrap="square"/>
                    <a:lstStyle/>
                    <a:p>
                      <a:r>
                        <a:rPr sz="1100">
                          <a:solidFill>
                            <a:srgbClr val="1A1A1A"/>
                          </a:solidFill>
                        </a:rPr>
                        <a:t>Achieved widely</a:t>
                      </a:r>
                    </a:p>
                  </a:txBody>
                  <a:tcPr anchor="ctr" marL="73152" marR="54864" marT="27432" marB="27432">
                    <a:solidFill>
                      <a:srgbClr val="EEF3F8"/>
                    </a:solidFill>
                  </a:tcPr>
                </a:tc>
              </a:tr>
              <a:tr h="883310">
                <a:tc>
                  <a:txBody>
                    <a:bodyPr wrap="square"/>
                    <a:lstStyle/>
                    <a:p>
                      <a:r>
                        <a:rPr sz="1100" b="1">
                          <a:solidFill>
                            <a:srgbClr val="0C2B4A"/>
                          </a:solidFill>
                        </a:rPr>
                        <a:t>Transactional</a:t>
                      </a:r>
                    </a:p>
                  </a:txBody>
                  <a:tcPr anchor="ctr" marL="73152" marR="54864" marT="27432" marB="27432">
                    <a:solidFill>
                      <a:srgbClr val="FFFFFF"/>
                    </a:solidFill>
                  </a:tcPr>
                </a:tc>
                <a:tc>
                  <a:txBody>
                    <a:bodyPr wrap="square"/>
                    <a:lstStyle/>
                    <a:p>
                      <a:r>
                        <a:rPr sz="1100">
                          <a:solidFill>
                            <a:srgbClr val="1A1A1A"/>
                          </a:solidFill>
                        </a:rPr>
                        <a:t>Pay, apply, submit fully online</a:t>
                      </a:r>
                    </a:p>
                  </a:txBody>
                  <a:tcPr anchor="ctr" marL="73152" marR="54864" marT="27432" marB="27432">
                    <a:solidFill>
                      <a:srgbClr val="FFFFFF"/>
                    </a:solidFill>
                  </a:tcPr>
                </a:tc>
                <a:tc>
                  <a:txBody>
                    <a:bodyPr wrap="square"/>
                    <a:lstStyle/>
                    <a:p>
                      <a:r>
                        <a:rPr sz="1100">
                          <a:solidFill>
                            <a:srgbClr val="1A1A1A"/>
                          </a:solidFill>
                        </a:rPr>
                        <a:t>Reached for many services (tax, passport)</a:t>
                      </a:r>
                    </a:p>
                  </a:txBody>
                  <a:tcPr anchor="ctr" marL="73152" marR="54864" marT="27432" marB="27432">
                    <a:solidFill>
                      <a:srgbClr val="FFFFFF"/>
                    </a:solidFill>
                  </a:tcPr>
                </a:tc>
              </a:tr>
              <a:tr h="883312">
                <a:tc>
                  <a:txBody>
                    <a:bodyPr wrap="square"/>
                    <a:lstStyle/>
                    <a:p>
                      <a:r>
                        <a:rPr sz="1100" b="1">
                          <a:solidFill>
                            <a:srgbClr val="0C2B4A"/>
                          </a:solidFill>
                        </a:rPr>
                        <a:t>Connected</a:t>
                      </a:r>
                    </a:p>
                  </a:txBody>
                  <a:tcPr anchor="ctr" marL="73152" marR="54864" marT="27432" marB="27432">
                    <a:solidFill>
                      <a:srgbClr val="EEF3F8"/>
                    </a:solidFill>
                  </a:tcPr>
                </a:tc>
                <a:tc>
                  <a:txBody>
                    <a:bodyPr wrap="square"/>
                    <a:lstStyle/>
                    <a:p>
                      <a:r>
                        <a:rPr sz="1100">
                          <a:solidFill>
                            <a:srgbClr val="1A1A1A"/>
                          </a:solidFill>
                        </a:rPr>
                        <a:t>One identity, services joined across agencies, proactive</a:t>
                      </a:r>
                    </a:p>
                  </a:txBody>
                  <a:tcPr anchor="ctr" marL="73152" marR="54864" marT="27432" marB="27432">
                    <a:solidFill>
                      <a:srgbClr val="EEF3F8"/>
                    </a:solidFill>
                  </a:tcPr>
                </a:tc>
                <a:tc>
                  <a:txBody>
                    <a:bodyPr wrap="square"/>
                    <a:lstStyle/>
                    <a:p>
                      <a:r>
                        <a:rPr sz="1100">
                          <a:solidFill>
                            <a:srgbClr val="1A1A1A"/>
                          </a:solidFill>
                        </a:rPr>
                        <a:t>Not yet — systems remain siloed (the main gap)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Reported positioning — treat as indicative, not an official score. Nepal's leap from 'transactional' to 'connected' needs shared identity (National ID) and data sharing (G2G interoperability).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E-Governance Maturity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can already do transactional e-governance — pay vehicle tax, apply for a passport, file VAT online. But it is not yet 'connected': the passport office, tax office and citizenship registry run on separate systems that don't share one identity, so a citizen re-submits the same documents to each. Reaching the connected stage is exactly what National ID + G2G data sharing (S44) is meant to unlock.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"Once services are online, e-governance is complete." Being online (transactional) is stage 3 of 4. The hardest, highest stage is 'connected' — one identity, agencies sharing data, government acting proactively. Nepal's real gap is not putting services online but joining them up.</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E-governance maturity is often modelled in four UN stages: Emerging (static information only), Enhanced (downloadable forms, richer content), Transactional (pay/apply/submit fully online, two-way), and Connected (services integrated across agencies around one identity, proactive and seamless). Nepal is reportedly around the transactional stage for many services but not yet connected — systems remain siloed, which is its central e-governance gap.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maturity stages · emerging · enhanced · transactional · connected · Nepal ~ transactional · 'connected' needs data sharing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S43 — 'Rate the maturity'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one Nepali e-service (passport, vehicle tax, PAN, exam results).</a:t>
            </a:r>
          </a:p>
          <a:p>
            <a:pPr>
              <a:spcAft>
                <a:spcPts val="700"/>
              </a:spcAft>
            </a:pPr>
            <a:r>
              <a:rPr sz="1550">
                <a:solidFill>
                  <a:srgbClr val="1A1A1A"/>
                </a:solidFill>
              </a:rPr>
              <a:t>•  Place it on the maturity ladder (emerging/enhanced/transactional/connected) with a reason.</a:t>
            </a:r>
          </a:p>
          <a:p>
            <a:pPr>
              <a:spcAft>
                <a:spcPts val="700"/>
              </a:spcAft>
            </a:pPr>
            <a:r>
              <a:rPr sz="1550">
                <a:solidFill>
                  <a:srgbClr val="1A1A1A"/>
                </a:solidFill>
              </a:rPr>
              <a:t>•  Name the ONE change that would push it up a stage.</a:t>
            </a:r>
          </a:p>
          <a:p>
            <a:pPr>
              <a:spcAft>
                <a:spcPts val="700"/>
              </a:spcAft>
            </a:pPr>
            <a:r>
              <a:rPr sz="1550">
                <a:solidFill>
                  <a:srgbClr val="1A1A1A"/>
                </a:solidFill>
              </a:rPr>
              <a:t>•  Take 3–4 answers aloud (2 min); most will land at transactional, not connected.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Expected: most services rate 'transactional' (you can pay/apply) but not 'connected' (they don't share data). The upgrade is usually shared identity + inter-agency data sharing. Reward naming the specific missing link.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correct order of the e-governance process model is:</a:t>
            </a:r>
          </a:p>
          <a:p>
            <a:pPr lvl="1"/>
            <a:r>
              <a:rPr sz="1500" b="1">
                <a:solidFill>
                  <a:srgbClr val="0F6E56"/>
                </a:solidFill>
              </a:rPr>
              <a:t>a) output-input-process-feedback   b) ✅ input-process-output-feedback   c) process-input-feedback-output   d) input-output-process-feedback</a:t>
            </a:r>
          </a:p>
          <a:p>
            <a:pPr lvl="1">
              <a:spcBef>
                <a:spcPts val="600"/>
              </a:spcBef>
            </a:pPr>
            <a:r>
              <a:rPr sz="1500" i="1">
                <a:solidFill>
                  <a:srgbClr val="1A1A1A"/>
                </a:solidFill>
              </a:rPr>
              <a:t>     Why: the citizen submits (input), the system processes, delivers the result (output), then feedback closes the loop.</a:t>
            </a:r>
          </a:p>
          <a:p>
            <a:pPr>
              <a:spcBef>
                <a:spcPts val="900"/>
              </a:spcBef>
            </a:pPr>
            <a:r>
              <a:rPr sz="1700" b="1">
                <a:solidFill>
                  <a:srgbClr val="0C2B4A"/>
                </a:solidFill>
              </a:rPr>
              <a:t>Q2.  Which architecture layer holds citizen, PAN and vehicle registries?</a:t>
            </a:r>
          </a:p>
          <a:p>
            <a:pPr lvl="1"/>
            <a:r>
              <a:rPr sz="1500" b="1">
                <a:solidFill>
                  <a:srgbClr val="0F6E56"/>
                </a:solidFill>
              </a:rPr>
              <a:t>a) presentation   b) application   c) ✅ data   d) infrastructure</a:t>
            </a:r>
          </a:p>
          <a:p>
            <a:pPr lvl="1">
              <a:spcBef>
                <a:spcPts val="600"/>
              </a:spcBef>
            </a:pPr>
            <a:r>
              <a:rPr sz="1500" i="1">
                <a:solidFill>
                  <a:srgbClr val="1A1A1A"/>
                </a:solidFill>
              </a:rPr>
              <a:t>     Why: the data layer is the databases/registries; infrastructure is the servers/network beneath them.</a:t>
            </a:r>
          </a:p>
          <a:p>
            <a:pPr lvl="1">
              <a:spcBef>
                <a:spcPts val="600"/>
              </a:spcBef>
            </a:pPr>
            <a:r>
              <a:rPr sz="1500" i="1">
                <a:solidFill>
                  <a:srgbClr val="1A1A1A"/>
                </a:solidFill>
              </a:rPr>
              <a:t>Discussion: at which maturity stage is Nepal, and what would move it to 'connected'?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Process model: input -&gt; process -&gt; output -&gt; feedback — a loop; skipping feedback stops improvement.</a:t>
            </a:r>
          </a:p>
          <a:p>
            <a:pPr>
              <a:spcAft>
                <a:spcPts val="800"/>
              </a:spcAft>
            </a:pPr>
            <a:r>
              <a:rPr sz="1500">
                <a:solidFill>
                  <a:srgbClr val="1A1A1A"/>
                </a:solidFill>
              </a:rPr>
              <a:t>2.  Four layers: presentation, application, data, infrastructure; security wraps all four (not a 5th layer).</a:t>
            </a:r>
          </a:p>
          <a:p>
            <a:pPr>
              <a:spcAft>
                <a:spcPts val="800"/>
              </a:spcAft>
            </a:pPr>
            <a:r>
              <a:rPr sz="1500">
                <a:solidFill>
                  <a:srgbClr val="1A1A1A"/>
                </a:solidFill>
              </a:rPr>
              <a:t>3.  Maturity ladder: emerging -&gt; enhanced -&gt; transactional -&gt; connected; Nepal is ~transactional, not yet connected.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the engineering reality behind every e-service. Knowing the layers tells you what 'the server is down' means, and the maturity ladder tells you Nepal's real task is joining services up, not just putting them online.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S44 — from architecture to reality: Nepal's actual e-gov initiatives and the policy stack (IT Policy 2072, Digital Nepal Framework, National ID).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44 · LECTURE HOUR 3 (OF 7) — THE NEPAL POLICY STACK, ADDED FRESH</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E-Governance Practices &amp; Policy in Nepal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Nepal has a citizen-services app, an interbank payment rail, online passports, a national data centre — plus a Digital Nepal Framework promising ~80 initiatives across 8 sectors. On paper, an e-state. So why does Sita in Humla still travel two days for a document? This session separates what is built from what is only written — and pins down the policy stack behind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30 /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E-Governance Initiatives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Nepal has launched several concrete e-governance systems. Nagarik App bundles citizen services (PAN, EPF/CIT, vehicle records) in one app. ConnectIPS (run by NCHL) moves money between banks and pays bills. The online passport system handles applications. The Government Integrated Data Centre (GIDC) hosts government systems. Broadband/rural connectivity programmes extend the network. Together they are Nepal's working e-gov, unevenly built.</a:t>
            </a:r>
          </a:p>
          <a:p>
            <a:pPr>
              <a:spcAft>
                <a:spcPts val="500"/>
              </a:spcAft>
            </a:pPr>
            <a:r>
              <a:rPr sz="1200" b="1">
                <a:solidFill>
                  <a:srgbClr val="185FA5"/>
                </a:solidFill>
              </a:rPr>
              <a:t>HOW IT WORKS</a:t>
            </a:r>
          </a:p>
          <a:p>
            <a:pPr>
              <a:spcAft>
                <a:spcPts val="600"/>
              </a:spcAft>
            </a:pPr>
            <a:r>
              <a:rPr sz="1400">
                <a:solidFill>
                  <a:srgbClr val="1A1A1A"/>
                </a:solidFill>
              </a:rPr>
              <a:t>•  Nagarik App — single citizen-services app (records, payments, certificates).</a:t>
            </a:r>
          </a:p>
          <a:p>
            <a:pPr>
              <a:spcAft>
                <a:spcPts val="600"/>
              </a:spcAft>
            </a:pPr>
            <a:r>
              <a:rPr sz="1400">
                <a:solidFill>
                  <a:srgbClr val="1A1A1A"/>
                </a:solidFill>
              </a:rPr>
              <a:t>•  ConnectIPS / NepalPay — interbank transfers and bill payment rails.</a:t>
            </a:r>
          </a:p>
          <a:p>
            <a:pPr>
              <a:spcAft>
                <a:spcPts val="600"/>
              </a:spcAft>
            </a:pPr>
            <a:r>
              <a:rPr sz="1400">
                <a:solidFill>
                  <a:srgbClr val="1A1A1A"/>
                </a:solidFill>
              </a:rPr>
              <a:t>•  Online passport &amp; IRD e-filing — transactional G2C/G2B services.</a:t>
            </a:r>
          </a:p>
          <a:p>
            <a:pPr>
              <a:spcAft>
                <a:spcPts val="600"/>
              </a:spcAft>
            </a:pPr>
            <a:r>
              <a:rPr sz="1400">
                <a:solidFill>
                  <a:srgbClr val="1A1A1A"/>
                </a:solidFill>
              </a:rPr>
              <a:t>•  Government Integrated Data Centre + broadband expansion — the hosting &amp; connectivity base.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Working initiatives: Nagarik App · ConnectIPS · online passport · IRD e-filing · GIDC · broadband.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e-governance initiatives — purpose &amp; status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41343"/>
                <a:gridCol w="4094328"/>
                <a:gridCol w="4094328"/>
              </a:tblGrid>
              <a:tr h="630936">
                <a:tc>
                  <a:txBody>
                    <a:bodyPr wrap="square"/>
                    <a:lstStyle/>
                    <a:p>
                      <a:r>
                        <a:rPr sz="1100" b="1">
                          <a:solidFill>
                            <a:srgbClr val="FFFFFF"/>
                          </a:solidFill>
                        </a:rPr>
                        <a:t>Initiative</a:t>
                      </a:r>
                    </a:p>
                  </a:txBody>
                  <a:tcPr anchor="ctr" marL="73152" marR="54864" marT="27432" marB="27432">
                    <a:solidFill>
                      <a:srgbClr val="0C2B4A"/>
                    </a:solidFill>
                  </a:tcPr>
                </a:tc>
                <a:tc>
                  <a:txBody>
                    <a:bodyPr wrap="square"/>
                    <a:lstStyle/>
                    <a:p>
                      <a:r>
                        <a:rPr sz="1100" b="1">
                          <a:solidFill>
                            <a:srgbClr val="FFFFFF"/>
                          </a:solidFill>
                        </a:rPr>
                        <a:t>Purpose</a:t>
                      </a:r>
                    </a:p>
                  </a:txBody>
                  <a:tcPr anchor="ctr" marL="73152" marR="54864" marT="27432" marB="27432">
                    <a:solidFill>
                      <a:srgbClr val="0C2B4A"/>
                    </a:solidFill>
                  </a:tcPr>
                </a:tc>
                <a:tc>
                  <a:txBody>
                    <a:bodyPr wrap="square"/>
                    <a:lstStyle/>
                    <a:p>
                      <a:r>
                        <a:rPr sz="1100" b="1">
                          <a:solidFill>
                            <a:srgbClr val="FFFFFF"/>
                          </a:solidFill>
                        </a:rPr>
                        <a:t>Status (reported — verify)</a:t>
                      </a:r>
                    </a:p>
                  </a:txBody>
                  <a:tcPr anchor="ctr" marL="73152" marR="54864" marT="27432" marB="27432">
                    <a:solidFill>
                      <a:srgbClr val="0C2B4A"/>
                    </a:solidFill>
                  </a:tcPr>
                </a:tc>
              </a:tr>
              <a:tr h="630936">
                <a:tc>
                  <a:txBody>
                    <a:bodyPr wrap="square"/>
                    <a:lstStyle/>
                    <a:p>
                      <a:r>
                        <a:rPr sz="1050" b="1">
                          <a:solidFill>
                            <a:srgbClr val="0C2B4A"/>
                          </a:solidFill>
                        </a:rPr>
                        <a:t>Nagarik App</a:t>
                      </a:r>
                    </a:p>
                  </a:txBody>
                  <a:tcPr anchor="ctr" marL="73152" marR="54864" marT="27432" marB="27432">
                    <a:solidFill>
                      <a:srgbClr val="FFFFFF"/>
                    </a:solidFill>
                  </a:tcPr>
                </a:tc>
                <a:tc>
                  <a:txBody>
                    <a:bodyPr wrap="square"/>
                    <a:lstStyle/>
                    <a:p>
                      <a:r>
                        <a:rPr sz="1050">
                          <a:solidFill>
                            <a:srgbClr val="1A1A1A"/>
                          </a:solidFill>
                        </a:rPr>
                        <a:t>One app for citizen services &amp; records</a:t>
                      </a:r>
                    </a:p>
                  </a:txBody>
                  <a:tcPr anchor="ctr" marL="73152" marR="54864" marT="27432" marB="27432">
                    <a:solidFill>
                      <a:srgbClr val="FFFFFF"/>
                    </a:solidFill>
                  </a:tcPr>
                </a:tc>
                <a:tc>
                  <a:txBody>
                    <a:bodyPr wrap="square"/>
                    <a:lstStyle/>
                    <a:p>
                      <a:r>
                        <a:rPr sz="1050">
                          <a:solidFill>
                            <a:srgbClr val="1A1A1A"/>
                          </a:solidFill>
                        </a:rPr>
                        <a:t>Live; more services being integrated</a:t>
                      </a:r>
                    </a:p>
                  </a:txBody>
                  <a:tcPr anchor="ctr" marL="73152" marR="54864" marT="27432" marB="27432">
                    <a:solidFill>
                      <a:srgbClr val="FFFFFF"/>
                    </a:solidFill>
                  </a:tcPr>
                </a:tc>
              </a:tr>
              <a:tr h="630936">
                <a:tc>
                  <a:txBody>
                    <a:bodyPr wrap="square"/>
                    <a:lstStyle/>
                    <a:p>
                      <a:r>
                        <a:rPr sz="1050" b="1">
                          <a:solidFill>
                            <a:srgbClr val="0C2B4A"/>
                          </a:solidFill>
                        </a:rPr>
                        <a:t>ConnectIPS (NCHL)</a:t>
                      </a:r>
                    </a:p>
                  </a:txBody>
                  <a:tcPr anchor="ctr" marL="73152" marR="54864" marT="27432" marB="27432">
                    <a:solidFill>
                      <a:srgbClr val="EEF3F8"/>
                    </a:solidFill>
                  </a:tcPr>
                </a:tc>
                <a:tc>
                  <a:txBody>
                    <a:bodyPr wrap="square"/>
                    <a:lstStyle/>
                    <a:p>
                      <a:r>
                        <a:rPr sz="1050">
                          <a:solidFill>
                            <a:srgbClr val="1A1A1A"/>
                          </a:solidFill>
                        </a:rPr>
                        <a:t>Interbank transfer &amp; bill payment</a:t>
                      </a:r>
                    </a:p>
                  </a:txBody>
                  <a:tcPr anchor="ctr" marL="73152" marR="54864" marT="27432" marB="27432">
                    <a:solidFill>
                      <a:srgbClr val="EEF3F8"/>
                    </a:solidFill>
                  </a:tcPr>
                </a:tc>
                <a:tc>
                  <a:txBody>
                    <a:bodyPr wrap="square"/>
                    <a:lstStyle/>
                    <a:p>
                      <a:r>
                        <a:rPr sz="1050">
                          <a:solidFill>
                            <a:srgbClr val="1A1A1A"/>
                          </a:solidFill>
                        </a:rPr>
                        <a:t>Live and widely used</a:t>
                      </a:r>
                    </a:p>
                  </a:txBody>
                  <a:tcPr anchor="ctr" marL="73152" marR="54864" marT="27432" marB="27432">
                    <a:solidFill>
                      <a:srgbClr val="EEF3F8"/>
                    </a:solidFill>
                  </a:tcPr>
                </a:tc>
              </a:tr>
              <a:tr h="630936">
                <a:tc>
                  <a:txBody>
                    <a:bodyPr wrap="square"/>
                    <a:lstStyle/>
                    <a:p>
                      <a:r>
                        <a:rPr sz="1050" b="1">
                          <a:solidFill>
                            <a:srgbClr val="0C2B4A"/>
                          </a:solidFill>
                        </a:rPr>
                        <a:t>Online passport (DoP)</a:t>
                      </a:r>
                    </a:p>
                  </a:txBody>
                  <a:tcPr anchor="ctr" marL="73152" marR="54864" marT="27432" marB="27432">
                    <a:solidFill>
                      <a:srgbClr val="FFFFFF"/>
                    </a:solidFill>
                  </a:tcPr>
                </a:tc>
                <a:tc>
                  <a:txBody>
                    <a:bodyPr wrap="square"/>
                    <a:lstStyle/>
                    <a:p>
                      <a:r>
                        <a:rPr sz="1050">
                          <a:solidFill>
                            <a:srgbClr val="1A1A1A"/>
                          </a:solidFill>
                        </a:rPr>
                        <a:t>Apply / book slot for passport</a:t>
                      </a:r>
                    </a:p>
                  </a:txBody>
                  <a:tcPr anchor="ctr" marL="73152" marR="54864" marT="27432" marB="27432">
                    <a:solidFill>
                      <a:srgbClr val="FFFFFF"/>
                    </a:solidFill>
                  </a:tcPr>
                </a:tc>
                <a:tc>
                  <a:txBody>
                    <a:bodyPr wrap="square"/>
                    <a:lstStyle/>
                    <a:p>
                      <a:r>
                        <a:rPr sz="1050">
                          <a:solidFill>
                            <a:srgbClr val="1A1A1A"/>
                          </a:solidFill>
                        </a:rPr>
                        <a:t>Live; reduces queues</a:t>
                      </a:r>
                    </a:p>
                  </a:txBody>
                  <a:tcPr anchor="ctr" marL="73152" marR="54864" marT="27432" marB="27432">
                    <a:solidFill>
                      <a:srgbClr val="FFFFFF"/>
                    </a:solidFill>
                  </a:tcPr>
                </a:tc>
              </a:tr>
              <a:tr h="630936">
                <a:tc>
                  <a:txBody>
                    <a:bodyPr wrap="square"/>
                    <a:lstStyle/>
                    <a:p>
                      <a:r>
                        <a:rPr sz="1050" b="1">
                          <a:solidFill>
                            <a:srgbClr val="0C2B4A"/>
                          </a:solidFill>
                        </a:rPr>
                        <a:t>IRD online (PAN/VAT)</a:t>
                      </a:r>
                    </a:p>
                  </a:txBody>
                  <a:tcPr anchor="ctr" marL="73152" marR="54864" marT="27432" marB="27432">
                    <a:solidFill>
                      <a:srgbClr val="EEF3F8"/>
                    </a:solidFill>
                  </a:tcPr>
                </a:tc>
                <a:tc>
                  <a:txBody>
                    <a:bodyPr wrap="square"/>
                    <a:lstStyle/>
                    <a:p>
                      <a:r>
                        <a:rPr sz="1050">
                          <a:solidFill>
                            <a:srgbClr val="1A1A1A"/>
                          </a:solidFill>
                        </a:rPr>
                        <a:t>Register &amp; file tax online</a:t>
                      </a:r>
                    </a:p>
                  </a:txBody>
                  <a:tcPr anchor="ctr" marL="73152" marR="54864" marT="27432" marB="27432">
                    <a:solidFill>
                      <a:srgbClr val="EEF3F8"/>
                    </a:solidFill>
                  </a:tcPr>
                </a:tc>
                <a:tc>
                  <a:txBody>
                    <a:bodyPr wrap="square"/>
                    <a:lstStyle/>
                    <a:p>
                      <a:r>
                        <a:rPr sz="1050">
                          <a:solidFill>
                            <a:srgbClr val="1A1A1A"/>
                          </a:solidFill>
                        </a:rPr>
                        <a:t>Live for many tax processes</a:t>
                      </a:r>
                    </a:p>
                  </a:txBody>
                  <a:tcPr anchor="ctr" marL="73152" marR="54864" marT="27432" marB="27432">
                    <a:solidFill>
                      <a:srgbClr val="EEF3F8"/>
                    </a:solidFill>
                  </a:tcPr>
                </a:tc>
              </a:tr>
              <a:tr h="630936">
                <a:tc>
                  <a:txBody>
                    <a:bodyPr wrap="square"/>
                    <a:lstStyle/>
                    <a:p>
                      <a:r>
                        <a:rPr sz="1050" b="1">
                          <a:solidFill>
                            <a:srgbClr val="0C2B4A"/>
                          </a:solidFill>
                        </a:rPr>
                        <a:t>Govt Integrated Data Centre</a:t>
                      </a:r>
                    </a:p>
                  </a:txBody>
                  <a:tcPr anchor="ctr" marL="73152" marR="54864" marT="27432" marB="27432">
                    <a:solidFill>
                      <a:srgbClr val="FFFFFF"/>
                    </a:solidFill>
                  </a:tcPr>
                </a:tc>
                <a:tc>
                  <a:txBody>
                    <a:bodyPr wrap="square"/>
                    <a:lstStyle/>
                    <a:p>
                      <a:r>
                        <a:rPr sz="1050">
                          <a:solidFill>
                            <a:srgbClr val="1A1A1A"/>
                          </a:solidFill>
                        </a:rPr>
                        <a:t>Hosts government systems &amp; sites</a:t>
                      </a:r>
                    </a:p>
                  </a:txBody>
                  <a:tcPr anchor="ctr" marL="73152" marR="54864" marT="27432" marB="27432">
                    <a:solidFill>
                      <a:srgbClr val="FFFFFF"/>
                    </a:solidFill>
                  </a:tcPr>
                </a:tc>
                <a:tc>
                  <a:txBody>
                    <a:bodyPr wrap="square"/>
                    <a:lstStyle/>
                    <a:p>
                      <a:r>
                        <a:rPr sz="1050">
                          <a:solidFill>
                            <a:srgbClr val="1A1A1A"/>
                          </a:solidFill>
                        </a:rPr>
                        <a:t>Operational hosting base</a:t>
                      </a:r>
                    </a:p>
                  </a:txBody>
                  <a:tcPr anchor="ctr" marL="73152" marR="54864" marT="27432" marB="27432">
                    <a:solidFill>
                      <a:srgbClr val="FFFFFF"/>
                    </a:solidFill>
                  </a:tcPr>
                </a:tc>
              </a:tr>
              <a:tr h="630936">
                <a:tc>
                  <a:txBody>
                    <a:bodyPr wrap="square"/>
                    <a:lstStyle/>
                    <a:p>
                      <a:r>
                        <a:rPr sz="1050" b="1">
                          <a:solidFill>
                            <a:srgbClr val="0C2B4A"/>
                          </a:solidFill>
                        </a:rPr>
                        <a:t>Broadband / rural connectivity</a:t>
                      </a:r>
                    </a:p>
                  </a:txBody>
                  <a:tcPr anchor="ctr" marL="73152" marR="54864" marT="27432" marB="27432">
                    <a:solidFill>
                      <a:srgbClr val="EEF3F8"/>
                    </a:solidFill>
                  </a:tcPr>
                </a:tc>
                <a:tc>
                  <a:txBody>
                    <a:bodyPr wrap="square"/>
                    <a:lstStyle/>
                    <a:p>
                      <a:r>
                        <a:rPr sz="1050">
                          <a:solidFill>
                            <a:srgbClr val="1A1A1A"/>
                          </a:solidFill>
                        </a:rPr>
                        <a:t>Extend network to rural areas</a:t>
                      </a:r>
                    </a:p>
                  </a:txBody>
                  <a:tcPr anchor="ctr" marL="73152" marR="54864" marT="27432" marB="27432">
                    <a:solidFill>
                      <a:srgbClr val="EEF3F8"/>
                    </a:solidFill>
                  </a:tcPr>
                </a:tc>
                <a:tc>
                  <a:txBody>
                    <a:bodyPr wrap="square"/>
                    <a:lstStyle/>
                    <a:p>
                      <a:r>
                        <a:rPr sz="1050">
                          <a:solidFill>
                            <a:srgbClr val="1A1A1A"/>
                          </a:solidFill>
                        </a:rPr>
                        <a:t>Ongoing; coverage uneven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are genuine, in-use systems — but their reach and integration are uneven, which is the whole tension of this session. Statuses are reported; confirm before quoting.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E-Governance Initiatives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Bikash, a Kathmandu shopkeeper, lives inside these initiatives: he checks PAN and files VAT via IRD online, pays suppliers through ConnectIPS, renews his passport online, and views records on Nagarik App — all hosted in the Government Integrated Data Centre. For him the e-state is real. The catch (Concept 3) is that these systems barely talk to each other, so he still re-enters the same details in each.</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 has no real e-governance." It clearly does — Nagarik App, ConnectIPS, online passport and IRD e-filing are live and heavily used. The honest critique is not absence but unevenness: strong in the cities and for the connected, thin in places like Humla, and poorly integrated across agencies.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 has several working e-governance initiatives: Nagarik App (a single citizen-services app for records and payments), ConnectIPS/NepalPay (interbank transfer and bill-payment rails run by NCHL), the online passport system, IRD online (PAN/VAT filing), the Government Integrated Data Centre (hosting), and broadband/rural connectivity programmes. They are real and widely used but uneven in reach and weakly integrated across agencies.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Nagarik App · ConnectIPS · online passport · IRD online · GIDC · broadband · real but uneven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Policy Framework (deferred from Unit 1)</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Behind the apps sits a policy stack. IT Policy 2072 (2015) is the framework to promote IT, e-government and IT parks. The Digital Nepal Framework (2019) is the roadmap of ~80 initiatives across 8 sectors. The National ID (Rastriya Parichaya Patra) programme aims to give every citizen one digital identity. A proposed Startup Act would offer tax holidays and seed funding. A reported 'IT Decade 2024–2034' signals a long-term push. Verify current status before quoting.</a:t>
            </a:r>
          </a:p>
          <a:p>
            <a:pPr>
              <a:spcAft>
                <a:spcPts val="500"/>
              </a:spcAft>
            </a:pPr>
            <a:r>
              <a:rPr sz="1200" b="1">
                <a:solidFill>
                  <a:srgbClr val="185FA5"/>
                </a:solidFill>
              </a:rPr>
              <a:t>HOW IT WORKS</a:t>
            </a:r>
          </a:p>
          <a:p>
            <a:pPr>
              <a:spcAft>
                <a:spcPts val="600"/>
              </a:spcAft>
            </a:pPr>
            <a:r>
              <a:rPr sz="1400">
                <a:solidFill>
                  <a:srgbClr val="1A1A1A"/>
                </a:solidFill>
              </a:rPr>
              <a:t>•  IT Policy 2072 (2015) — promote IT industry, e-government, IT parks (being updated).</a:t>
            </a:r>
          </a:p>
          <a:p>
            <a:pPr>
              <a:spcAft>
                <a:spcPts val="600"/>
              </a:spcAft>
            </a:pPr>
            <a:r>
              <a:rPr sz="1400">
                <a:solidFill>
                  <a:srgbClr val="1A1A1A"/>
                </a:solidFill>
              </a:rPr>
              <a:t>•  Digital Nepal Framework 2019 — ~80 initiatives across 8 sectors (see Concept 3).</a:t>
            </a:r>
          </a:p>
          <a:p>
            <a:pPr>
              <a:spcAft>
                <a:spcPts val="600"/>
              </a:spcAft>
            </a:pPr>
            <a:r>
              <a:rPr sz="1400">
                <a:solidFill>
                  <a:srgbClr val="1A1A1A"/>
                </a:solidFill>
              </a:rPr>
              <a:t>•  National ID (Rastriya Parichaya Patra) — one biometric digital identity per citizen (rollout ongoing).</a:t>
            </a:r>
          </a:p>
          <a:p>
            <a:pPr>
              <a:spcAft>
                <a:spcPts val="600"/>
              </a:spcAft>
            </a:pPr>
            <a:r>
              <a:rPr sz="1400">
                <a:solidFill>
                  <a:srgbClr val="1A1A1A"/>
                </a:solidFill>
              </a:rPr>
              <a:t>•  Proposed Startup Act + reported 'IT Decade 2024–2034' — incentives &amp; long-term ambition (verify).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Policy stack: IT Policy 2072 · Digital Nepal Framework 2019 · National ID · proposed Startup Act.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digital policy instruments — what each does &amp; status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361764"/>
                <a:gridCol w="4370294"/>
                <a:gridCol w="3697941"/>
              </a:tblGrid>
              <a:tr h="630936">
                <a:tc>
                  <a:txBody>
                    <a:bodyPr wrap="square"/>
                    <a:lstStyle/>
                    <a:p>
                      <a:r>
                        <a:rPr sz="1100" b="1">
                          <a:solidFill>
                            <a:srgbClr val="FFFFFF"/>
                          </a:solidFill>
                        </a:rPr>
                        <a:t>Instrument</a:t>
                      </a:r>
                    </a:p>
                  </a:txBody>
                  <a:tcPr anchor="ctr" marL="73152" marR="54864" marT="27432" marB="27432">
                    <a:solidFill>
                      <a:srgbClr val="0C2B4A"/>
                    </a:solidFill>
                  </a:tcPr>
                </a:tc>
                <a:tc>
                  <a:txBody>
                    <a:bodyPr wrap="square"/>
                    <a:lstStyle/>
                    <a:p>
                      <a:r>
                        <a:rPr sz="1100" b="1">
                          <a:solidFill>
                            <a:srgbClr val="FFFFFF"/>
                          </a:solidFill>
                        </a:rPr>
                        <a:t>What it does</a:t>
                      </a:r>
                    </a:p>
                  </a:txBody>
                  <a:tcPr anchor="ctr" marL="73152" marR="54864" marT="27432" marB="27432">
                    <a:solidFill>
                      <a:srgbClr val="0C2B4A"/>
                    </a:solidFill>
                  </a:tcPr>
                </a:tc>
                <a:tc>
                  <a:txBody>
                    <a:bodyPr wrap="square"/>
                    <a:lstStyle/>
                    <a:p>
                      <a:r>
                        <a:rPr sz="1100" b="1">
                          <a:solidFill>
                            <a:srgbClr val="FFFFFF"/>
                          </a:solidFill>
                        </a:rPr>
                        <a:t>Status (verify current)</a:t>
                      </a:r>
                    </a:p>
                  </a:txBody>
                  <a:tcPr anchor="ctr" marL="73152" marR="54864" marT="27432" marB="27432">
                    <a:solidFill>
                      <a:srgbClr val="0C2B4A"/>
                    </a:solidFill>
                  </a:tcPr>
                </a:tc>
              </a:tr>
              <a:tr h="630936">
                <a:tc>
                  <a:txBody>
                    <a:bodyPr wrap="square"/>
                    <a:lstStyle/>
                    <a:p>
                      <a:r>
                        <a:rPr sz="1050" b="1">
                          <a:solidFill>
                            <a:srgbClr val="0C2B4A"/>
                          </a:solidFill>
                        </a:rPr>
                        <a:t>IT Policy 2072 (2015)</a:t>
                      </a:r>
                    </a:p>
                  </a:txBody>
                  <a:tcPr anchor="ctr" marL="73152" marR="54864" marT="27432" marB="27432">
                    <a:solidFill>
                      <a:srgbClr val="FFFFFF"/>
                    </a:solidFill>
                  </a:tcPr>
                </a:tc>
                <a:tc>
                  <a:txBody>
                    <a:bodyPr wrap="square"/>
                    <a:lstStyle/>
                    <a:p>
                      <a:r>
                        <a:rPr sz="1050">
                          <a:solidFill>
                            <a:srgbClr val="1A1A1A"/>
                          </a:solidFill>
                        </a:rPr>
                        <a:t>Framework to promote IT, e-gov, IT parks</a:t>
                      </a:r>
                    </a:p>
                  </a:txBody>
                  <a:tcPr anchor="ctr" marL="73152" marR="54864" marT="27432" marB="27432">
                    <a:solidFill>
                      <a:srgbClr val="FFFFFF"/>
                    </a:solidFill>
                  </a:tcPr>
                </a:tc>
                <a:tc>
                  <a:txBody>
                    <a:bodyPr wrap="square"/>
                    <a:lstStyle/>
                    <a:p>
                      <a:r>
                        <a:rPr sz="1050">
                          <a:solidFill>
                            <a:srgbClr val="1A1A1A"/>
                          </a:solidFill>
                        </a:rPr>
                        <a:t>In effect; being updated</a:t>
                      </a:r>
                    </a:p>
                  </a:txBody>
                  <a:tcPr anchor="ctr" marL="73152" marR="54864" marT="27432" marB="27432">
                    <a:solidFill>
                      <a:srgbClr val="FFFFFF"/>
                    </a:solidFill>
                  </a:tcPr>
                </a:tc>
              </a:tr>
              <a:tr h="630936">
                <a:tc>
                  <a:txBody>
                    <a:bodyPr wrap="square"/>
                    <a:lstStyle/>
                    <a:p>
                      <a:r>
                        <a:rPr sz="1050" b="1">
                          <a:solidFill>
                            <a:srgbClr val="0C2B4A"/>
                          </a:solidFill>
                        </a:rPr>
                        <a:t>Digital Nepal Framework (2019)</a:t>
                      </a:r>
                    </a:p>
                  </a:txBody>
                  <a:tcPr anchor="ctr" marL="73152" marR="54864" marT="27432" marB="27432">
                    <a:solidFill>
                      <a:srgbClr val="EEF3F8"/>
                    </a:solidFill>
                  </a:tcPr>
                </a:tc>
                <a:tc>
                  <a:txBody>
                    <a:bodyPr wrap="square"/>
                    <a:lstStyle/>
                    <a:p>
                      <a:r>
                        <a:rPr sz="1050">
                          <a:solidFill>
                            <a:srgbClr val="1A1A1A"/>
                          </a:solidFill>
                        </a:rPr>
                        <a:t>Roadmap: ~80 initiatives, 8 sectors</a:t>
                      </a:r>
                    </a:p>
                  </a:txBody>
                  <a:tcPr anchor="ctr" marL="73152" marR="54864" marT="27432" marB="27432">
                    <a:solidFill>
                      <a:srgbClr val="EEF3F8"/>
                    </a:solidFill>
                  </a:tcPr>
                </a:tc>
                <a:tc>
                  <a:txBody>
                    <a:bodyPr wrap="square"/>
                    <a:lstStyle/>
                    <a:p>
                      <a:r>
                        <a:rPr sz="1050">
                          <a:solidFill>
                            <a:srgbClr val="1A1A1A"/>
                          </a:solidFill>
                        </a:rPr>
                        <a:t>Adopted; implementation partial</a:t>
                      </a:r>
                    </a:p>
                  </a:txBody>
                  <a:tcPr anchor="ctr" marL="73152" marR="54864" marT="27432" marB="27432">
                    <a:solidFill>
                      <a:srgbClr val="EEF3F8"/>
                    </a:solidFill>
                  </a:tcPr>
                </a:tc>
              </a:tr>
              <a:tr h="630936">
                <a:tc>
                  <a:txBody>
                    <a:bodyPr wrap="square"/>
                    <a:lstStyle/>
                    <a:p>
                      <a:r>
                        <a:rPr sz="1050" b="1">
                          <a:solidFill>
                            <a:srgbClr val="0C2B4A"/>
                          </a:solidFill>
                        </a:rPr>
                        <a:t>National ID (Rastriya Parichaya Patra)</a:t>
                      </a:r>
                    </a:p>
                  </a:txBody>
                  <a:tcPr anchor="ctr" marL="73152" marR="54864" marT="27432" marB="27432">
                    <a:solidFill>
                      <a:srgbClr val="FFFFFF"/>
                    </a:solidFill>
                  </a:tcPr>
                </a:tc>
                <a:tc>
                  <a:txBody>
                    <a:bodyPr wrap="square"/>
                    <a:lstStyle/>
                    <a:p>
                      <a:r>
                        <a:rPr sz="1050">
                          <a:solidFill>
                            <a:srgbClr val="1A1A1A"/>
                          </a:solidFill>
                        </a:rPr>
                        <a:t>One biometric digital identity per citizen</a:t>
                      </a:r>
                    </a:p>
                  </a:txBody>
                  <a:tcPr anchor="ctr" marL="73152" marR="54864" marT="27432" marB="27432">
                    <a:solidFill>
                      <a:srgbClr val="FFFFFF"/>
                    </a:solidFill>
                  </a:tcPr>
                </a:tc>
                <a:tc>
                  <a:txBody>
                    <a:bodyPr wrap="square"/>
                    <a:lstStyle/>
                    <a:p>
                      <a:r>
                        <a:rPr sz="1050">
                          <a:solidFill>
                            <a:srgbClr val="1A1A1A"/>
                          </a:solidFill>
                        </a:rPr>
                        <a:t>Rollout ongoing</a:t>
                      </a:r>
                    </a:p>
                  </a:txBody>
                  <a:tcPr anchor="ctr" marL="73152" marR="54864" marT="27432" marB="27432">
                    <a:solidFill>
                      <a:srgbClr val="FFFFFF"/>
                    </a:solidFill>
                  </a:tcPr>
                </a:tc>
              </a:tr>
              <a:tr h="630936">
                <a:tc>
                  <a:txBody>
                    <a:bodyPr wrap="square"/>
                    <a:lstStyle/>
                    <a:p>
                      <a:r>
                        <a:rPr sz="1050" b="1">
                          <a:solidFill>
                            <a:srgbClr val="0C2B4A"/>
                          </a:solidFill>
                        </a:rPr>
                        <a:t>Proposed Startup Act / policy</a:t>
                      </a:r>
                    </a:p>
                  </a:txBody>
                  <a:tcPr anchor="ctr" marL="73152" marR="54864" marT="27432" marB="27432">
                    <a:solidFill>
                      <a:srgbClr val="EEF3F8"/>
                    </a:solidFill>
                  </a:tcPr>
                </a:tc>
                <a:tc>
                  <a:txBody>
                    <a:bodyPr wrap="square"/>
                    <a:lstStyle/>
                    <a:p>
                      <a:r>
                        <a:rPr sz="1050">
                          <a:solidFill>
                            <a:srgbClr val="1A1A1A"/>
                          </a:solidFill>
                        </a:rPr>
                        <a:t>Tax holiday, seed funding for startups</a:t>
                      </a:r>
                    </a:p>
                  </a:txBody>
                  <a:tcPr anchor="ctr" marL="73152" marR="54864" marT="27432" marB="27432">
                    <a:solidFill>
                      <a:srgbClr val="EEF3F8"/>
                    </a:solidFill>
                  </a:tcPr>
                </a:tc>
                <a:tc>
                  <a:txBody>
                    <a:bodyPr wrap="square"/>
                    <a:lstStyle/>
                    <a:p>
                      <a:r>
                        <a:rPr sz="1050">
                          <a:solidFill>
                            <a:srgbClr val="1A1A1A"/>
                          </a:solidFill>
                        </a:rPr>
                        <a:t>Proposed / partly via startup fund</a:t>
                      </a:r>
                    </a:p>
                  </a:txBody>
                  <a:tcPr anchor="ctr" marL="73152" marR="54864" marT="27432" marB="27432">
                    <a:solidFill>
                      <a:srgbClr val="EEF3F8"/>
                    </a:solidFill>
                  </a:tcPr>
                </a:tc>
              </a:tr>
              <a:tr h="630936">
                <a:tc>
                  <a:txBody>
                    <a:bodyPr wrap="square"/>
                    <a:lstStyle/>
                    <a:p>
                      <a:r>
                        <a:rPr sz="1050" b="1">
                          <a:solidFill>
                            <a:srgbClr val="0C2B4A"/>
                          </a:solidFill>
                        </a:rPr>
                        <a:t>Electronic Transactions Act 2063 (2008)</a:t>
                      </a:r>
                    </a:p>
                  </a:txBody>
                  <a:tcPr anchor="ctr" marL="73152" marR="54864" marT="27432" marB="27432">
                    <a:solidFill>
                      <a:srgbClr val="FFFFFF"/>
                    </a:solidFill>
                  </a:tcPr>
                </a:tc>
                <a:tc>
                  <a:txBody>
                    <a:bodyPr wrap="square"/>
                    <a:lstStyle/>
                    <a:p>
                      <a:r>
                        <a:rPr sz="1050">
                          <a:solidFill>
                            <a:srgbClr val="1A1A1A"/>
                          </a:solidFill>
                        </a:rPr>
                        <a:t>Legal validity of e-records, e-signature, cybercrime</a:t>
                      </a:r>
                    </a:p>
                  </a:txBody>
                  <a:tcPr anchor="ctr" marL="73152" marR="54864" marT="27432" marB="27432">
                    <a:solidFill>
                      <a:srgbClr val="FFFFFF"/>
                    </a:solidFill>
                  </a:tcPr>
                </a:tc>
                <a:tc>
                  <a:txBody>
                    <a:bodyPr wrap="square"/>
                    <a:lstStyle/>
                    <a:p>
                      <a:r>
                        <a:rPr sz="1050">
                          <a:solidFill>
                            <a:srgbClr val="1A1A1A"/>
                          </a:solidFill>
                        </a:rPr>
                        <a:t>In force (dated)</a:t>
                      </a:r>
                    </a:p>
                  </a:txBody>
                  <a:tcPr anchor="ctr" marL="73152" marR="54864" marT="27432" marB="27432">
                    <a:solidFill>
                      <a:srgbClr val="FFFFFF"/>
                    </a:solidFill>
                  </a:tcPr>
                </a:tc>
              </a:tr>
              <a:tr h="630936">
                <a:tc>
                  <a:txBody>
                    <a:bodyPr wrap="square"/>
                    <a:lstStyle/>
                    <a:p>
                      <a:r>
                        <a:rPr sz="1050" b="1">
                          <a:solidFill>
                            <a:srgbClr val="0C2B4A"/>
                          </a:solidFill>
                        </a:rPr>
                        <a:t>IT Decade 2024–2034 (reported)</a:t>
                      </a:r>
                    </a:p>
                  </a:txBody>
                  <a:tcPr anchor="ctr" marL="73152" marR="54864" marT="27432" marB="27432">
                    <a:solidFill>
                      <a:srgbClr val="EEF3F8"/>
                    </a:solidFill>
                  </a:tcPr>
                </a:tc>
                <a:tc>
                  <a:txBody>
                    <a:bodyPr wrap="square"/>
                    <a:lstStyle/>
                    <a:p>
                      <a:r>
                        <a:rPr sz="1050">
                          <a:solidFill>
                            <a:srgbClr val="1A1A1A"/>
                          </a:solidFill>
                        </a:rPr>
                        <a:t>Long-term push to grow IT sector &amp; exports</a:t>
                      </a:r>
                    </a:p>
                  </a:txBody>
                  <a:tcPr anchor="ctr" marL="73152" marR="54864" marT="27432" marB="27432">
                    <a:solidFill>
                      <a:srgbClr val="EEF3F8"/>
                    </a:solidFill>
                  </a:tcPr>
                </a:tc>
                <a:tc>
                  <a:txBody>
                    <a:bodyPr wrap="square"/>
                    <a:lstStyle/>
                    <a:p>
                      <a:r>
                        <a:rPr sz="1050">
                          <a:solidFill>
                            <a:srgbClr val="1A1A1A"/>
                          </a:solidFill>
                        </a:rPr>
                        <a:t>Announced ambition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policy names and dates are assembled from general knowledge for teaching — confirm against current Nepal law before final use. The gap is less about policy on paper than delivery on the ground.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Policy Framework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policy stack explains what the apps are meant to add up to: IT Policy 2072 set the direction, the Digital Nepal Framework (2019) is the concrete roadmap, and National ID is the missing keystone — one identity that would let Nagarik App, tax, passport and health records finally connect (the 'connected' maturity stage from S43). A Startup Act would push the private digital economy the framework relies 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 has no digital policy." It has several — IT Policy 2072, the Digital Nepal Framework 2019, National ID, a proposed Startup Act. The real gap is implementation and integration, not the absence of paper. (Caveat: verify exact names, dates and current status — these are taught from general knowledge.)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Nepal's digital policy stack includes: IT Policy 2072 (2015 — framework to promote IT, e-gov and IT parks), the Digital Nepal Framework (2019 — a roadmap of ~80 initiatives across 8 sectors), the National ID programme (one biometric digital identity per citizen — the keystone for 'connected' e-gov), a proposed Startup Act (tax holiday, seed funding), and the Electronic Transactions Act 2063. Present these as accurate but verify current status; the gap is delivery, not policy on paper.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IT Policy 2072 · Digital Nepal Framework 2019 · National ID · Startup Act · verify current status · gap = delivery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 Nepal Framework's 8 Sectors &amp; the Integration Gap</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Digital Nepal Framework (2019) organises its ~80 initiatives into 8 sectors: Digital Foundation (the base — connectivity, digital ID, payment rails, data centres) plus seven service sectors — Agriculture, Health, Education, Energy, Tourism, Finance, and Urban Infrastructure/Connectivity. The framework is ambitious and adopted, but the honest verdict is partial delivery: e.g. Nagarik App reportedly promised ~60 services but integrated fewer, because agencies don't share data.</a:t>
            </a:r>
          </a:p>
          <a:p>
            <a:pPr>
              <a:spcAft>
                <a:spcPts val="500"/>
              </a:spcAft>
            </a:pPr>
            <a:r>
              <a:rPr sz="1200" b="1">
                <a:solidFill>
                  <a:srgbClr val="185FA5"/>
                </a:solidFill>
              </a:rPr>
              <a:t>HOW IT WORKS</a:t>
            </a:r>
          </a:p>
          <a:p>
            <a:pPr>
              <a:spcAft>
                <a:spcPts val="600"/>
              </a:spcAft>
            </a:pPr>
            <a:r>
              <a:rPr sz="1400">
                <a:solidFill>
                  <a:srgbClr val="1A1A1A"/>
                </a:solidFill>
              </a:rPr>
              <a:t>•  One Digital Foundation underpins seven service sectors.</a:t>
            </a:r>
          </a:p>
          <a:p>
            <a:pPr>
              <a:spcAft>
                <a:spcPts val="600"/>
              </a:spcAft>
            </a:pPr>
            <a:r>
              <a:rPr sz="1400">
                <a:solidFill>
                  <a:srgbClr val="1A1A1A"/>
                </a:solidFill>
              </a:rPr>
              <a:t>•  Seven sectors: Agriculture, Health, Education, Energy, Tourism, Finance, Urban Infra/Connectivity.</a:t>
            </a:r>
          </a:p>
          <a:p>
            <a:pPr>
              <a:spcAft>
                <a:spcPts val="600"/>
              </a:spcAft>
            </a:pPr>
            <a:r>
              <a:rPr sz="1400">
                <a:solidFill>
                  <a:srgbClr val="1A1A1A"/>
                </a:solidFill>
              </a:rPr>
              <a:t>•  Adopted 2019; implementation is partial — the framework outpaces delivery.</a:t>
            </a:r>
          </a:p>
          <a:p>
            <a:pPr>
              <a:spcAft>
                <a:spcPts val="600"/>
              </a:spcAft>
            </a:pPr>
            <a:r>
              <a:rPr sz="1400">
                <a:solidFill>
                  <a:srgbClr val="1A1A1A"/>
                </a:solidFill>
              </a:rPr>
              <a:t>•  Integration gap: siloed systems (Nagarik App reportedly ~60 promised vs ~45 integrated — reported).</a:t>
            </a:r>
          </a:p>
        </p:txBody>
      </p:sp>
      <p:pic>
        <p:nvPicPr>
          <p:cNvPr id="6" name="Picture 5" descr="s44_digital_nepal.png"/>
          <p:cNvPicPr>
            <a:picLocks noChangeAspect="1"/>
          </p:cNvPicPr>
          <p:nvPr/>
        </p:nvPicPr>
        <p:blipFill>
          <a:blip r:embed="rId2"/>
          <a:stretch>
            <a:fillRect/>
          </a:stretch>
        </p:blipFill>
        <p:spPr>
          <a:xfrm>
            <a:off x="6355080" y="2509030"/>
            <a:ext cx="5532120" cy="261717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8 sectors: Digital Foundation (base) + 7 service sectors; delivery is partial.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 Nepal Framework — the 8 sectors &amp; their focus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866029"/>
                <a:gridCol w="7563970"/>
              </a:tblGrid>
              <a:tr h="490728">
                <a:tc>
                  <a:txBody>
                    <a:bodyPr wrap="square"/>
                    <a:lstStyle/>
                    <a:p>
                      <a:r>
                        <a:rPr sz="1150" b="1">
                          <a:solidFill>
                            <a:srgbClr val="FFFFFF"/>
                          </a:solidFill>
                        </a:rPr>
                        <a:t>Sector</a:t>
                      </a:r>
                    </a:p>
                  </a:txBody>
                  <a:tcPr anchor="ctr" marL="73152" marR="54864" marT="27432" marB="27432">
                    <a:solidFill>
                      <a:srgbClr val="0C2B4A"/>
                    </a:solidFill>
                  </a:tcPr>
                </a:tc>
                <a:tc>
                  <a:txBody>
                    <a:bodyPr wrap="square"/>
                    <a:lstStyle/>
                    <a:p>
                      <a:r>
                        <a:rPr sz="1150" b="1">
                          <a:solidFill>
                            <a:srgbClr val="FFFFFF"/>
                          </a:solidFill>
                        </a:rPr>
                        <a:t>Focus</a:t>
                      </a:r>
                    </a:p>
                  </a:txBody>
                  <a:tcPr anchor="ctr" marL="73152" marR="54864" marT="27432" marB="27432">
                    <a:solidFill>
                      <a:srgbClr val="0C2B4A"/>
                    </a:solidFill>
                  </a:tcPr>
                </a:tc>
              </a:tr>
              <a:tr h="490728">
                <a:tc>
                  <a:txBody>
                    <a:bodyPr wrap="square"/>
                    <a:lstStyle/>
                    <a:p>
                      <a:r>
                        <a:rPr sz="1100" b="1">
                          <a:solidFill>
                            <a:srgbClr val="0C2B4A"/>
                          </a:solidFill>
                        </a:rPr>
                        <a:t>Digital Foundation</a:t>
                      </a:r>
                    </a:p>
                  </a:txBody>
                  <a:tcPr anchor="ctr" marL="73152" marR="54864" marT="27432" marB="27432">
                    <a:solidFill>
                      <a:srgbClr val="FFFFFF"/>
                    </a:solidFill>
                  </a:tcPr>
                </a:tc>
                <a:tc>
                  <a:txBody>
                    <a:bodyPr wrap="square"/>
                    <a:lstStyle/>
                    <a:p>
                      <a:r>
                        <a:rPr sz="1100">
                          <a:solidFill>
                            <a:srgbClr val="1A1A1A"/>
                          </a:solidFill>
                        </a:rPr>
                        <a:t>The base: connectivity, digital ID, payment rails, data centres</a:t>
                      </a:r>
                    </a:p>
                  </a:txBody>
                  <a:tcPr anchor="ctr" marL="73152" marR="54864" marT="27432" marB="27432">
                    <a:solidFill>
                      <a:srgbClr val="FFFFFF"/>
                    </a:solidFill>
                  </a:tcPr>
                </a:tc>
              </a:tr>
              <a:tr h="490728">
                <a:tc>
                  <a:txBody>
                    <a:bodyPr wrap="square"/>
                    <a:lstStyle/>
                    <a:p>
                      <a:r>
                        <a:rPr sz="1100" b="1">
                          <a:solidFill>
                            <a:srgbClr val="0C2B4A"/>
                          </a:solidFill>
                        </a:rPr>
                        <a:t>Agriculture</a:t>
                      </a:r>
                    </a:p>
                  </a:txBody>
                  <a:tcPr anchor="ctr" marL="73152" marR="54864" marT="27432" marB="27432">
                    <a:solidFill>
                      <a:srgbClr val="EEF3F8"/>
                    </a:solidFill>
                  </a:tcPr>
                </a:tc>
                <a:tc>
                  <a:txBody>
                    <a:bodyPr wrap="square"/>
                    <a:lstStyle/>
                    <a:p>
                      <a:r>
                        <a:rPr sz="1100">
                          <a:solidFill>
                            <a:srgbClr val="1A1A1A"/>
                          </a:solidFill>
                        </a:rPr>
                        <a:t>E-markets, digital advisory, smart/precision farming</a:t>
                      </a:r>
                    </a:p>
                  </a:txBody>
                  <a:tcPr anchor="ctr" marL="73152" marR="54864" marT="27432" marB="27432">
                    <a:solidFill>
                      <a:srgbClr val="EEF3F8"/>
                    </a:solidFill>
                  </a:tcPr>
                </a:tc>
              </a:tr>
              <a:tr h="490728">
                <a:tc>
                  <a:txBody>
                    <a:bodyPr wrap="square"/>
                    <a:lstStyle/>
                    <a:p>
                      <a:r>
                        <a:rPr sz="1100" b="1">
                          <a:solidFill>
                            <a:srgbClr val="0C2B4A"/>
                          </a:solidFill>
                        </a:rPr>
                        <a:t>Health</a:t>
                      </a:r>
                    </a:p>
                  </a:txBody>
                  <a:tcPr anchor="ctr" marL="73152" marR="54864" marT="27432" marB="27432">
                    <a:solidFill>
                      <a:srgbClr val="FFFFFF"/>
                    </a:solidFill>
                  </a:tcPr>
                </a:tc>
                <a:tc>
                  <a:txBody>
                    <a:bodyPr wrap="square"/>
                    <a:lstStyle/>
                    <a:p>
                      <a:r>
                        <a:rPr sz="1100">
                          <a:solidFill>
                            <a:srgbClr val="1A1A1A"/>
                          </a:solidFill>
                        </a:rPr>
                        <a:t>Telemedicine, e-health records, supply-chain tracking</a:t>
                      </a:r>
                    </a:p>
                  </a:txBody>
                  <a:tcPr anchor="ctr" marL="73152" marR="54864" marT="27432" marB="27432">
                    <a:solidFill>
                      <a:srgbClr val="FFFFFF"/>
                    </a:solidFill>
                  </a:tcPr>
                </a:tc>
              </a:tr>
              <a:tr h="490728">
                <a:tc>
                  <a:txBody>
                    <a:bodyPr wrap="square"/>
                    <a:lstStyle/>
                    <a:p>
                      <a:r>
                        <a:rPr sz="1100" b="1">
                          <a:solidFill>
                            <a:srgbClr val="0C2B4A"/>
                          </a:solidFill>
                        </a:rPr>
                        <a:t>Education</a:t>
                      </a:r>
                    </a:p>
                  </a:txBody>
                  <a:tcPr anchor="ctr" marL="73152" marR="54864" marT="27432" marB="27432">
                    <a:solidFill>
                      <a:srgbClr val="EEF3F8"/>
                    </a:solidFill>
                  </a:tcPr>
                </a:tc>
                <a:tc>
                  <a:txBody>
                    <a:bodyPr wrap="square"/>
                    <a:lstStyle/>
                    <a:p>
                      <a:r>
                        <a:rPr sz="1100">
                          <a:solidFill>
                            <a:srgbClr val="1A1A1A"/>
                          </a:solidFill>
                        </a:rPr>
                        <a:t>E-learning, digital content, school connectivity</a:t>
                      </a:r>
                    </a:p>
                  </a:txBody>
                  <a:tcPr anchor="ctr" marL="73152" marR="54864" marT="27432" marB="27432">
                    <a:solidFill>
                      <a:srgbClr val="EEF3F8"/>
                    </a:solidFill>
                  </a:tcPr>
                </a:tc>
              </a:tr>
              <a:tr h="490728">
                <a:tc>
                  <a:txBody>
                    <a:bodyPr wrap="square"/>
                    <a:lstStyle/>
                    <a:p>
                      <a:r>
                        <a:rPr sz="1100" b="1">
                          <a:solidFill>
                            <a:srgbClr val="0C2B4A"/>
                          </a:solidFill>
                        </a:rPr>
                        <a:t>Energy</a:t>
                      </a:r>
                    </a:p>
                  </a:txBody>
                  <a:tcPr anchor="ctr" marL="73152" marR="54864" marT="27432" marB="27432">
                    <a:solidFill>
                      <a:srgbClr val="FFFFFF"/>
                    </a:solidFill>
                  </a:tcPr>
                </a:tc>
                <a:tc>
                  <a:txBody>
                    <a:bodyPr wrap="square"/>
                    <a:lstStyle/>
                    <a:p>
                      <a:r>
                        <a:rPr sz="1100">
                          <a:solidFill>
                            <a:srgbClr val="1A1A1A"/>
                          </a:solidFill>
                        </a:rPr>
                        <a:t>Smart grid, digital metering &amp; billing</a:t>
                      </a:r>
                    </a:p>
                  </a:txBody>
                  <a:tcPr anchor="ctr" marL="73152" marR="54864" marT="27432" marB="27432">
                    <a:solidFill>
                      <a:srgbClr val="FFFFFF"/>
                    </a:solidFill>
                  </a:tcPr>
                </a:tc>
              </a:tr>
              <a:tr h="490728">
                <a:tc>
                  <a:txBody>
                    <a:bodyPr wrap="square"/>
                    <a:lstStyle/>
                    <a:p>
                      <a:r>
                        <a:rPr sz="1100" b="1">
                          <a:solidFill>
                            <a:srgbClr val="0C2B4A"/>
                          </a:solidFill>
                        </a:rPr>
                        <a:t>Tourism</a:t>
                      </a:r>
                    </a:p>
                  </a:txBody>
                  <a:tcPr anchor="ctr" marL="73152" marR="54864" marT="27432" marB="27432">
                    <a:solidFill>
                      <a:srgbClr val="EEF3F8"/>
                    </a:solidFill>
                  </a:tcPr>
                </a:tc>
                <a:tc>
                  <a:txBody>
                    <a:bodyPr wrap="square"/>
                    <a:lstStyle/>
                    <a:p>
                      <a:r>
                        <a:rPr sz="1100">
                          <a:solidFill>
                            <a:srgbClr val="1A1A1A"/>
                          </a:solidFill>
                        </a:rPr>
                        <a:t>Online promotion, e-ticketing, digital payments</a:t>
                      </a:r>
                    </a:p>
                  </a:txBody>
                  <a:tcPr anchor="ctr" marL="73152" marR="54864" marT="27432" marB="27432">
                    <a:solidFill>
                      <a:srgbClr val="EEF3F8"/>
                    </a:solidFill>
                  </a:tcPr>
                </a:tc>
              </a:tr>
              <a:tr h="490728">
                <a:tc>
                  <a:txBody>
                    <a:bodyPr wrap="square"/>
                    <a:lstStyle/>
                    <a:p>
                      <a:r>
                        <a:rPr sz="1100" b="1">
                          <a:solidFill>
                            <a:srgbClr val="0C2B4A"/>
                          </a:solidFill>
                        </a:rPr>
                        <a:t>Finance</a:t>
                      </a:r>
                    </a:p>
                  </a:txBody>
                  <a:tcPr anchor="ctr" marL="73152" marR="54864" marT="27432" marB="27432">
                    <a:solidFill>
                      <a:srgbClr val="FFFFFF"/>
                    </a:solidFill>
                  </a:tcPr>
                </a:tc>
                <a:tc>
                  <a:txBody>
                    <a:bodyPr wrap="square"/>
                    <a:lstStyle/>
                    <a:p>
                      <a:r>
                        <a:rPr sz="1100">
                          <a:solidFill>
                            <a:srgbClr val="1A1A1A"/>
                          </a:solidFill>
                        </a:rPr>
                        <a:t>Digital payments, wallets, financial inclusion</a:t>
                      </a:r>
                    </a:p>
                  </a:txBody>
                  <a:tcPr anchor="ctr" marL="73152" marR="54864" marT="27432" marB="27432">
                    <a:solidFill>
                      <a:srgbClr val="FFFFFF"/>
                    </a:solidFill>
                  </a:tcPr>
                </a:tc>
              </a:tr>
              <a:tr h="490728">
                <a:tc>
                  <a:txBody>
                    <a:bodyPr wrap="square"/>
                    <a:lstStyle/>
                    <a:p>
                      <a:r>
                        <a:rPr sz="1100" b="1">
                          <a:solidFill>
                            <a:srgbClr val="0C2B4A"/>
                          </a:solidFill>
                        </a:rPr>
                        <a:t>Urban Infrastructure &amp; Connectivity</a:t>
                      </a:r>
                    </a:p>
                  </a:txBody>
                  <a:tcPr anchor="ctr" marL="73152" marR="54864" marT="27432" marB="27432">
                    <a:solidFill>
                      <a:srgbClr val="EEF3F8"/>
                    </a:solidFill>
                  </a:tcPr>
                </a:tc>
                <a:tc>
                  <a:txBody>
                    <a:bodyPr wrap="square"/>
                    <a:lstStyle/>
                    <a:p>
                      <a:r>
                        <a:rPr sz="1100">
                          <a:solidFill>
                            <a:srgbClr val="1A1A1A"/>
                          </a:solidFill>
                        </a:rPr>
                        <a:t>Smart cities, broadband, urban e-services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Sectors are reported from the 2019 framework — verify before quoting. Note the logic: everything depends on the Digital Foundation; weak foundations (rural internet, ID) cap all seven service sectors.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8 Sectors &amp; the Integration Gap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framework is why Sita in Humla should, in theory, get health, finance and citizen services digitally. In practice, the Digital Foundation is thin where she lives (weak internet, no cash-out point), so the seven service sectors can't reach her. Even in Kathmandu, the reported gap — Nagarik App promising ~60 services but integrating far fewer — shows the same story: ambition on paper outrunning integration on the ground.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Digital Nepal Framework means Nepal is digitally transformed." A framework is a plan, not a finished state. Adopted in 2019 with ~80 initiatives, it is only partly delivered, and its service sectors are capped by a weak Digital Foundation (rural connectivity, ID). Judge by delivery, not by the document. (Figures reported — verify.)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Nepal Framework (2019) organises ~80 initiatives into 8 sectors: Digital Foundation (connectivity, digital ID, payment rails, data centres) plus seven service sectors — Agriculture, Health, Education, Energy, Tourism, Finance, and Urban Infrastructure/Connectivity. It is adopted but only partly delivered: the service sectors depend on the Digital Foundation, and siloed systems (Nagarik App reportedly ~60 services promised vs fewer integrated) reveal the integration gap.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Foundation + 7 sectors · ~80 initiatives · adopted 2019 · partial delivery · integration/silo gap · reported figures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S44 — 'Built or written?'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three items from Nepal's policy stack or the 8 sectors.</a:t>
            </a:r>
          </a:p>
          <a:p>
            <a:pPr>
              <a:spcAft>
                <a:spcPts val="700"/>
              </a:spcAft>
            </a:pPr>
            <a:r>
              <a:rPr sz="1550">
                <a:solidFill>
                  <a:srgbClr val="1A1A1A"/>
                </a:solidFill>
              </a:rPr>
              <a:t>•  For each, mark BUILT (working today) or WRITTEN (planned/partial), with a reason.</a:t>
            </a:r>
          </a:p>
          <a:p>
            <a:pPr>
              <a:spcAft>
                <a:spcPts val="700"/>
              </a:spcAft>
            </a:pPr>
            <a:r>
              <a:rPr sz="1550">
                <a:solidFill>
                  <a:srgbClr val="1A1A1A"/>
                </a:solidFill>
              </a:rPr>
              <a:t>•  Take 3–4 answers aloud (3 min); debate any disputed calls.</a:t>
            </a:r>
          </a:p>
          <a:p>
            <a:pPr>
              <a:spcAft>
                <a:spcPts val="700"/>
              </a:spcAft>
            </a:pPr>
            <a:r>
              <a:rPr sz="1550">
                <a:solidFill>
                  <a:srgbClr val="1A1A1A"/>
                </a:solidFill>
              </a:rPr>
              <a:t>•  Close: most agree the foundation &amp; finance sectors are furthest 'built'; verify statuses.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calls: Finance/payments = largely BUILT (eSewa, ConnectIPS, QR); National ID &amp; full integration = still WRITTEN/partial; rural connectivity = partial. Reward using the built-vs-written test and flagging 'verify'.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Digital Nepal Framework (2019) is best described as:</a:t>
            </a:r>
          </a:p>
          <a:p>
            <a:pPr lvl="1"/>
            <a:r>
              <a:rPr sz="1500" b="1">
                <a:solidFill>
                  <a:srgbClr val="0F6E56"/>
                </a:solidFill>
              </a:rPr>
              <a:t>a) a bank   b) a wallet   c) ✅ a roadmap of ~80 initiatives across 8 sectors   d) a law banning cash</a:t>
            </a:r>
          </a:p>
          <a:p>
            <a:pPr lvl="1">
              <a:spcBef>
                <a:spcPts val="600"/>
              </a:spcBef>
            </a:pPr>
            <a:r>
              <a:rPr sz="1500" i="1">
                <a:solidFill>
                  <a:srgbClr val="1A1A1A"/>
                </a:solidFill>
              </a:rPr>
              <a:t>     Why: it is a national roadmap; the '8 sectors / ~80 initiatives' figures are reported — verify current status.</a:t>
            </a:r>
          </a:p>
          <a:p>
            <a:pPr>
              <a:spcBef>
                <a:spcPts val="900"/>
              </a:spcBef>
            </a:pPr>
            <a:r>
              <a:rPr sz="1700" b="1">
                <a:solidFill>
                  <a:srgbClr val="0C2B4A"/>
                </a:solidFill>
              </a:rPr>
              <a:t>Q2.  Which is the 'base' sector every other sector depends on?</a:t>
            </a:r>
          </a:p>
          <a:p>
            <a:pPr lvl="1"/>
            <a:r>
              <a:rPr sz="1500" b="1">
                <a:solidFill>
                  <a:srgbClr val="0F6E56"/>
                </a:solidFill>
              </a:rPr>
              <a:t>a) Tourism   b) ✅ Digital Foundation   c) Energy   d) Health</a:t>
            </a:r>
          </a:p>
          <a:p>
            <a:pPr lvl="1">
              <a:spcBef>
                <a:spcPts val="600"/>
              </a:spcBef>
            </a:pPr>
            <a:r>
              <a:rPr sz="1500" i="1">
                <a:solidFill>
                  <a:srgbClr val="1A1A1A"/>
                </a:solidFill>
              </a:rPr>
              <a:t>     Why: Digital Foundation = connectivity, digital ID, payment rails, data centres — the base for the other seven.</a:t>
            </a:r>
          </a:p>
          <a:p>
            <a:pPr lvl="1">
              <a:spcBef>
                <a:spcPts val="600"/>
              </a:spcBef>
            </a:pPr>
            <a:r>
              <a:rPr sz="1500" i="1">
                <a:solidFill>
                  <a:srgbClr val="1A1A1A"/>
                </a:solidFill>
              </a:rPr>
              <a:t>Discussion: name one policy that is 'built' and one that is still 'written',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Real initiatives: Nagarik App, ConnectIPS, online passport, IRD e-filing, GIDC, broadband — used but uneven.</a:t>
            </a:r>
          </a:p>
          <a:p>
            <a:pPr>
              <a:spcAft>
                <a:spcPts val="800"/>
              </a:spcAft>
            </a:pPr>
            <a:r>
              <a:rPr sz="1500">
                <a:solidFill>
                  <a:srgbClr val="1A1A1A"/>
                </a:solidFill>
              </a:rPr>
              <a:t>2.  Policy stack (verify status): IT Policy 2072, Digital Nepal Framework 2019, National ID, proposed Startup Act.</a:t>
            </a:r>
          </a:p>
          <a:p>
            <a:pPr>
              <a:spcAft>
                <a:spcPts val="800"/>
              </a:spcAft>
            </a:pPr>
            <a:r>
              <a:rPr sz="1500">
                <a:solidFill>
                  <a:srgbClr val="1A1A1A"/>
                </a:solidFill>
              </a:rPr>
              <a:t>3.  8 sectors = Digital Foundation + 7 services; adopted but partly delivered — a real integration/silo gap.</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the whole 'built vs written' verdict on digital Nepal. It tells you why the same country can host a slick payment app and still make Sita travel two days for a document — the foundation and integration lag the ambition.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S45 — the sector that is furthest 'built': digital financial inclusion, its ecosystem, and how NRB &amp; NTA regulate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45 · LECTURE HOUR 4 (OF 7) — FINANCIAL REGULATION ADDED FRESH</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Financial Inclusion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domestic worker in Kathmandu sends money home to Humla in seconds; a vegetable seller in Kalimati accepts a QR scan instead of counting notes; a farmer gets a loan because his wallet history proves he can repay. Digital financial inclusion is pulling the unbanked into the formal economy — but who is still left out, and who keeps the money safe?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43 / 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Financial Inclusion &amp; Why It Matters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financial inclusion means giving people — especially the previously excluded (rural, unbanked, women, informal workers) — access to and effective use of affordable formal financial services (payments, savings, credit, insurance) through digital channels. It matters because it pulls the cash economy into the formal system: creating records, enabling credit, making remittances cheaper and safer, and widening the tax base.</a:t>
            </a:r>
          </a:p>
          <a:p>
            <a:pPr>
              <a:spcAft>
                <a:spcPts val="500"/>
              </a:spcAft>
            </a:pPr>
            <a:r>
              <a:rPr sz="1200" b="1">
                <a:solidFill>
                  <a:srgbClr val="185FA5"/>
                </a:solidFill>
              </a:rPr>
              <a:t>HOW IT WORKS</a:t>
            </a:r>
          </a:p>
          <a:p>
            <a:pPr>
              <a:spcAft>
                <a:spcPts val="600"/>
              </a:spcAft>
            </a:pPr>
            <a:r>
              <a:rPr sz="1400">
                <a:solidFill>
                  <a:srgbClr val="1A1A1A"/>
                </a:solidFill>
              </a:rPr>
              <a:t>•  Access + USE of formal services (payments, savings, credit, insurance) via digital channels.</a:t>
            </a:r>
          </a:p>
          <a:p>
            <a:pPr>
              <a:spcAft>
                <a:spcPts val="600"/>
              </a:spcAft>
            </a:pPr>
            <a:r>
              <a:rPr sz="1400">
                <a:solidFill>
                  <a:srgbClr val="1A1A1A"/>
                </a:solidFill>
              </a:rPr>
              <a:t>•  Targets the excluded: rural, unbanked, women, informal and daily-wage workers.</a:t>
            </a:r>
          </a:p>
          <a:p>
            <a:pPr>
              <a:spcAft>
                <a:spcPts val="600"/>
              </a:spcAft>
            </a:pPr>
            <a:r>
              <a:rPr sz="1400">
                <a:solidFill>
                  <a:srgbClr val="1A1A1A"/>
                </a:solidFill>
              </a:rPr>
              <a:t>•  Turns cash into records -&gt; credit history -&gt; access to loans previously impossible.</a:t>
            </a:r>
          </a:p>
          <a:p>
            <a:pPr>
              <a:spcAft>
                <a:spcPts val="600"/>
              </a:spcAft>
            </a:pPr>
            <a:r>
              <a:rPr sz="1400">
                <a:solidFill>
                  <a:srgbClr val="1A1A1A"/>
                </a:solidFill>
              </a:rPr>
              <a:t>•  Cheaper, faster, safer remittances; a wider formal economy and tax base.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Financial inclusion = affordable formal finance, used, via digital channels — cash economy -&gt; formal.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Who benefits from digital financial inclusion — by stakeholder</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698750"/>
                <a:gridCol w="4445000"/>
                <a:gridCol w="4286250"/>
              </a:tblGrid>
              <a:tr h="883310">
                <a:tc>
                  <a:txBody>
                    <a:bodyPr wrap="square"/>
                    <a:lstStyle/>
                    <a:p>
                      <a:r>
                        <a:rPr sz="1100" b="1">
                          <a:solidFill>
                            <a:srgbClr val="FFFFFF"/>
                          </a:solidFill>
                        </a:rPr>
                        <a:t>Stakeholder</a:t>
                      </a:r>
                    </a:p>
                  </a:txBody>
                  <a:tcPr anchor="ctr" marL="73152" marR="54864" marT="27432" marB="27432">
                    <a:solidFill>
                      <a:srgbClr val="0C2B4A"/>
                    </a:solidFill>
                  </a:tcPr>
                </a:tc>
                <a:tc>
                  <a:txBody>
                    <a:bodyPr wrap="square"/>
                    <a:lstStyle/>
                    <a:p>
                      <a:r>
                        <a:rPr sz="1100" b="1">
                          <a:solidFill>
                            <a:srgbClr val="FFFFFF"/>
                          </a:solidFill>
                        </a:rPr>
                        <a:t>Benefit</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r>
              <a:tr h="883310">
                <a:tc>
                  <a:txBody>
                    <a:bodyPr wrap="square"/>
                    <a:lstStyle/>
                    <a:p>
                      <a:r>
                        <a:rPr sz="1050" b="1">
                          <a:solidFill>
                            <a:srgbClr val="0C2B4A"/>
                          </a:solidFill>
                        </a:rPr>
                        <a:t>Individual / household</a:t>
                      </a:r>
                    </a:p>
                  </a:txBody>
                  <a:tcPr anchor="ctr" marL="73152" marR="54864" marT="27432" marB="27432">
                    <a:solidFill>
                      <a:srgbClr val="FFFFFF"/>
                    </a:solidFill>
                  </a:tcPr>
                </a:tc>
                <a:tc>
                  <a:txBody>
                    <a:bodyPr wrap="square"/>
                    <a:lstStyle/>
                    <a:p>
                      <a:r>
                        <a:rPr sz="1050">
                          <a:solidFill>
                            <a:srgbClr val="1A1A1A"/>
                          </a:solidFill>
                        </a:rPr>
                        <a:t>Safe payments, savings, credit history, cheap remittance</a:t>
                      </a:r>
                    </a:p>
                  </a:txBody>
                  <a:tcPr anchor="ctr" marL="73152" marR="54864" marT="27432" marB="27432">
                    <a:solidFill>
                      <a:srgbClr val="FFFFFF"/>
                    </a:solidFill>
                  </a:tcPr>
                </a:tc>
                <a:tc>
                  <a:txBody>
                    <a:bodyPr wrap="square"/>
                    <a:lstStyle/>
                    <a:p>
                      <a:r>
                        <a:rPr sz="1050">
                          <a:solidFill>
                            <a:srgbClr val="1A1A1A"/>
                          </a:solidFill>
                        </a:rPr>
                        <a:t>Domestic worker sends money home via wallet in seconds</a:t>
                      </a:r>
                    </a:p>
                  </a:txBody>
                  <a:tcPr anchor="ctr" marL="73152" marR="54864" marT="27432" marB="27432">
                    <a:solidFill>
                      <a:srgbClr val="FFFFFF"/>
                    </a:solidFill>
                  </a:tcPr>
                </a:tc>
              </a:tr>
              <a:tr h="883310">
                <a:tc>
                  <a:txBody>
                    <a:bodyPr wrap="square"/>
                    <a:lstStyle/>
                    <a:p>
                      <a:r>
                        <a:rPr sz="1050" b="1">
                          <a:solidFill>
                            <a:srgbClr val="0C2B4A"/>
                          </a:solidFill>
                        </a:rPr>
                        <a:t>Small business / merchant</a:t>
                      </a:r>
                    </a:p>
                  </a:txBody>
                  <a:tcPr anchor="ctr" marL="73152" marR="54864" marT="27432" marB="27432">
                    <a:solidFill>
                      <a:srgbClr val="EEF3F8"/>
                    </a:solidFill>
                  </a:tcPr>
                </a:tc>
                <a:tc>
                  <a:txBody>
                    <a:bodyPr wrap="square"/>
                    <a:lstStyle/>
                    <a:p>
                      <a:r>
                        <a:rPr sz="1050">
                          <a:solidFill>
                            <a:srgbClr val="1A1A1A"/>
                          </a:solidFill>
                        </a:rPr>
                        <a:t>Accept QR, track sales, access working capital</a:t>
                      </a:r>
                    </a:p>
                  </a:txBody>
                  <a:tcPr anchor="ctr" marL="73152" marR="54864" marT="27432" marB="27432">
                    <a:solidFill>
                      <a:srgbClr val="EEF3F8"/>
                    </a:solidFill>
                  </a:tcPr>
                </a:tc>
                <a:tc>
                  <a:txBody>
                    <a:bodyPr wrap="square"/>
                    <a:lstStyle/>
                    <a:p>
                      <a:r>
                        <a:rPr sz="1050">
                          <a:solidFill>
                            <a:srgbClr val="1A1A1A"/>
                          </a:solidFill>
                        </a:rPr>
                        <a:t>Kalimati vendor takes NepalPay QR instead of cash</a:t>
                      </a:r>
                    </a:p>
                  </a:txBody>
                  <a:tcPr anchor="ctr" marL="73152" marR="54864" marT="27432" marB="27432">
                    <a:solidFill>
                      <a:srgbClr val="EEF3F8"/>
                    </a:solidFill>
                  </a:tcPr>
                </a:tc>
              </a:tr>
              <a:tr h="883310">
                <a:tc>
                  <a:txBody>
                    <a:bodyPr wrap="square"/>
                    <a:lstStyle/>
                    <a:p>
                      <a:r>
                        <a:rPr sz="1050" b="1">
                          <a:solidFill>
                            <a:srgbClr val="0C2B4A"/>
                          </a:solidFill>
                        </a:rPr>
                        <a:t>Government</a:t>
                      </a:r>
                    </a:p>
                  </a:txBody>
                  <a:tcPr anchor="ctr" marL="73152" marR="54864" marT="27432" marB="27432">
                    <a:solidFill>
                      <a:srgbClr val="FFFFFF"/>
                    </a:solidFill>
                  </a:tcPr>
                </a:tc>
                <a:tc>
                  <a:txBody>
                    <a:bodyPr wrap="square"/>
                    <a:lstStyle/>
                    <a:p>
                      <a:r>
                        <a:rPr sz="1050">
                          <a:solidFill>
                            <a:srgbClr val="1A1A1A"/>
                          </a:solidFill>
                        </a:rPr>
                        <a:t>Direct benefit transfer, records, wider tax base</a:t>
                      </a:r>
                    </a:p>
                  </a:txBody>
                  <a:tcPr anchor="ctr" marL="73152" marR="54864" marT="27432" marB="27432">
                    <a:solidFill>
                      <a:srgbClr val="FFFFFF"/>
                    </a:solidFill>
                  </a:tcPr>
                </a:tc>
                <a:tc>
                  <a:txBody>
                    <a:bodyPr wrap="square"/>
                    <a:lstStyle/>
                    <a:p>
                      <a:r>
                        <a:rPr sz="1050">
                          <a:solidFill>
                            <a:srgbClr val="1A1A1A"/>
                          </a:solidFill>
                        </a:rPr>
                        <a:t>Social allowances paid digitally; formalised transactions</a:t>
                      </a:r>
                    </a:p>
                  </a:txBody>
                  <a:tcPr anchor="ctr" marL="73152" marR="54864" marT="27432" marB="27432">
                    <a:solidFill>
                      <a:srgbClr val="FFFFFF"/>
                    </a:solidFill>
                  </a:tcPr>
                </a:tc>
              </a:tr>
              <a:tr h="883312">
                <a:tc>
                  <a:txBody>
                    <a:bodyPr wrap="square"/>
                    <a:lstStyle/>
                    <a:p>
                      <a:r>
                        <a:rPr sz="1050" b="1">
                          <a:solidFill>
                            <a:srgbClr val="0C2B4A"/>
                          </a:solidFill>
                        </a:rPr>
                        <a:t>Economy</a:t>
                      </a:r>
                    </a:p>
                  </a:txBody>
                  <a:tcPr anchor="ctr" marL="73152" marR="54864" marT="27432" marB="27432">
                    <a:solidFill>
                      <a:srgbClr val="EEF3F8"/>
                    </a:solidFill>
                  </a:tcPr>
                </a:tc>
                <a:tc>
                  <a:txBody>
                    <a:bodyPr wrap="square"/>
                    <a:lstStyle/>
                    <a:p>
                      <a:r>
                        <a:rPr sz="1050">
                          <a:solidFill>
                            <a:srgbClr val="1A1A1A"/>
                          </a:solidFill>
                        </a:rPr>
                        <a:t>More formal activity, data, financial depth</a:t>
                      </a:r>
                    </a:p>
                  </a:txBody>
                  <a:tcPr anchor="ctr" marL="73152" marR="54864" marT="27432" marB="27432">
                    <a:solidFill>
                      <a:srgbClr val="EEF3F8"/>
                    </a:solidFill>
                  </a:tcPr>
                </a:tc>
                <a:tc>
                  <a:txBody>
                    <a:bodyPr wrap="square"/>
                    <a:lstStyle/>
                    <a:p>
                      <a:r>
                        <a:rPr sz="1050">
                          <a:solidFill>
                            <a:srgbClr val="1A1A1A"/>
                          </a:solidFill>
                        </a:rPr>
                        <a:t>Cash economy shrinks; credit reaches new borrowers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Inclusion is not charity: each stakeholder gains. The individual gets a credit history from wallet use, the merchant gets working capital, and the state gets records and a wider tax base.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Financial Inclusion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vegetable farmer who once dealt only in cash now takes payment by QR, so his sales leave a record. That record becomes a credit history, and a lender who would never have touched an 'invisible' cash trader can now offer him a small loan for seeds. Inclusion turned his cash into data, and data into credit — the mechanism that lifts households and small firms into the formal economy.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"Financial inclusion just means having a bank account." Access is only half — the goal is USE of affordable services (payments, savings, credit, insurance). A dormant account excludes; an actively used wallet that builds a credit history includes. Inclusion is measured by usage and benefit, not by ownership alone.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financial inclusion means giving people — especially the previously excluded (rural, unbanked, women, informal workers) — access to and effective USE of affordable formal financial services (payments, savings, credit, insurance) through digital channels. It matters because it pulls the cash economy into the formal system: creating records, enabling credit (via transaction history), making remittances cheaper and safer, and widening the tax base. It is judged by usage and benefit, not account ownership alone.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financial inclusion · access AND use · formal services · cash -&gt; records -&gt; credit · remittance · unbanked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Ecosystem, Wallet Flow &amp; Regulation (NRB, NTA)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Nepal's digital-finance ecosystem has wallets (eSewa — first and largest, Khalti, IME Pay), bank mobile apps, and the interoperable NepalPay QR, riding on rails like ConnectIPS/Fonepay. A payment flows: User -&gt; wallet/platform -&gt; bank -&gt; receiver, settled in seconds. It is regulated: Nepal Rastra Bank (NRB) licenses providers under the Payment &amp; Settlement Act 2075, runs the National Payment Switch, mandates NepalPay QR interoperability and KYC. NTA regulates the telecom/internet it rides on.</a:t>
            </a:r>
          </a:p>
          <a:p>
            <a:pPr>
              <a:spcAft>
                <a:spcPts val="500"/>
              </a:spcAft>
            </a:pPr>
            <a:r>
              <a:rPr sz="1200" b="1">
                <a:solidFill>
                  <a:srgbClr val="185FA5"/>
                </a:solidFill>
              </a:rPr>
              <a:t>HOW IT WORKS</a:t>
            </a:r>
          </a:p>
          <a:p>
            <a:pPr>
              <a:spcAft>
                <a:spcPts val="600"/>
              </a:spcAft>
            </a:pPr>
            <a:r>
              <a:rPr sz="1400">
                <a:solidFill>
                  <a:srgbClr val="1A1A1A"/>
                </a:solidFill>
              </a:rPr>
              <a:t>•  Ecosystem: wallets (eSewa/Khalti/IME Pay) + bank apps + interoperable NepalPay QR.</a:t>
            </a:r>
          </a:p>
          <a:p>
            <a:pPr>
              <a:spcAft>
                <a:spcPts val="600"/>
              </a:spcAft>
            </a:pPr>
            <a:r>
              <a:rPr sz="1400">
                <a:solidFill>
                  <a:srgbClr val="1A1A1A"/>
                </a:solidFill>
              </a:rPr>
              <a:t>•  Wallet flow: User -&gt; platform -&gt; bank -&gt; receiver (settled in seconds).</a:t>
            </a:r>
          </a:p>
          <a:p>
            <a:pPr>
              <a:spcAft>
                <a:spcPts val="600"/>
              </a:spcAft>
            </a:pPr>
            <a:r>
              <a:rPr sz="1400">
                <a:solidFill>
                  <a:srgbClr val="1A1A1A"/>
                </a:solidFill>
              </a:rPr>
              <a:t>•  NRB — central bank: licenses PSPs/PSOs, Payment &amp; Settlement Act 2075, National Payment Switch, KYC.</a:t>
            </a:r>
          </a:p>
          <a:p>
            <a:pPr>
              <a:spcAft>
                <a:spcPts val="600"/>
              </a:spcAft>
            </a:pPr>
            <a:r>
              <a:rPr sz="1400">
                <a:solidFill>
                  <a:srgbClr val="1A1A1A"/>
                </a:solidFill>
              </a:rPr>
              <a:t>•  NepalPay QR interoperability = any wallet pays any merchant's QR; NTA regulates the connectivity.</a:t>
            </a:r>
          </a:p>
        </p:txBody>
      </p:sp>
      <p:pic>
        <p:nvPicPr>
          <p:cNvPr id="6" name="Picture 5" descr="s45_fin_inclusion.png"/>
          <p:cNvPicPr>
            <a:picLocks noChangeAspect="1"/>
          </p:cNvPicPr>
          <p:nvPr/>
        </p:nvPicPr>
        <p:blipFill>
          <a:blip r:embed="rId2"/>
          <a:stretch>
            <a:fillRect/>
          </a:stretch>
        </p:blipFill>
        <p:spPr>
          <a:xfrm>
            <a:off x="6355080" y="2797768"/>
            <a:ext cx="5532120" cy="203970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Flow: User -&gt; wallet -&gt; bank -&gt; receiver. NRB regulates the money; NTA the connectivity.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digital-finance ecosystem — each part's role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89411"/>
                <a:gridCol w="4370294"/>
                <a:gridCol w="4370294"/>
              </a:tblGrid>
              <a:tr h="630936">
                <a:tc>
                  <a:txBody>
                    <a:bodyPr wrap="square"/>
                    <a:lstStyle/>
                    <a:p>
                      <a:r>
                        <a:rPr sz="1100" b="1">
                          <a:solidFill>
                            <a:srgbClr val="FFFFFF"/>
                          </a:solidFill>
                        </a:rPr>
                        <a:t>Part</a:t>
                      </a:r>
                    </a:p>
                  </a:txBody>
                  <a:tcPr anchor="ctr" marL="73152" marR="54864" marT="27432" marB="27432">
                    <a:solidFill>
                      <a:srgbClr val="0C2B4A"/>
                    </a:solidFill>
                  </a:tcPr>
                </a:tc>
                <a:tc>
                  <a:txBody>
                    <a:bodyPr wrap="square"/>
                    <a:lstStyle/>
                    <a:p>
                      <a:r>
                        <a:rPr sz="1100" b="1">
                          <a:solidFill>
                            <a:srgbClr val="FFFFFF"/>
                          </a:solidFill>
                        </a:rPr>
                        <a:t>Role</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r>
              <a:tr h="630936">
                <a:tc>
                  <a:txBody>
                    <a:bodyPr wrap="square"/>
                    <a:lstStyle/>
                    <a:p>
                      <a:r>
                        <a:rPr sz="1050" b="1">
                          <a:solidFill>
                            <a:srgbClr val="0C2B4A"/>
                          </a:solidFill>
                        </a:rPr>
                        <a:t>Wallet / PSP</a:t>
                      </a:r>
                    </a:p>
                  </a:txBody>
                  <a:tcPr anchor="ctr" marL="73152" marR="54864" marT="27432" marB="27432">
                    <a:solidFill>
                      <a:srgbClr val="FFFFFF"/>
                    </a:solidFill>
                  </a:tcPr>
                </a:tc>
                <a:tc>
                  <a:txBody>
                    <a:bodyPr wrap="square"/>
                    <a:lstStyle/>
                    <a:p>
                      <a:r>
                        <a:rPr sz="1050">
                          <a:solidFill>
                            <a:srgbClr val="1A1A1A"/>
                          </a:solidFill>
                        </a:rPr>
                        <a:t>Holds balance, lets users pay &amp; transfer</a:t>
                      </a:r>
                    </a:p>
                  </a:txBody>
                  <a:tcPr anchor="ctr" marL="73152" marR="54864" marT="27432" marB="27432">
                    <a:solidFill>
                      <a:srgbClr val="FFFFFF"/>
                    </a:solidFill>
                  </a:tcPr>
                </a:tc>
                <a:tc>
                  <a:txBody>
                    <a:bodyPr wrap="square"/>
                    <a:lstStyle/>
                    <a:p>
                      <a:r>
                        <a:rPr sz="1050">
                          <a:solidFill>
                            <a:srgbClr val="1A1A1A"/>
                          </a:solidFill>
                        </a:rPr>
                        <a:t>eSewa (first &amp; largest), Khalti, IME Pay</a:t>
                      </a:r>
                    </a:p>
                  </a:txBody>
                  <a:tcPr anchor="ctr" marL="73152" marR="54864" marT="27432" marB="27432">
                    <a:solidFill>
                      <a:srgbClr val="FFFFFF"/>
                    </a:solidFill>
                  </a:tcPr>
                </a:tc>
              </a:tr>
              <a:tr h="630936">
                <a:tc>
                  <a:txBody>
                    <a:bodyPr wrap="square"/>
                    <a:lstStyle/>
                    <a:p>
                      <a:r>
                        <a:rPr sz="1050" b="1">
                          <a:solidFill>
                            <a:srgbClr val="0C2B4A"/>
                          </a:solidFill>
                        </a:rPr>
                        <a:t>Bank / bank app</a:t>
                      </a:r>
                    </a:p>
                  </a:txBody>
                  <a:tcPr anchor="ctr" marL="73152" marR="54864" marT="27432" marB="27432">
                    <a:solidFill>
                      <a:srgbClr val="EEF3F8"/>
                    </a:solidFill>
                  </a:tcPr>
                </a:tc>
                <a:tc>
                  <a:txBody>
                    <a:bodyPr wrap="square"/>
                    <a:lstStyle/>
                    <a:p>
                      <a:r>
                        <a:rPr sz="1050">
                          <a:solidFill>
                            <a:srgbClr val="1A1A1A"/>
                          </a:solidFill>
                        </a:rPr>
                        <a:t>Holds deposits; source &amp; destination of funds</a:t>
                      </a:r>
                    </a:p>
                  </a:txBody>
                  <a:tcPr anchor="ctr" marL="73152" marR="54864" marT="27432" marB="27432">
                    <a:solidFill>
                      <a:srgbClr val="EEF3F8"/>
                    </a:solidFill>
                  </a:tcPr>
                </a:tc>
                <a:tc>
                  <a:txBody>
                    <a:bodyPr wrap="square"/>
                    <a:lstStyle/>
                    <a:p>
                      <a:r>
                        <a:rPr sz="1050">
                          <a:solidFill>
                            <a:srgbClr val="1A1A1A"/>
                          </a:solidFill>
                        </a:rPr>
                        <a:t>Commercial-bank mobile banking apps</a:t>
                      </a:r>
                    </a:p>
                  </a:txBody>
                  <a:tcPr anchor="ctr" marL="73152" marR="54864" marT="27432" marB="27432">
                    <a:solidFill>
                      <a:srgbClr val="EEF3F8"/>
                    </a:solidFill>
                  </a:tcPr>
                </a:tc>
              </a:tr>
              <a:tr h="630936">
                <a:tc>
                  <a:txBody>
                    <a:bodyPr wrap="square"/>
                    <a:lstStyle/>
                    <a:p>
                      <a:r>
                        <a:rPr sz="1050" b="1">
                          <a:solidFill>
                            <a:srgbClr val="0C2B4A"/>
                          </a:solidFill>
                        </a:rPr>
                        <a:t>Payment switch</a:t>
                      </a:r>
                    </a:p>
                  </a:txBody>
                  <a:tcPr anchor="ctr" marL="73152" marR="54864" marT="27432" marB="27432">
                    <a:solidFill>
                      <a:srgbClr val="FFFFFF"/>
                    </a:solidFill>
                  </a:tcPr>
                </a:tc>
                <a:tc>
                  <a:txBody>
                    <a:bodyPr wrap="square"/>
                    <a:lstStyle/>
                    <a:p>
                      <a:r>
                        <a:rPr sz="1050">
                          <a:solidFill>
                            <a:srgbClr val="1A1A1A"/>
                          </a:solidFill>
                        </a:rPr>
                        <a:t>Routes &amp; settles between banks/wallets</a:t>
                      </a:r>
                    </a:p>
                  </a:txBody>
                  <a:tcPr anchor="ctr" marL="73152" marR="54864" marT="27432" marB="27432">
                    <a:solidFill>
                      <a:srgbClr val="FFFFFF"/>
                    </a:solidFill>
                  </a:tcPr>
                </a:tc>
                <a:tc>
                  <a:txBody>
                    <a:bodyPr wrap="square"/>
                    <a:lstStyle/>
                    <a:p>
                      <a:r>
                        <a:rPr sz="1050">
                          <a:solidFill>
                            <a:srgbClr val="1A1A1A"/>
                          </a:solidFill>
                        </a:rPr>
                        <a:t>National Payment Switch (via NCHL)</a:t>
                      </a:r>
                    </a:p>
                  </a:txBody>
                  <a:tcPr anchor="ctr" marL="73152" marR="54864" marT="27432" marB="27432">
                    <a:solidFill>
                      <a:srgbClr val="FFFFFF"/>
                    </a:solidFill>
                  </a:tcPr>
                </a:tc>
              </a:tr>
              <a:tr h="630936">
                <a:tc>
                  <a:txBody>
                    <a:bodyPr wrap="square"/>
                    <a:lstStyle/>
                    <a:p>
                      <a:r>
                        <a:rPr sz="1050" b="1">
                          <a:solidFill>
                            <a:srgbClr val="0C2B4A"/>
                          </a:solidFill>
                        </a:rPr>
                        <a:t>QR standard</a:t>
                      </a:r>
                    </a:p>
                  </a:txBody>
                  <a:tcPr anchor="ctr" marL="73152" marR="54864" marT="27432" marB="27432">
                    <a:solidFill>
                      <a:srgbClr val="EEF3F8"/>
                    </a:solidFill>
                  </a:tcPr>
                </a:tc>
                <a:tc>
                  <a:txBody>
                    <a:bodyPr wrap="square"/>
                    <a:lstStyle/>
                    <a:p>
                      <a:r>
                        <a:rPr sz="1050">
                          <a:solidFill>
                            <a:srgbClr val="1A1A1A"/>
                          </a:solidFill>
                        </a:rPr>
                        <a:t>One interoperable QR any wallet can pay</a:t>
                      </a:r>
                    </a:p>
                  </a:txBody>
                  <a:tcPr anchor="ctr" marL="73152" marR="54864" marT="27432" marB="27432">
                    <a:solidFill>
                      <a:srgbClr val="EEF3F8"/>
                    </a:solidFill>
                  </a:tcPr>
                </a:tc>
                <a:tc>
                  <a:txBody>
                    <a:bodyPr wrap="square"/>
                    <a:lstStyle/>
                    <a:p>
                      <a:r>
                        <a:rPr sz="1050">
                          <a:solidFill>
                            <a:srgbClr val="1A1A1A"/>
                          </a:solidFill>
                        </a:rPr>
                        <a:t>NepalPay QR interoperability</a:t>
                      </a:r>
                    </a:p>
                  </a:txBody>
                  <a:tcPr anchor="ctr" marL="73152" marR="54864" marT="27432" marB="27432">
                    <a:solidFill>
                      <a:srgbClr val="EEF3F8"/>
                    </a:solidFill>
                  </a:tcPr>
                </a:tc>
              </a:tr>
              <a:tr h="630936">
                <a:tc>
                  <a:txBody>
                    <a:bodyPr wrap="square"/>
                    <a:lstStyle/>
                    <a:p>
                      <a:r>
                        <a:rPr sz="1050" b="1">
                          <a:solidFill>
                            <a:srgbClr val="0C2B4A"/>
                          </a:solidFill>
                        </a:rPr>
                        <a:t>Regulator — NRB</a:t>
                      </a:r>
                    </a:p>
                  </a:txBody>
                  <a:tcPr anchor="ctr" marL="73152" marR="54864" marT="27432" marB="27432">
                    <a:solidFill>
                      <a:srgbClr val="FFFFFF"/>
                    </a:solidFill>
                  </a:tcPr>
                </a:tc>
                <a:tc>
                  <a:txBody>
                    <a:bodyPr wrap="square"/>
                    <a:lstStyle/>
                    <a:p>
                      <a:r>
                        <a:rPr sz="1050">
                          <a:solidFill>
                            <a:srgbClr val="1A1A1A"/>
                          </a:solidFill>
                        </a:rPr>
                        <a:t>Licenses providers, sets rules, KYC</a:t>
                      </a:r>
                    </a:p>
                  </a:txBody>
                  <a:tcPr anchor="ctr" marL="73152" marR="54864" marT="27432" marB="27432">
                    <a:solidFill>
                      <a:srgbClr val="FFFFFF"/>
                    </a:solidFill>
                  </a:tcPr>
                </a:tc>
                <a:tc>
                  <a:txBody>
                    <a:bodyPr wrap="square"/>
                    <a:lstStyle/>
                    <a:p>
                      <a:r>
                        <a:rPr sz="1050">
                          <a:solidFill>
                            <a:srgbClr val="1A1A1A"/>
                          </a:solidFill>
                        </a:rPr>
                        <a:t>Payment &amp; Settlement Act 2075</a:t>
                      </a:r>
                    </a:p>
                  </a:txBody>
                  <a:tcPr anchor="ctr" marL="73152" marR="54864" marT="27432" marB="27432">
                    <a:solidFill>
                      <a:srgbClr val="FFFFFF"/>
                    </a:solidFill>
                  </a:tcPr>
                </a:tc>
              </a:tr>
              <a:tr h="630936">
                <a:tc>
                  <a:txBody>
                    <a:bodyPr wrap="square"/>
                    <a:lstStyle/>
                    <a:p>
                      <a:r>
                        <a:rPr sz="1050" b="1">
                          <a:solidFill>
                            <a:srgbClr val="0C2B4A"/>
                          </a:solidFill>
                        </a:rPr>
                        <a:t>Regulator — NTA</a:t>
                      </a:r>
                    </a:p>
                  </a:txBody>
                  <a:tcPr anchor="ctr" marL="73152" marR="54864" marT="27432" marB="27432">
                    <a:solidFill>
                      <a:srgbClr val="EEF3F8"/>
                    </a:solidFill>
                  </a:tcPr>
                </a:tc>
                <a:tc>
                  <a:txBody>
                    <a:bodyPr wrap="square"/>
                    <a:lstStyle/>
                    <a:p>
                      <a:r>
                        <a:rPr sz="1050">
                          <a:solidFill>
                            <a:srgbClr val="1A1A1A"/>
                          </a:solidFill>
                        </a:rPr>
                        <a:t>Regulates telecom/internet it rides on</a:t>
                      </a:r>
                    </a:p>
                  </a:txBody>
                  <a:tcPr anchor="ctr" marL="73152" marR="54864" marT="27432" marB="27432">
                    <a:solidFill>
                      <a:srgbClr val="EEF3F8"/>
                    </a:solidFill>
                  </a:tcPr>
                </a:tc>
                <a:tc>
                  <a:txBody>
                    <a:bodyPr wrap="square"/>
                    <a:lstStyle/>
                    <a:p>
                      <a:r>
                        <a:rPr sz="1050">
                          <a:solidFill>
                            <a:srgbClr val="1A1A1A"/>
                          </a:solidFill>
                        </a:rPr>
                        <a:t>Spectrum, ISPs, mobile data</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Interoperability is the modern leap: before NepalPay QR, a merchant needed a separate QR per wallet; now one QR takes them all. Regulatory details are reported — verify current status.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Ecosystem &amp; Regulation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Kanchhi Maiya scans a NepalPay QR at a shop, her eSewa balance moves through the National Payment Switch to the merchant's bank in seconds — and it works whichever wallet the shop signed up with, because NRB mandates interoperability. NRB licensed eSewa and sets the KYC and limits; NTA keeps the mobile data flowing that carries the scan. Two regulators, two halves: money and connectivity.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"eSewa and the banks just do whatever they like." They operate under NRB rules — licensing, the Payment &amp; Settlement Act 2075, KYC, transaction limits and mandated NepalPay QR interoperability — while NTA governs the connectivity. Digital money in Nepal is regulated on two fronts, not a free-for-all. (Verify current rules before quoting.)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Nepal's digital-finance ecosystem has wallets (eSewa — first and largest, Khalti, IME Pay), bank apps, and the interoperable NepalPay QR, riding on rails such as ConnectIPS/Fonepay. A payment flows User -&gt; platform -&gt; bank -&gt; receiver in seconds. It is regulated on two fronts: NRB (central bank) licenses providers under the Payment &amp; Settlement Act 2075, runs the National Payment Switch, and mandates NepalPay QR interoperability and KYC; NTA regulates the telecom/internet it rides on. (Verify current status.)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eSewa/Khalti/IME Pay · NepalPay QR interoperability · National Payment Switch · NRB (money) · NTA (connectivity) · KYC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Rural Inclusion Challenges &amp; Economic Impact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finance reaches Kathmandu easily; the hard part is the last mile. Rural inclusion is blocked by unreliable internet, low smartphone ownership and digital literacy, few cash-in/cash-out agents, missing KYC documents, and fraud/trust fears. A reported figure puts reliable rural internet near 41%. Yet the impact where it does reach is large — cheaper remittances, credit from transaction history, and less cash risk. Bridging the last mile is the inclusion agenda.</a:t>
            </a:r>
          </a:p>
          <a:p>
            <a:pPr>
              <a:spcAft>
                <a:spcPts val="500"/>
              </a:spcAft>
            </a:pPr>
            <a:r>
              <a:rPr sz="1200" b="1">
                <a:solidFill>
                  <a:srgbClr val="185FA5"/>
                </a:solidFill>
              </a:rPr>
              <a:t>HOW IT WORKS</a:t>
            </a:r>
          </a:p>
          <a:p>
            <a:pPr>
              <a:spcAft>
                <a:spcPts val="600"/>
              </a:spcAft>
            </a:pPr>
            <a:r>
              <a:rPr sz="1400">
                <a:solidFill>
                  <a:srgbClr val="1A1A1A"/>
                </a:solidFill>
              </a:rPr>
              <a:t>•  Barriers: patchy internet, low smartphone/literacy, few agents, KYC docs, fraud fears.</a:t>
            </a:r>
          </a:p>
          <a:p>
            <a:pPr>
              <a:spcAft>
                <a:spcPts val="600"/>
              </a:spcAft>
            </a:pPr>
            <a:r>
              <a:rPr sz="1400">
                <a:solidFill>
                  <a:srgbClr val="1A1A1A"/>
                </a:solidFill>
              </a:rPr>
              <a:t>•  Reported: ~41% rural reliable internet, and gendered/age-skewed usage — treat as indicative.</a:t>
            </a:r>
          </a:p>
          <a:p>
            <a:pPr>
              <a:spcAft>
                <a:spcPts val="600"/>
              </a:spcAft>
            </a:pPr>
            <a:r>
              <a:rPr sz="1400">
                <a:solidFill>
                  <a:srgbClr val="1A1A1A"/>
                </a:solidFill>
              </a:rPr>
              <a:t>•  Where it reaches: cheaper remittance, credit via wallet history, safety from cash theft.</a:t>
            </a:r>
          </a:p>
          <a:p>
            <a:pPr>
              <a:spcAft>
                <a:spcPts val="600"/>
              </a:spcAft>
            </a:pPr>
            <a:r>
              <a:rPr sz="1400">
                <a:solidFill>
                  <a:srgbClr val="1A1A1A"/>
                </a:solidFill>
              </a:rPr>
              <a:t>•  The agenda: agent networks, simple KYC, offline/USSD options, literacy, and reliable connectivity.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Rural gap is the last mile: internet, devices, agents, KYC, trust — but impact is large where it reaches.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PAYOFF</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Rural inclusion — challenge and the matching solution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02428"/>
                <a:gridCol w="3918857"/>
                <a:gridCol w="4408714"/>
              </a:tblGrid>
              <a:tr h="630936">
                <a:tc>
                  <a:txBody>
                    <a:bodyPr wrap="square"/>
                    <a:lstStyle/>
                    <a:p>
                      <a:r>
                        <a:rPr sz="1100" b="1">
                          <a:solidFill>
                            <a:srgbClr val="FFFFFF"/>
                          </a:solidFill>
                        </a:rPr>
                        <a:t>Challenge</a:t>
                      </a:r>
                    </a:p>
                  </a:txBody>
                  <a:tcPr anchor="ctr" marL="73152" marR="54864" marT="27432" marB="27432">
                    <a:solidFill>
                      <a:srgbClr val="0C2B4A"/>
                    </a:solidFill>
                  </a:tcPr>
                </a:tc>
                <a:tc>
                  <a:txBody>
                    <a:bodyPr wrap="square"/>
                    <a:lstStyle/>
                    <a:p>
                      <a:r>
                        <a:rPr sz="1100" b="1">
                          <a:solidFill>
                            <a:srgbClr val="FFFFFF"/>
                          </a:solidFill>
                        </a:rPr>
                        <a:t>Why it blocks inclusion</a:t>
                      </a:r>
                    </a:p>
                  </a:txBody>
                  <a:tcPr anchor="ctr" marL="73152" marR="54864" marT="27432" marB="27432">
                    <a:solidFill>
                      <a:srgbClr val="0C2B4A"/>
                    </a:solidFill>
                  </a:tcPr>
                </a:tc>
                <a:tc>
                  <a:txBody>
                    <a:bodyPr wrap="square"/>
                    <a:lstStyle/>
                    <a:p>
                      <a:r>
                        <a:rPr sz="1100" b="1">
                          <a:solidFill>
                            <a:srgbClr val="FFFFFF"/>
                          </a:solidFill>
                        </a:rPr>
                        <a:t>Solution</a:t>
                      </a:r>
                    </a:p>
                  </a:txBody>
                  <a:tcPr anchor="ctr" marL="73152" marR="54864" marT="27432" marB="27432">
                    <a:solidFill>
                      <a:srgbClr val="0C2B4A"/>
                    </a:solidFill>
                  </a:tcPr>
                </a:tc>
              </a:tr>
              <a:tr h="630936">
                <a:tc>
                  <a:txBody>
                    <a:bodyPr wrap="square"/>
                    <a:lstStyle/>
                    <a:p>
                      <a:r>
                        <a:rPr sz="1050" b="1">
                          <a:solidFill>
                            <a:srgbClr val="0C2B4A"/>
                          </a:solidFill>
                        </a:rPr>
                        <a:t>Unreliable internet</a:t>
                      </a:r>
                    </a:p>
                  </a:txBody>
                  <a:tcPr anchor="ctr" marL="73152" marR="54864" marT="27432" marB="27432">
                    <a:solidFill>
                      <a:srgbClr val="FFFFFF"/>
                    </a:solidFill>
                  </a:tcPr>
                </a:tc>
                <a:tc>
                  <a:txBody>
                    <a:bodyPr wrap="square"/>
                    <a:lstStyle/>
                    <a:p>
                      <a:r>
                        <a:rPr sz="1050">
                          <a:solidFill>
                            <a:srgbClr val="1A1A1A"/>
                          </a:solidFill>
                        </a:rPr>
                        <a:t>Can't complete a transaction</a:t>
                      </a:r>
                    </a:p>
                  </a:txBody>
                  <a:tcPr anchor="ctr" marL="73152" marR="54864" marT="27432" marB="27432">
                    <a:solidFill>
                      <a:srgbClr val="FFFFFF"/>
                    </a:solidFill>
                  </a:tcPr>
                </a:tc>
                <a:tc>
                  <a:txBody>
                    <a:bodyPr wrap="square"/>
                    <a:lstStyle/>
                    <a:p>
                      <a:r>
                        <a:rPr sz="1050">
                          <a:solidFill>
                            <a:srgbClr val="1A1A1A"/>
                          </a:solidFill>
                        </a:rPr>
                        <a:t>Offline/USSD payments; better rural connectivity</a:t>
                      </a:r>
                    </a:p>
                  </a:txBody>
                  <a:tcPr anchor="ctr" marL="73152" marR="54864" marT="27432" marB="27432">
                    <a:solidFill>
                      <a:srgbClr val="FFFFFF"/>
                    </a:solidFill>
                  </a:tcPr>
                </a:tc>
              </a:tr>
              <a:tr h="630936">
                <a:tc>
                  <a:txBody>
                    <a:bodyPr wrap="square"/>
                    <a:lstStyle/>
                    <a:p>
                      <a:r>
                        <a:rPr sz="1050" b="1">
                          <a:solidFill>
                            <a:srgbClr val="0C2B4A"/>
                          </a:solidFill>
                        </a:rPr>
                        <a:t>Low smartphone / literacy</a:t>
                      </a:r>
                    </a:p>
                  </a:txBody>
                  <a:tcPr anchor="ctr" marL="73152" marR="54864" marT="27432" marB="27432">
                    <a:solidFill>
                      <a:srgbClr val="EEF3F8"/>
                    </a:solidFill>
                  </a:tcPr>
                </a:tc>
                <a:tc>
                  <a:txBody>
                    <a:bodyPr wrap="square"/>
                    <a:lstStyle/>
                    <a:p>
                      <a:r>
                        <a:rPr sz="1050">
                          <a:solidFill>
                            <a:srgbClr val="1A1A1A"/>
                          </a:solidFill>
                        </a:rPr>
                        <a:t>Can't use the app</a:t>
                      </a:r>
                    </a:p>
                  </a:txBody>
                  <a:tcPr anchor="ctr" marL="73152" marR="54864" marT="27432" marB="27432">
                    <a:solidFill>
                      <a:srgbClr val="EEF3F8"/>
                    </a:solidFill>
                  </a:tcPr>
                </a:tc>
                <a:tc>
                  <a:txBody>
                    <a:bodyPr wrap="square"/>
                    <a:lstStyle/>
                    <a:p>
                      <a:r>
                        <a:rPr sz="1050">
                          <a:solidFill>
                            <a:srgbClr val="1A1A1A"/>
                          </a:solidFill>
                        </a:rPr>
                        <a:t>Simple UIs, local language, USSD, assisted onboarding</a:t>
                      </a:r>
                    </a:p>
                  </a:txBody>
                  <a:tcPr anchor="ctr" marL="73152" marR="54864" marT="27432" marB="27432">
                    <a:solidFill>
                      <a:srgbClr val="EEF3F8"/>
                    </a:solidFill>
                  </a:tcPr>
                </a:tc>
              </a:tr>
              <a:tr h="630936">
                <a:tc>
                  <a:txBody>
                    <a:bodyPr wrap="square"/>
                    <a:lstStyle/>
                    <a:p>
                      <a:r>
                        <a:rPr sz="1050" b="1">
                          <a:solidFill>
                            <a:srgbClr val="0C2B4A"/>
                          </a:solidFill>
                        </a:rPr>
                        <a:t>Few cash-in/out points</a:t>
                      </a:r>
                    </a:p>
                  </a:txBody>
                  <a:tcPr anchor="ctr" marL="73152" marR="54864" marT="27432" marB="27432">
                    <a:solidFill>
                      <a:srgbClr val="FFFFFF"/>
                    </a:solidFill>
                  </a:tcPr>
                </a:tc>
                <a:tc>
                  <a:txBody>
                    <a:bodyPr wrap="square"/>
                    <a:lstStyle/>
                    <a:p>
                      <a:r>
                        <a:rPr sz="1050">
                          <a:solidFill>
                            <a:srgbClr val="1A1A1A"/>
                          </a:solidFill>
                        </a:rPr>
                        <a:t>Can't turn digital money into cash</a:t>
                      </a:r>
                    </a:p>
                  </a:txBody>
                  <a:tcPr anchor="ctr" marL="73152" marR="54864" marT="27432" marB="27432">
                    <a:solidFill>
                      <a:srgbClr val="FFFFFF"/>
                    </a:solidFill>
                  </a:tcPr>
                </a:tc>
                <a:tc>
                  <a:txBody>
                    <a:bodyPr wrap="square"/>
                    <a:lstStyle/>
                    <a:p>
                      <a:r>
                        <a:rPr sz="1050">
                          <a:solidFill>
                            <a:srgbClr val="1A1A1A"/>
                          </a:solidFill>
                        </a:rPr>
                        <a:t>Agent networks, bank/co-op branchless banking</a:t>
                      </a:r>
                    </a:p>
                  </a:txBody>
                  <a:tcPr anchor="ctr" marL="73152" marR="54864" marT="27432" marB="27432">
                    <a:solidFill>
                      <a:srgbClr val="FFFFFF"/>
                    </a:solidFill>
                  </a:tcPr>
                </a:tc>
              </a:tr>
              <a:tr h="630936">
                <a:tc>
                  <a:txBody>
                    <a:bodyPr wrap="square"/>
                    <a:lstStyle/>
                    <a:p>
                      <a:r>
                        <a:rPr sz="1050" b="1">
                          <a:solidFill>
                            <a:srgbClr val="0C2B4A"/>
                          </a:solidFill>
                        </a:rPr>
                        <a:t>Missing KYC documents</a:t>
                      </a:r>
                    </a:p>
                  </a:txBody>
                  <a:tcPr anchor="ctr" marL="73152" marR="54864" marT="27432" marB="27432">
                    <a:solidFill>
                      <a:srgbClr val="EEF3F8"/>
                    </a:solidFill>
                  </a:tcPr>
                </a:tc>
                <a:tc>
                  <a:txBody>
                    <a:bodyPr wrap="square"/>
                    <a:lstStyle/>
                    <a:p>
                      <a:r>
                        <a:rPr sz="1050">
                          <a:solidFill>
                            <a:srgbClr val="1A1A1A"/>
                          </a:solidFill>
                        </a:rPr>
                        <a:t>Can't open a compliant account</a:t>
                      </a:r>
                    </a:p>
                  </a:txBody>
                  <a:tcPr anchor="ctr" marL="73152" marR="54864" marT="27432" marB="27432">
                    <a:solidFill>
                      <a:srgbClr val="EEF3F8"/>
                    </a:solidFill>
                  </a:tcPr>
                </a:tc>
                <a:tc>
                  <a:txBody>
                    <a:bodyPr wrap="square"/>
                    <a:lstStyle/>
                    <a:p>
                      <a:r>
                        <a:rPr sz="1050">
                          <a:solidFill>
                            <a:srgbClr val="1A1A1A"/>
                          </a:solidFill>
                        </a:rPr>
                        <a:t>Tiered/simplified KYC for low-value accounts</a:t>
                      </a:r>
                    </a:p>
                  </a:txBody>
                  <a:tcPr anchor="ctr" marL="73152" marR="54864" marT="27432" marB="27432">
                    <a:solidFill>
                      <a:srgbClr val="EEF3F8"/>
                    </a:solidFill>
                  </a:tcPr>
                </a:tc>
              </a:tr>
              <a:tr h="630936">
                <a:tc>
                  <a:txBody>
                    <a:bodyPr wrap="square"/>
                    <a:lstStyle/>
                    <a:p>
                      <a:r>
                        <a:rPr sz="1050" b="1">
                          <a:solidFill>
                            <a:srgbClr val="0C2B4A"/>
                          </a:solidFill>
                        </a:rPr>
                        <a:t>Fraud &amp; trust fears</a:t>
                      </a:r>
                    </a:p>
                  </a:txBody>
                  <a:tcPr anchor="ctr" marL="73152" marR="54864" marT="27432" marB="27432">
                    <a:solidFill>
                      <a:srgbClr val="FFFFFF"/>
                    </a:solidFill>
                  </a:tcPr>
                </a:tc>
                <a:tc>
                  <a:txBody>
                    <a:bodyPr wrap="square"/>
                    <a:lstStyle/>
                    <a:p>
                      <a:r>
                        <a:rPr sz="1050">
                          <a:solidFill>
                            <a:srgbClr val="1A1A1A"/>
                          </a:solidFill>
                        </a:rPr>
                        <a:t>People avoid digital money</a:t>
                      </a:r>
                    </a:p>
                  </a:txBody>
                  <a:tcPr anchor="ctr" marL="73152" marR="54864" marT="27432" marB="27432">
                    <a:solidFill>
                      <a:srgbClr val="FFFFFF"/>
                    </a:solidFill>
                  </a:tcPr>
                </a:tc>
                <a:tc>
                  <a:txBody>
                    <a:bodyPr wrap="square"/>
                    <a:lstStyle/>
                    <a:p>
                      <a:r>
                        <a:rPr sz="1050">
                          <a:solidFill>
                            <a:srgbClr val="1A1A1A"/>
                          </a:solidFill>
                        </a:rPr>
                        <a:t>Consumer protection, OTP, awareness campaigns</a:t>
                      </a:r>
                    </a:p>
                  </a:txBody>
                  <a:tcPr anchor="ctr" marL="73152" marR="54864" marT="27432" marB="27432">
                    <a:solidFill>
                      <a:srgbClr val="FFFFFF"/>
                    </a:solidFill>
                  </a:tcPr>
                </a:tc>
              </a:tr>
              <a:tr h="630936">
                <a:tc>
                  <a:txBody>
                    <a:bodyPr wrap="square"/>
                    <a:lstStyle/>
                    <a:p>
                      <a:r>
                        <a:rPr sz="1050" b="1">
                          <a:solidFill>
                            <a:srgbClr val="0C2B4A"/>
                          </a:solidFill>
                        </a:rPr>
                        <a:t>Uneven usage (gender/age)</a:t>
                      </a:r>
                    </a:p>
                  </a:txBody>
                  <a:tcPr anchor="ctr" marL="73152" marR="54864" marT="27432" marB="27432">
                    <a:solidFill>
                      <a:srgbClr val="EEF3F8"/>
                    </a:solidFill>
                  </a:tcPr>
                </a:tc>
                <a:tc>
                  <a:txBody>
                    <a:bodyPr wrap="square"/>
                    <a:lstStyle/>
                    <a:p>
                      <a:r>
                        <a:rPr sz="1050">
                          <a:solidFill>
                            <a:srgbClr val="1A1A1A"/>
                          </a:solidFill>
                        </a:rPr>
                        <a:t>Excludes women, older &amp; remote users</a:t>
                      </a:r>
                    </a:p>
                  </a:txBody>
                  <a:tcPr anchor="ctr" marL="73152" marR="54864" marT="27432" marB="27432">
                    <a:solidFill>
                      <a:srgbClr val="EEF3F8"/>
                    </a:solidFill>
                  </a:tcPr>
                </a:tc>
                <a:tc>
                  <a:txBody>
                    <a:bodyPr wrap="square"/>
                    <a:lstStyle/>
                    <a:p>
                      <a:r>
                        <a:rPr sz="1050">
                          <a:solidFill>
                            <a:srgbClr val="1A1A1A"/>
                          </a:solidFill>
                        </a:rPr>
                        <a:t>Targeted programmes; women-agent networks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barrier has a known fix — inclusion is a delivery problem, not a mystery. Usage figures (e.g. skew by gender/age) are reported; verify before quoting.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Rural Inclusion Challenges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Sita in Humla has a phone but shaky 2G, no nearby agent to cash out a wallet, and no easy way to complete KYC — so the same app that transformed Kathmandu barely helps her. Yet if an agent network and offline/USSD payments reached her, she could receive remittances instantly and build a credit history. The barriers are concrete and the fixes are known; the gap is delivery to the last mile.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finance has already included everyone with a phone." Owning a phone is not inclusion: without reliable internet, cash-out agents, KYC and trust, rural users like Sita stay excluded. Inclusion is measured at the last mile, and a reported ~41% rural reliable-internet figure shows how far that mile still is.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Rural digital-finance inclusion is blocked by unreliable internet, low smartphone ownership and digital literacy, few cash-in/cash-out agents, missing KYC documents, and fraud/trust fears (a reported ~41% rural reliable-internet figure and gender/age-skewed usage — treat as indicative). Yet the impact where it reaches is large: cheaper remittances, credit from transaction history, and safety from cash. Each barrier has a known fix (agent networks, simplified KYC, offline/USSD, literacy) — inclusion is a last-mile delivery problem.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last mile · rural barriers · agents · simplified KYC · USSD/offline · ~41% (reported) · delivery problem</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S45 — 'Include Sita'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Sita in Humla has a basic phone and shaky internet, no bank branch nearby.</a:t>
            </a:r>
          </a:p>
          <a:p>
            <a:pPr>
              <a:spcAft>
                <a:spcPts val="700"/>
              </a:spcAft>
            </a:pPr>
            <a:r>
              <a:rPr sz="1550">
                <a:solidFill>
                  <a:srgbClr val="1A1A1A"/>
                </a:solidFill>
              </a:rPr>
              <a:t>•  List the barriers stopping her from using a wallet, and match each with one concrete solution.</a:t>
            </a:r>
          </a:p>
          <a:p>
            <a:pPr>
              <a:spcAft>
                <a:spcPts val="700"/>
              </a:spcAft>
            </a:pPr>
            <a:r>
              <a:rPr sz="1550">
                <a:solidFill>
                  <a:srgbClr val="1A1A1A"/>
                </a:solidFill>
              </a:rPr>
              <a:t>•  Name which stakeholder (individual/business/govt) gains most if she is included.</a:t>
            </a:r>
          </a:p>
          <a:p>
            <a:pPr>
              <a:spcAft>
                <a:spcPts val="700"/>
              </a:spcAft>
            </a:pPr>
            <a:r>
              <a:rPr sz="1550">
                <a:solidFill>
                  <a:srgbClr val="1A1A1A"/>
                </a:solidFill>
              </a:rPr>
              <a:t>•  Take 3–4 answers aloud (2 min); check each barrier has a matched fix.</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barriers = internet, no agent, KYC, literacy; fixes = USSD/offline, agent network, simplified KYC, local-language UI. She gains cheap remittance + credit history; the economy gains formalisation. Reward barrier-&gt;fix matching.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Who is Nepal's regulator that licenses wallets and mandates NepalPay QR interoperability?</a:t>
            </a:r>
          </a:p>
          <a:p>
            <a:pPr lvl="1"/>
            <a:r>
              <a:rPr sz="1500" b="1">
                <a:solidFill>
                  <a:srgbClr val="0F6E56"/>
                </a:solidFill>
              </a:rPr>
              <a:t>a) NTA   b) ✅ NRB (Nepal Rastra Bank)   c) Daraz   d) the ward office</a:t>
            </a:r>
          </a:p>
          <a:p>
            <a:pPr lvl="1">
              <a:spcBef>
                <a:spcPts val="600"/>
              </a:spcBef>
            </a:pPr>
            <a:r>
              <a:rPr sz="1500" i="1">
                <a:solidFill>
                  <a:srgbClr val="1A1A1A"/>
                </a:solidFill>
              </a:rPr>
              <a:t>     Why: NRB regulates payments/money (Payment &amp; Settlement Act 2075); NTA regulates the telecom/internet it rides on.</a:t>
            </a:r>
          </a:p>
          <a:p>
            <a:pPr>
              <a:spcBef>
                <a:spcPts val="900"/>
              </a:spcBef>
            </a:pPr>
            <a:r>
              <a:rPr sz="1700" b="1">
                <a:solidFill>
                  <a:srgbClr val="0C2B4A"/>
                </a:solidFill>
              </a:rPr>
              <a:t>Q2.  Digital financial inclusion is best measured by:</a:t>
            </a:r>
          </a:p>
          <a:p>
            <a:pPr lvl="1"/>
            <a:r>
              <a:rPr sz="1500" b="1">
                <a:solidFill>
                  <a:srgbClr val="0F6E56"/>
                </a:solidFill>
              </a:rPr>
              <a:t>a) how many own a phone   b) how many have an account   c) ✅ effective USE of affordable formal services   d) number of banks</a:t>
            </a:r>
          </a:p>
          <a:p>
            <a:pPr lvl="1">
              <a:spcBef>
                <a:spcPts val="600"/>
              </a:spcBef>
            </a:pPr>
            <a:r>
              <a:rPr sz="1500" i="1">
                <a:solidFill>
                  <a:srgbClr val="1A1A1A"/>
                </a:solidFill>
              </a:rPr>
              <a:t>     Why: inclusion is about access AND use/benefit — a dormant account is not inclusion.</a:t>
            </a:r>
          </a:p>
          <a:p>
            <a:pPr lvl="1">
              <a:spcBef>
                <a:spcPts val="600"/>
              </a:spcBef>
            </a:pPr>
            <a:r>
              <a:rPr sz="1500" i="1">
                <a:solidFill>
                  <a:srgbClr val="1A1A1A"/>
                </a:solidFill>
              </a:rPr>
              <a:t>Discussion: name one rural inclusion barrier and its concrete solution.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Financial inclusion = affordable formal finance, actually USED, via digital channels — turning cash into records &amp; credit.</a:t>
            </a:r>
          </a:p>
          <a:p>
            <a:pPr>
              <a:spcAft>
                <a:spcPts val="800"/>
              </a:spcAft>
            </a:pPr>
            <a:r>
              <a:rPr sz="1500">
                <a:solidFill>
                  <a:srgbClr val="1A1A1A"/>
                </a:solidFill>
              </a:rPr>
              <a:t>2.  Ecosystem: eSewa/Khalti/IME Pay + bank apps + interoperable NepalPay QR; flow User-&gt;platform-&gt;bank-&gt;receiver.</a:t>
            </a:r>
          </a:p>
          <a:p>
            <a:pPr>
              <a:spcAft>
                <a:spcPts val="800"/>
              </a:spcAft>
            </a:pPr>
            <a:r>
              <a:rPr sz="1500">
                <a:solidFill>
                  <a:srgbClr val="1A1A1A"/>
                </a:solidFill>
              </a:rPr>
              <a:t>3.  Regulated on two fronts: NRB (money — Payment &amp; Settlement Act 2075, switch, KYC) &amp; NTA (connectivity); rural last-mile gap remains.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Nepal's furthest-built digital sector and a template for the rest: clear regulation (NRB/NTA), an interoperable standard (NepalPay QR), and a known list of last-mile fixes. It shows what 'connected' delivery can look like when foundation and rules line up.</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S46 — the honest scorecard: the opportunities and challenges of public-sector digital transformation, and Nepal's data-protection gap.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46 · LECTURE HOUR 5 (OF 7) — THE DATA-PROTECTION GAP ADDED FRESH</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Opportunities &amp; Challenges in the Public Sector</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COVID forced Nepal's offices online almost overnight — and some never went back to paper. E-procurement made bribes harder; ward services went digital. Yet 'the system is online' too often means a PDF nobody can actually submit. This session is an honest scorecard: every win has a matching gap — and one gap, the missing data-protection law, threatens them all.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56 / 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Opportunities — the Honest Scorecard</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Public-sector digitalization brought real wins in Nepal: no-queue 24/7 services, e-procurement that makes bribery harder, a COVID push that moved offices online fast, and ward offices going digital. But an honest analysis pairs each win with its matching gap — services only reach where internet and devices do, e-procurement systems still don't share data, many 'online' services still need a paper visit. The scorecard keeps optimism honest.</a:t>
            </a:r>
          </a:p>
          <a:p>
            <a:pPr>
              <a:spcAft>
                <a:spcPts val="500"/>
              </a:spcAft>
            </a:pPr>
            <a:r>
              <a:rPr sz="1200" b="1">
                <a:solidFill>
                  <a:srgbClr val="185FA5"/>
                </a:solidFill>
              </a:rPr>
              <a:t>HOW IT WORKS</a:t>
            </a:r>
          </a:p>
          <a:p>
            <a:pPr>
              <a:spcAft>
                <a:spcPts val="600"/>
              </a:spcAft>
            </a:pPr>
            <a:r>
              <a:rPr sz="1400">
                <a:solidFill>
                  <a:srgbClr val="1A1A1A"/>
                </a:solidFill>
              </a:rPr>
              <a:t>•  Wins: no queues / 24-7 access; e-procurement curbs bribes; COVID push; ward offices online.</a:t>
            </a:r>
          </a:p>
          <a:p>
            <a:pPr>
              <a:spcAft>
                <a:spcPts val="600"/>
              </a:spcAft>
            </a:pPr>
            <a:r>
              <a:rPr sz="1400">
                <a:solidFill>
                  <a:srgbClr val="1A1A1A"/>
                </a:solidFill>
              </a:rPr>
              <a:t>•  But each win has a matching gap — reach, integration, and 'fake online' undercut them.</a:t>
            </a:r>
          </a:p>
          <a:p>
            <a:pPr>
              <a:spcAft>
                <a:spcPts val="600"/>
              </a:spcAft>
            </a:pPr>
            <a:r>
              <a:rPr sz="1400">
                <a:solidFill>
                  <a:srgbClr val="1A1A1A"/>
                </a:solidFill>
              </a:rPr>
              <a:t>•  Honest scorecard = list the win AND the gap side by side, not just the brochure.</a:t>
            </a:r>
          </a:p>
          <a:p>
            <a:pPr>
              <a:spcAft>
                <a:spcPts val="600"/>
              </a:spcAft>
            </a:pPr>
            <a:r>
              <a:rPr sz="1400">
                <a:solidFill>
                  <a:srgbClr val="1A1A1A"/>
                </a:solidFill>
              </a:rPr>
              <a:t>•  The verdict is 'real progress, unevenly delivered' — not triumph and not failure.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Every digital win has a matching gap — judge the public sector by the honest scorecard.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honest scorecard — each opportunity vs its matching challenge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530645"/>
                <a:gridCol w="5899354"/>
              </a:tblGrid>
              <a:tr h="630936">
                <a:tc>
                  <a:txBody>
                    <a:bodyPr wrap="square"/>
                    <a:lstStyle/>
                    <a:p>
                      <a:r>
                        <a:rPr sz="1150" b="1">
                          <a:solidFill>
                            <a:srgbClr val="FFFFFF"/>
                          </a:solidFill>
                        </a:rPr>
                        <a:t>Opportunity (win)</a:t>
                      </a:r>
                    </a:p>
                  </a:txBody>
                  <a:tcPr anchor="ctr" marL="73152" marR="54864" marT="27432" marB="27432">
                    <a:solidFill>
                      <a:srgbClr val="0C2B4A"/>
                    </a:solidFill>
                  </a:tcPr>
                </a:tc>
                <a:tc>
                  <a:txBody>
                    <a:bodyPr wrap="square"/>
                    <a:lstStyle/>
                    <a:p>
                      <a:r>
                        <a:rPr sz="1150" b="1">
                          <a:solidFill>
                            <a:srgbClr val="FFFFFF"/>
                          </a:solidFill>
                        </a:rPr>
                        <a:t>Matching challenge (gap)</a:t>
                      </a:r>
                    </a:p>
                  </a:txBody>
                  <a:tcPr anchor="ctr" marL="73152" marR="54864" marT="27432" marB="27432">
                    <a:solidFill>
                      <a:srgbClr val="0C2B4A"/>
                    </a:solidFill>
                  </a:tcPr>
                </a:tc>
              </a:tr>
              <a:tr h="630936">
                <a:tc>
                  <a:txBody>
                    <a:bodyPr wrap="square"/>
                    <a:lstStyle/>
                    <a:p>
                      <a:r>
                        <a:rPr sz="1100" b="1">
                          <a:solidFill>
                            <a:srgbClr val="0C2B4A"/>
                          </a:solidFill>
                        </a:rPr>
                        <a:t>No queues, 24/7 self-service</a:t>
                      </a:r>
                    </a:p>
                  </a:txBody>
                  <a:tcPr anchor="ctr" marL="73152" marR="54864" marT="27432" marB="27432">
                    <a:solidFill>
                      <a:srgbClr val="FFFFFF"/>
                    </a:solidFill>
                  </a:tcPr>
                </a:tc>
                <a:tc>
                  <a:txBody>
                    <a:bodyPr wrap="square"/>
                    <a:lstStyle/>
                    <a:p>
                      <a:r>
                        <a:rPr sz="1100">
                          <a:solidFill>
                            <a:srgbClr val="1A1A1A"/>
                          </a:solidFill>
                        </a:rPr>
                        <a:t>Only where internet &amp; devices reach</a:t>
                      </a:r>
                    </a:p>
                  </a:txBody>
                  <a:tcPr anchor="ctr" marL="73152" marR="54864" marT="27432" marB="27432">
                    <a:solidFill>
                      <a:srgbClr val="FFFFFF"/>
                    </a:solidFill>
                  </a:tcPr>
                </a:tc>
              </a:tr>
              <a:tr h="630936">
                <a:tc>
                  <a:txBody>
                    <a:bodyPr wrap="square"/>
                    <a:lstStyle/>
                    <a:p>
                      <a:r>
                        <a:rPr sz="1100" b="1">
                          <a:solidFill>
                            <a:srgbClr val="0C2B4A"/>
                          </a:solidFill>
                        </a:rPr>
                        <a:t>E-procurement makes bribes harder</a:t>
                      </a:r>
                    </a:p>
                  </a:txBody>
                  <a:tcPr anchor="ctr" marL="73152" marR="54864" marT="27432" marB="27432">
                    <a:solidFill>
                      <a:srgbClr val="EEF3F8"/>
                    </a:solidFill>
                  </a:tcPr>
                </a:tc>
                <a:tc>
                  <a:txBody>
                    <a:bodyPr wrap="square"/>
                    <a:lstStyle/>
                    <a:p>
                      <a:r>
                        <a:rPr sz="1100">
                          <a:solidFill>
                            <a:srgbClr val="1A1A1A"/>
                          </a:solidFill>
                        </a:rPr>
                        <a:t>Systems don't share data; loopholes remain</a:t>
                      </a:r>
                    </a:p>
                  </a:txBody>
                  <a:tcPr anchor="ctr" marL="73152" marR="54864" marT="27432" marB="27432">
                    <a:solidFill>
                      <a:srgbClr val="EEF3F8"/>
                    </a:solidFill>
                  </a:tcPr>
                </a:tc>
              </a:tr>
              <a:tr h="630936">
                <a:tc>
                  <a:txBody>
                    <a:bodyPr wrap="square"/>
                    <a:lstStyle/>
                    <a:p>
                      <a:r>
                        <a:rPr sz="1100" b="1">
                          <a:solidFill>
                            <a:srgbClr val="0C2B4A"/>
                          </a:solidFill>
                        </a:rPr>
                        <a:t>COVID pushed offices online fast</a:t>
                      </a:r>
                    </a:p>
                  </a:txBody>
                  <a:tcPr anchor="ctr" marL="73152" marR="54864" marT="27432" marB="27432">
                    <a:solidFill>
                      <a:srgbClr val="FFFFFF"/>
                    </a:solidFill>
                  </a:tcPr>
                </a:tc>
                <a:tc>
                  <a:txBody>
                    <a:bodyPr wrap="square"/>
                    <a:lstStyle/>
                    <a:p>
                      <a:r>
                        <a:rPr sz="1100">
                          <a:solidFill>
                            <a:srgbClr val="1A1A1A"/>
                          </a:solidFill>
                        </a:rPr>
                        <a:t>Many 'online' services still need a paper visit</a:t>
                      </a:r>
                    </a:p>
                  </a:txBody>
                  <a:tcPr anchor="ctr" marL="73152" marR="54864" marT="27432" marB="27432">
                    <a:solidFill>
                      <a:srgbClr val="FFFFFF"/>
                    </a:solidFill>
                  </a:tcPr>
                </a:tc>
              </a:tr>
              <a:tr h="630936">
                <a:tc>
                  <a:txBody>
                    <a:bodyPr wrap="square"/>
                    <a:lstStyle/>
                    <a:p>
                      <a:r>
                        <a:rPr sz="1100" b="1">
                          <a:solidFill>
                            <a:srgbClr val="0C2B4A"/>
                          </a:solidFill>
                        </a:rPr>
                        <a:t>Ward offices digitized</a:t>
                      </a:r>
                    </a:p>
                  </a:txBody>
                  <a:tcPr anchor="ctr" marL="73152" marR="54864" marT="27432" marB="27432">
                    <a:solidFill>
                      <a:srgbClr val="EEF3F8"/>
                    </a:solidFill>
                  </a:tcPr>
                </a:tc>
                <a:tc>
                  <a:txBody>
                    <a:bodyPr wrap="square"/>
                    <a:lstStyle/>
                    <a:p>
                      <a:r>
                        <a:rPr sz="1100">
                          <a:solidFill>
                            <a:srgbClr val="1A1A1A"/>
                          </a:solidFill>
                        </a:rPr>
                        <a:t>Uneven — rural wards lag far behind</a:t>
                      </a:r>
                    </a:p>
                  </a:txBody>
                  <a:tcPr anchor="ctr" marL="73152" marR="54864" marT="27432" marB="27432">
                    <a:solidFill>
                      <a:srgbClr val="EEF3F8"/>
                    </a:solidFill>
                  </a:tcPr>
                </a:tc>
              </a:tr>
              <a:tr h="630936">
                <a:tc>
                  <a:txBody>
                    <a:bodyPr wrap="square"/>
                    <a:lstStyle/>
                    <a:p>
                      <a:r>
                        <a:rPr sz="1100" b="1">
                          <a:solidFill>
                            <a:srgbClr val="0C2B4A"/>
                          </a:solidFill>
                        </a:rPr>
                        <a:t>Faster info &amp; transparency</a:t>
                      </a:r>
                    </a:p>
                  </a:txBody>
                  <a:tcPr anchor="ctr" marL="73152" marR="54864" marT="27432" marB="27432">
                    <a:solidFill>
                      <a:srgbClr val="FFFFFF"/>
                    </a:solidFill>
                  </a:tcPr>
                </a:tc>
                <a:tc>
                  <a:txBody>
                    <a:bodyPr wrap="square"/>
                    <a:lstStyle/>
                    <a:p>
                      <a:r>
                        <a:rPr sz="1100">
                          <a:solidFill>
                            <a:srgbClr val="1A1A1A"/>
                          </a:solidFill>
                        </a:rPr>
                        <a:t>No data-protection law to safeguard that data</a:t>
                      </a:r>
                    </a:p>
                  </a:txBody>
                  <a:tcPr anchor="ctr" marL="73152" marR="54864" marT="27432" marB="27432">
                    <a:solidFill>
                      <a:srgbClr val="FFFFFF"/>
                    </a:solidFill>
                  </a:tcPr>
                </a:tc>
              </a:tr>
              <a:tr h="630936">
                <a:tc>
                  <a:txBody>
                    <a:bodyPr wrap="square"/>
                    <a:lstStyle/>
                    <a:p>
                      <a:r>
                        <a:rPr sz="1100" b="1">
                          <a:solidFill>
                            <a:srgbClr val="0C2B4A"/>
                          </a:solidFill>
                        </a:rPr>
                        <a:t>Cost &amp; time savings</a:t>
                      </a:r>
                    </a:p>
                  </a:txBody>
                  <a:tcPr anchor="ctr" marL="73152" marR="54864" marT="27432" marB="27432">
                    <a:solidFill>
                      <a:srgbClr val="EEF3F8"/>
                    </a:solidFill>
                  </a:tcPr>
                </a:tc>
                <a:tc>
                  <a:txBody>
                    <a:bodyPr wrap="square"/>
                    <a:lstStyle/>
                    <a:p>
                      <a:r>
                        <a:rPr sz="1100">
                          <a:solidFill>
                            <a:srgbClr val="1A1A1A"/>
                          </a:solidFill>
                        </a:rPr>
                        <a:t>Staff resistance + political instability stall projects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side-by-side is the unit's signature method: for every digital-government claim, ask 'and what's the matching gap?'. Optimism and honesty in one table.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Opportunities — Honest Scorecard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e-procurement is a genuine win: publishing and processing tenders online makes the old counter-bribe harder and speeds things up. The matching gap: the procurement system doesn't share data with tax or company registries, so other loopholes stay open, and rural offices with weak internet can't always use it. Real progress, real gap — stated together, which is how a professional assesses digital government.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"Nepal's public sector has either succeeded or failed at going digital." Neither — it is uneven. The honest scorecard pairs each real win (e-procurement, COVID push, ward services) with its real gap (reach, integration, fake-online). Refusing to pick a slogan and listing both is the mature assessment.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Public-sector digitalization in Nepal brought real opportunities: no-queue 24/7 services, e-procurement that makes bribery harder, a COVID-driven push that moved offices online quickly, and ward offices going digital. But an honest assessment pairs each win with its matching gap — services reach only where internet/devices do, systems don't share data, many 'online' services still need a paper visit. The verdict is 'real progress, unevenly delivered'.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no-queue services · e-procurement / anti-corruption · COVID push · ward offices online · honest scorecard · win + gap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Challenges &amp; the Digital Divide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gaps have names. Fake 'online' (a web page that still needs a paper visit), unreliable rural internet, no interoperability (systems don't share data), staff resistance plus political instability (frequent changes of government stall projects — a reported 13+ PMs in 16 years), and low digital literacy. Underlying them all is the digital divide: who is left out — by geography (rural), income, age, gender, disability and language.</a:t>
            </a:r>
          </a:p>
          <a:p>
            <a:pPr>
              <a:spcAft>
                <a:spcPts val="500"/>
              </a:spcAft>
            </a:pPr>
            <a:r>
              <a:rPr sz="1200" b="1">
                <a:solidFill>
                  <a:srgbClr val="185FA5"/>
                </a:solidFill>
              </a:rPr>
              <a:t>HOW IT WORKS</a:t>
            </a:r>
          </a:p>
          <a:p>
            <a:pPr>
              <a:spcAft>
                <a:spcPts val="600"/>
              </a:spcAft>
            </a:pPr>
            <a:r>
              <a:rPr sz="1400">
                <a:solidFill>
                  <a:srgbClr val="1A1A1A"/>
                </a:solidFill>
              </a:rPr>
              <a:t>•  Fake 'online' — a webpage, not a completable service.</a:t>
            </a:r>
          </a:p>
          <a:p>
            <a:pPr>
              <a:spcAft>
                <a:spcPts val="600"/>
              </a:spcAft>
            </a:pPr>
            <a:r>
              <a:rPr sz="1400">
                <a:solidFill>
                  <a:srgbClr val="1A1A1A"/>
                </a:solidFill>
              </a:rPr>
              <a:t>•  Rural internet gap + no interoperability (siloed systems, re-submit everywhere).</a:t>
            </a:r>
          </a:p>
          <a:p>
            <a:pPr>
              <a:spcAft>
                <a:spcPts val="600"/>
              </a:spcAft>
            </a:pPr>
            <a:r>
              <a:rPr sz="1400">
                <a:solidFill>
                  <a:srgbClr val="1A1A1A"/>
                </a:solidFill>
              </a:rPr>
              <a:t>•  Staff resistance + political instability stall long projects (reported 13+ PMs / 16 yrs).</a:t>
            </a:r>
          </a:p>
          <a:p>
            <a:pPr>
              <a:spcAft>
                <a:spcPts val="600"/>
              </a:spcAft>
            </a:pPr>
            <a:r>
              <a:rPr sz="1400">
                <a:solidFill>
                  <a:srgbClr val="1A1A1A"/>
                </a:solidFill>
              </a:rPr>
              <a:t>•  The digital divide: rural, poor, old, women, disabled, and non-dominant-language users left out.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Challenges: fake-online, rural internet, no interoperability, instability — over a digital divide.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 divide — who is left out, and why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84782"/>
                <a:gridCol w="3975652"/>
                <a:gridCol w="4969565"/>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Who is left out</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630936">
                <a:tc>
                  <a:txBody>
                    <a:bodyPr wrap="square"/>
                    <a:lstStyle/>
                    <a:p>
                      <a:r>
                        <a:rPr sz="1050" b="1">
                          <a:solidFill>
                            <a:srgbClr val="0C2B4A"/>
                          </a:solidFill>
                        </a:rPr>
                        <a:t>Geography</a:t>
                      </a:r>
                    </a:p>
                  </a:txBody>
                  <a:tcPr anchor="ctr" marL="73152" marR="54864" marT="27432" marB="27432">
                    <a:solidFill>
                      <a:srgbClr val="FFFFFF"/>
                    </a:solidFill>
                  </a:tcPr>
                </a:tc>
                <a:tc>
                  <a:txBody>
                    <a:bodyPr wrap="square"/>
                    <a:lstStyle/>
                    <a:p>
                      <a:r>
                        <a:rPr sz="1050">
                          <a:solidFill>
                            <a:srgbClr val="1A1A1A"/>
                          </a:solidFill>
                        </a:rPr>
                        <a:t>Rural &amp; remote citizens</a:t>
                      </a:r>
                    </a:p>
                  </a:txBody>
                  <a:tcPr anchor="ctr" marL="73152" marR="54864" marT="27432" marB="27432">
                    <a:solidFill>
                      <a:srgbClr val="FFFFFF"/>
                    </a:solidFill>
                  </a:tcPr>
                </a:tc>
                <a:tc>
                  <a:txBody>
                    <a:bodyPr wrap="square"/>
                    <a:lstStyle/>
                    <a:p>
                      <a:r>
                        <a:rPr sz="1050">
                          <a:solidFill>
                            <a:srgbClr val="1A1A1A"/>
                          </a:solidFill>
                        </a:rPr>
                        <a:t>Sita in Humla: shaky 2G, no service point</a:t>
                      </a:r>
                    </a:p>
                  </a:txBody>
                  <a:tcPr anchor="ctr" marL="73152" marR="54864" marT="27432" marB="27432">
                    <a:solidFill>
                      <a:srgbClr val="FFFFFF"/>
                    </a:solidFill>
                  </a:tcPr>
                </a:tc>
              </a:tr>
              <a:tr h="630936">
                <a:tc>
                  <a:txBody>
                    <a:bodyPr wrap="square"/>
                    <a:lstStyle/>
                    <a:p>
                      <a:r>
                        <a:rPr sz="1050" b="1">
                          <a:solidFill>
                            <a:srgbClr val="0C2B4A"/>
                          </a:solidFill>
                        </a:rPr>
                        <a:t>Income</a:t>
                      </a:r>
                    </a:p>
                  </a:txBody>
                  <a:tcPr anchor="ctr" marL="73152" marR="54864" marT="27432" marB="27432">
                    <a:solidFill>
                      <a:srgbClr val="EEF3F8"/>
                    </a:solidFill>
                  </a:tcPr>
                </a:tc>
                <a:tc>
                  <a:txBody>
                    <a:bodyPr wrap="square"/>
                    <a:lstStyle/>
                    <a:p>
                      <a:r>
                        <a:rPr sz="1050">
                          <a:solidFill>
                            <a:srgbClr val="1A1A1A"/>
                          </a:solidFill>
                        </a:rPr>
                        <a:t>The poor who can't afford a device/data</a:t>
                      </a:r>
                    </a:p>
                  </a:txBody>
                  <a:tcPr anchor="ctr" marL="73152" marR="54864" marT="27432" marB="27432">
                    <a:solidFill>
                      <a:srgbClr val="EEF3F8"/>
                    </a:solidFill>
                  </a:tcPr>
                </a:tc>
                <a:tc>
                  <a:txBody>
                    <a:bodyPr wrap="square"/>
                    <a:lstStyle/>
                    <a:p>
                      <a:r>
                        <a:rPr sz="1050">
                          <a:solidFill>
                            <a:srgbClr val="1A1A1A"/>
                          </a:solidFill>
                        </a:rPr>
                        <a:t>A daily-wage worker with no smartphone</a:t>
                      </a:r>
                    </a:p>
                  </a:txBody>
                  <a:tcPr anchor="ctr" marL="73152" marR="54864" marT="27432" marB="27432">
                    <a:solidFill>
                      <a:srgbClr val="EEF3F8"/>
                    </a:solidFill>
                  </a:tcPr>
                </a:tc>
              </a:tr>
              <a:tr h="630936">
                <a:tc>
                  <a:txBody>
                    <a:bodyPr wrap="square"/>
                    <a:lstStyle/>
                    <a:p>
                      <a:r>
                        <a:rPr sz="1050" b="1">
                          <a:solidFill>
                            <a:srgbClr val="0C2B4A"/>
                          </a:solidFill>
                        </a:rPr>
                        <a:t>Age</a:t>
                      </a:r>
                    </a:p>
                  </a:txBody>
                  <a:tcPr anchor="ctr" marL="73152" marR="54864" marT="27432" marB="27432">
                    <a:solidFill>
                      <a:srgbClr val="FFFFFF"/>
                    </a:solidFill>
                  </a:tcPr>
                </a:tc>
                <a:tc>
                  <a:txBody>
                    <a:bodyPr wrap="square"/>
                    <a:lstStyle/>
                    <a:p>
                      <a:r>
                        <a:rPr sz="1050">
                          <a:solidFill>
                            <a:srgbClr val="1A1A1A"/>
                          </a:solidFill>
                        </a:rPr>
                        <a:t>Older citizens unfamiliar with apps</a:t>
                      </a:r>
                    </a:p>
                  </a:txBody>
                  <a:tcPr anchor="ctr" marL="73152" marR="54864" marT="27432" marB="27432">
                    <a:solidFill>
                      <a:srgbClr val="FFFFFF"/>
                    </a:solidFill>
                  </a:tcPr>
                </a:tc>
                <a:tc>
                  <a:txBody>
                    <a:bodyPr wrap="square"/>
                    <a:lstStyle/>
                    <a:p>
                      <a:r>
                        <a:rPr sz="1050">
                          <a:solidFill>
                            <a:srgbClr val="1A1A1A"/>
                          </a:solidFill>
                        </a:rPr>
                        <a:t>A 70-year-old pensioner facing an app-only form</a:t>
                      </a:r>
                    </a:p>
                  </a:txBody>
                  <a:tcPr anchor="ctr" marL="73152" marR="54864" marT="27432" marB="27432">
                    <a:solidFill>
                      <a:srgbClr val="FFFFFF"/>
                    </a:solidFill>
                  </a:tcPr>
                </a:tc>
              </a:tr>
              <a:tr h="630936">
                <a:tc>
                  <a:txBody>
                    <a:bodyPr wrap="square"/>
                    <a:lstStyle/>
                    <a:p>
                      <a:r>
                        <a:rPr sz="1050" b="1">
                          <a:solidFill>
                            <a:srgbClr val="0C2B4A"/>
                          </a:solidFill>
                        </a:rPr>
                        <a:t>Gender</a:t>
                      </a:r>
                    </a:p>
                  </a:txBody>
                  <a:tcPr anchor="ctr" marL="73152" marR="54864" marT="27432" marB="27432">
                    <a:solidFill>
                      <a:srgbClr val="EEF3F8"/>
                    </a:solidFill>
                  </a:tcPr>
                </a:tc>
                <a:tc>
                  <a:txBody>
                    <a:bodyPr wrap="square"/>
                    <a:lstStyle/>
                    <a:p>
                      <a:r>
                        <a:rPr sz="1050">
                          <a:solidFill>
                            <a:srgbClr val="1A1A1A"/>
                          </a:solidFill>
                        </a:rPr>
                        <a:t>Women with less device access</a:t>
                      </a:r>
                    </a:p>
                  </a:txBody>
                  <a:tcPr anchor="ctr" marL="73152" marR="54864" marT="27432" marB="27432">
                    <a:solidFill>
                      <a:srgbClr val="EEF3F8"/>
                    </a:solidFill>
                  </a:tcPr>
                </a:tc>
                <a:tc>
                  <a:txBody>
                    <a:bodyPr wrap="square"/>
                    <a:lstStyle/>
                    <a:p>
                      <a:r>
                        <a:rPr sz="1050">
                          <a:solidFill>
                            <a:srgbClr val="1A1A1A"/>
                          </a:solidFill>
                        </a:rPr>
                        <a:t>Lower reported wallet use by women</a:t>
                      </a:r>
                    </a:p>
                  </a:txBody>
                  <a:tcPr anchor="ctr" marL="73152" marR="54864" marT="27432" marB="27432">
                    <a:solidFill>
                      <a:srgbClr val="EEF3F8"/>
                    </a:solidFill>
                  </a:tcPr>
                </a:tc>
              </a:tr>
              <a:tr h="630936">
                <a:tc>
                  <a:txBody>
                    <a:bodyPr wrap="square"/>
                    <a:lstStyle/>
                    <a:p>
                      <a:r>
                        <a:rPr sz="1050" b="1">
                          <a:solidFill>
                            <a:srgbClr val="0C2B4A"/>
                          </a:solidFill>
                        </a:rPr>
                        <a:t>Disability</a:t>
                      </a:r>
                    </a:p>
                  </a:txBody>
                  <a:tcPr anchor="ctr" marL="73152" marR="54864" marT="27432" marB="27432">
                    <a:solidFill>
                      <a:srgbClr val="FFFFFF"/>
                    </a:solidFill>
                  </a:tcPr>
                </a:tc>
                <a:tc>
                  <a:txBody>
                    <a:bodyPr wrap="square"/>
                    <a:lstStyle/>
                    <a:p>
                      <a:r>
                        <a:rPr sz="1050">
                          <a:solidFill>
                            <a:srgbClr val="1A1A1A"/>
                          </a:solidFill>
                        </a:rPr>
                        <a:t>Users needing accessible design</a:t>
                      </a:r>
                    </a:p>
                  </a:txBody>
                  <a:tcPr anchor="ctr" marL="73152" marR="54864" marT="27432" marB="27432">
                    <a:solidFill>
                      <a:srgbClr val="FFFFFF"/>
                    </a:solidFill>
                  </a:tcPr>
                </a:tc>
                <a:tc>
                  <a:txBody>
                    <a:bodyPr wrap="square"/>
                    <a:lstStyle/>
                    <a:p>
                      <a:r>
                        <a:rPr sz="1050">
                          <a:solidFill>
                            <a:srgbClr val="1A1A1A"/>
                          </a:solidFill>
                        </a:rPr>
                        <a:t>No screen-reader support on a portal</a:t>
                      </a:r>
                    </a:p>
                  </a:txBody>
                  <a:tcPr anchor="ctr" marL="73152" marR="54864" marT="27432" marB="27432">
                    <a:solidFill>
                      <a:srgbClr val="FFFFFF"/>
                    </a:solidFill>
                  </a:tcPr>
                </a:tc>
              </a:tr>
              <a:tr h="630936">
                <a:tc>
                  <a:txBody>
                    <a:bodyPr wrap="square"/>
                    <a:lstStyle/>
                    <a:p>
                      <a:r>
                        <a:rPr sz="1050" b="1">
                          <a:solidFill>
                            <a:srgbClr val="0C2B4A"/>
                          </a:solidFill>
                        </a:rPr>
                        <a:t>Language / literacy</a:t>
                      </a:r>
                    </a:p>
                  </a:txBody>
                  <a:tcPr anchor="ctr" marL="73152" marR="54864" marT="27432" marB="27432">
                    <a:solidFill>
                      <a:srgbClr val="EEF3F8"/>
                    </a:solidFill>
                  </a:tcPr>
                </a:tc>
                <a:tc>
                  <a:txBody>
                    <a:bodyPr wrap="square"/>
                    <a:lstStyle/>
                    <a:p>
                      <a:r>
                        <a:rPr sz="1050">
                          <a:solidFill>
                            <a:srgbClr val="1A1A1A"/>
                          </a:solidFill>
                        </a:rPr>
                        <a:t>Non-Nepali/English or low-literacy users</a:t>
                      </a:r>
                    </a:p>
                  </a:txBody>
                  <a:tcPr anchor="ctr" marL="73152" marR="54864" marT="27432" marB="27432">
                    <a:solidFill>
                      <a:srgbClr val="EEF3F8"/>
                    </a:solidFill>
                  </a:tcPr>
                </a:tc>
                <a:tc>
                  <a:txBody>
                    <a:bodyPr wrap="square"/>
                    <a:lstStyle/>
                    <a:p>
                      <a:r>
                        <a:rPr sz="1050">
                          <a:solidFill>
                            <a:srgbClr val="1A1A1A"/>
                          </a:solidFill>
                        </a:rPr>
                        <a:t>English-only forms exclude many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divide is not one line but several overlapping ones — a poor, older, rural woman faces four at once. 'Digital-by-default' without addressing these excludes exactly the people e-governance should reach. Usage figures are reported.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Challenges &amp; Digital Divide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pension scheme moved 'online' assumes a smartphone, data, literacy and Nepali/English reading — so a poor, older, rural woman can be excluded on four dimensions at once, even though she is exactly who the scheme is for. Add siloed systems (she re-submits the same documents to each office) and frequent government changes stalling fixes, and the challenges compound. Digital-by-default without inclusion widens the very gap it should close.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"Everyone benefits equally from digital government." The digital divide means the opposite risk: making services digital-only can EXCLUDE the poor, rural, old, women, disabled and low-literacy users — sometimes the intended beneficiaries. Good design keeps an assisted/offline path so 'digital-first' doesn't become 'digital-only, some-excluded'.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Public-sector digitalization faces named challenges: fake 'online' (a webpage that still needs a paper visit), unreliable rural internet, no interoperability (siloed systems force re-submission), staff resistance plus political instability (a reported 13+ PMs in 16 years stalling projects), and low digital literacy. Beneath them is the multi-dimensional digital divide — geography, income, age, gender, disability and language — so digital-by-default can exclude the very people it should serve.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fake online · rural internet · no interoperability · instability · digital divide (geography/income/age/gender/disability/language)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Cybersecurity &amp; Data-Protection Gap</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government collects vast personal data — but Nepal's legal shield is thin. The Individual Privacy Act 2075 (2018) gives a basic privacy right; the Electronic Transactions Act 2063 (2008) covers e-records, e-signatures and cybercrime but is dated; the Constitution recognises privacy. Crucially, Nepal has NO dedicated Data Protection Act setting how agencies must collect, store, share and secure citizen data. This gap threatens every other e-gov win. (Verify current status.)</a:t>
            </a:r>
          </a:p>
          <a:p>
            <a:pPr>
              <a:spcAft>
                <a:spcPts val="500"/>
              </a:spcAft>
            </a:pPr>
            <a:r>
              <a:rPr sz="1200" b="1">
                <a:solidFill>
                  <a:srgbClr val="185FA5"/>
                </a:solidFill>
              </a:rPr>
              <a:t>HOW IT WORKS</a:t>
            </a:r>
          </a:p>
          <a:p>
            <a:pPr>
              <a:spcAft>
                <a:spcPts val="600"/>
              </a:spcAft>
            </a:pPr>
            <a:r>
              <a:rPr sz="1400">
                <a:solidFill>
                  <a:srgbClr val="1A1A1A"/>
                </a:solidFill>
              </a:rPr>
              <a:t>•  Individual Privacy Act 2075 (2018) — a basic privacy right, thin on data handling.</a:t>
            </a:r>
          </a:p>
          <a:p>
            <a:pPr>
              <a:spcAft>
                <a:spcPts val="600"/>
              </a:spcAft>
            </a:pPr>
            <a:r>
              <a:rPr sz="1400">
                <a:solidFill>
                  <a:srgbClr val="1A1A1A"/>
                </a:solidFill>
              </a:rPr>
              <a:t>•  Electronic Transactions Act 2063 (2008) — e-records, e-signature, cybercrime; dated.</a:t>
            </a:r>
          </a:p>
          <a:p>
            <a:pPr>
              <a:spcAft>
                <a:spcPts val="600"/>
              </a:spcAft>
            </a:pPr>
            <a:r>
              <a:rPr sz="1400">
                <a:solidFill>
                  <a:srgbClr val="1A1A1A"/>
                </a:solidFill>
              </a:rPr>
              <a:t>•  The gap: NO dedicated Data Protection Act governing collection/storage/sharing/security.</a:t>
            </a:r>
          </a:p>
          <a:p>
            <a:pPr>
              <a:spcAft>
                <a:spcPts val="600"/>
              </a:spcAft>
            </a:pPr>
            <a:r>
              <a:rPr sz="1400">
                <a:solidFill>
                  <a:srgbClr val="1A1A1A"/>
                </a:solidFill>
              </a:rPr>
              <a:t>•  Consequence: breaches, misuse and low trust undercut adoption of every service above.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Nepal's data shield is thin: Privacy Act 2075 + ETA 2063, but NO Data Protection Act (the gap).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data-protection legal stack — what it covers &amp; the gap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380704"/>
                <a:gridCol w="4024647"/>
                <a:gridCol w="4024647"/>
              </a:tblGrid>
              <a:tr h="736092">
                <a:tc>
                  <a:txBody>
                    <a:bodyPr wrap="square"/>
                    <a:lstStyle/>
                    <a:p>
                      <a:r>
                        <a:rPr sz="1100" b="1">
                          <a:solidFill>
                            <a:srgbClr val="FFFFFF"/>
                          </a:solidFill>
                        </a:rPr>
                        <a:t>Instrument</a:t>
                      </a:r>
                    </a:p>
                  </a:txBody>
                  <a:tcPr anchor="ctr" marL="73152" marR="54864" marT="27432" marB="27432">
                    <a:solidFill>
                      <a:srgbClr val="0C2B4A"/>
                    </a:solidFill>
                  </a:tcPr>
                </a:tc>
                <a:tc>
                  <a:txBody>
                    <a:bodyPr wrap="square"/>
                    <a:lstStyle/>
                    <a:p>
                      <a:r>
                        <a:rPr sz="1100" b="1">
                          <a:solidFill>
                            <a:srgbClr val="FFFFFF"/>
                          </a:solidFill>
                        </a:rPr>
                        <a:t>What it covers</a:t>
                      </a:r>
                    </a:p>
                  </a:txBody>
                  <a:tcPr anchor="ctr" marL="73152" marR="54864" marT="27432" marB="27432">
                    <a:solidFill>
                      <a:srgbClr val="0C2B4A"/>
                    </a:solidFill>
                  </a:tcPr>
                </a:tc>
                <a:tc>
                  <a:txBody>
                    <a:bodyPr wrap="square"/>
                    <a:lstStyle/>
                    <a:p>
                      <a:r>
                        <a:rPr sz="1100" b="1">
                          <a:solidFill>
                            <a:srgbClr val="FFFFFF"/>
                          </a:solidFill>
                        </a:rPr>
                        <a:t>Gap / limitation</a:t>
                      </a:r>
                    </a:p>
                  </a:txBody>
                  <a:tcPr anchor="ctr" marL="73152" marR="54864" marT="27432" marB="27432">
                    <a:solidFill>
                      <a:srgbClr val="0C2B4A"/>
                    </a:solidFill>
                  </a:tcPr>
                </a:tc>
              </a:tr>
              <a:tr h="736092">
                <a:tc>
                  <a:txBody>
                    <a:bodyPr wrap="square"/>
                    <a:lstStyle/>
                    <a:p>
                      <a:r>
                        <a:rPr sz="1050" b="1">
                          <a:solidFill>
                            <a:srgbClr val="0C2B4A"/>
                          </a:solidFill>
                        </a:rPr>
                        <a:t>Constitution (Art. 28)</a:t>
                      </a:r>
                    </a:p>
                  </a:txBody>
                  <a:tcPr anchor="ctr" marL="73152" marR="54864" marT="27432" marB="27432">
                    <a:solidFill>
                      <a:srgbClr val="FFFFFF"/>
                    </a:solidFill>
                  </a:tcPr>
                </a:tc>
                <a:tc>
                  <a:txBody>
                    <a:bodyPr wrap="square"/>
                    <a:lstStyle/>
                    <a:p>
                      <a:r>
                        <a:rPr sz="1050">
                          <a:solidFill>
                            <a:srgbClr val="1A1A1A"/>
                          </a:solidFill>
                        </a:rPr>
                        <a:t>Recognises a right to privacy</a:t>
                      </a:r>
                    </a:p>
                  </a:txBody>
                  <a:tcPr anchor="ctr" marL="73152" marR="54864" marT="27432" marB="27432">
                    <a:solidFill>
                      <a:srgbClr val="FFFFFF"/>
                    </a:solidFill>
                  </a:tcPr>
                </a:tc>
                <a:tc>
                  <a:txBody>
                    <a:bodyPr wrap="square"/>
                    <a:lstStyle/>
                    <a:p>
                      <a:r>
                        <a:rPr sz="1050">
                          <a:solidFill>
                            <a:srgbClr val="1A1A1A"/>
                          </a:solidFill>
                        </a:rPr>
                        <a:t>A principle, not operational data rules</a:t>
                      </a:r>
                    </a:p>
                  </a:txBody>
                  <a:tcPr anchor="ctr" marL="73152" marR="54864" marT="27432" marB="27432">
                    <a:solidFill>
                      <a:srgbClr val="FFFFFF"/>
                    </a:solidFill>
                  </a:tcPr>
                </a:tc>
              </a:tr>
              <a:tr h="736092">
                <a:tc>
                  <a:txBody>
                    <a:bodyPr wrap="square"/>
                    <a:lstStyle/>
                    <a:p>
                      <a:r>
                        <a:rPr sz="1050" b="1">
                          <a:solidFill>
                            <a:srgbClr val="0C2B4A"/>
                          </a:solidFill>
                        </a:rPr>
                        <a:t>Individual Privacy Act 2075 (2018)</a:t>
                      </a:r>
                    </a:p>
                  </a:txBody>
                  <a:tcPr anchor="ctr" marL="73152" marR="54864" marT="27432" marB="27432">
                    <a:solidFill>
                      <a:srgbClr val="EEF3F8"/>
                    </a:solidFill>
                  </a:tcPr>
                </a:tc>
                <a:tc>
                  <a:txBody>
                    <a:bodyPr wrap="square"/>
                    <a:lstStyle/>
                    <a:p>
                      <a:r>
                        <a:rPr sz="1050">
                          <a:solidFill>
                            <a:srgbClr val="1A1A1A"/>
                          </a:solidFill>
                        </a:rPr>
                        <a:t>Basic personal-privacy right</a:t>
                      </a:r>
                    </a:p>
                  </a:txBody>
                  <a:tcPr anchor="ctr" marL="73152" marR="54864" marT="27432" marB="27432">
                    <a:solidFill>
                      <a:srgbClr val="EEF3F8"/>
                    </a:solidFill>
                  </a:tcPr>
                </a:tc>
                <a:tc>
                  <a:txBody>
                    <a:bodyPr wrap="square"/>
                    <a:lstStyle/>
                    <a:p>
                      <a:r>
                        <a:rPr sz="1050">
                          <a:solidFill>
                            <a:srgbClr val="1A1A1A"/>
                          </a:solidFill>
                        </a:rPr>
                        <a:t>Thin on how agencies must handle data</a:t>
                      </a:r>
                    </a:p>
                  </a:txBody>
                  <a:tcPr anchor="ctr" marL="73152" marR="54864" marT="27432" marB="27432">
                    <a:solidFill>
                      <a:srgbClr val="EEF3F8"/>
                    </a:solidFill>
                  </a:tcPr>
                </a:tc>
              </a:tr>
              <a:tr h="736092">
                <a:tc>
                  <a:txBody>
                    <a:bodyPr wrap="square"/>
                    <a:lstStyle/>
                    <a:p>
                      <a:r>
                        <a:rPr sz="1050" b="1">
                          <a:solidFill>
                            <a:srgbClr val="0C2B4A"/>
                          </a:solidFill>
                        </a:rPr>
                        <a:t>Electronic Transactions Act 2063 (2008)</a:t>
                      </a:r>
                    </a:p>
                  </a:txBody>
                  <a:tcPr anchor="ctr" marL="73152" marR="54864" marT="27432" marB="27432">
                    <a:solidFill>
                      <a:srgbClr val="FFFFFF"/>
                    </a:solidFill>
                  </a:tcPr>
                </a:tc>
                <a:tc>
                  <a:txBody>
                    <a:bodyPr wrap="square"/>
                    <a:lstStyle/>
                    <a:p>
                      <a:r>
                        <a:rPr sz="1050">
                          <a:solidFill>
                            <a:srgbClr val="1A1A1A"/>
                          </a:solidFill>
                        </a:rPr>
                        <a:t>E-records, e-signature, cybercrime</a:t>
                      </a:r>
                    </a:p>
                  </a:txBody>
                  <a:tcPr anchor="ctr" marL="73152" marR="54864" marT="27432" marB="27432">
                    <a:solidFill>
                      <a:srgbClr val="FFFFFF"/>
                    </a:solidFill>
                  </a:tcPr>
                </a:tc>
                <a:tc>
                  <a:txBody>
                    <a:bodyPr wrap="square"/>
                    <a:lstStyle/>
                    <a:p>
                      <a:r>
                        <a:rPr sz="1050">
                          <a:solidFill>
                            <a:srgbClr val="1A1A1A"/>
                          </a:solidFill>
                        </a:rPr>
                        <a:t>Dated; not a modern data-protection law</a:t>
                      </a:r>
                    </a:p>
                  </a:txBody>
                  <a:tcPr anchor="ctr" marL="73152" marR="54864" marT="27432" marB="27432">
                    <a:solidFill>
                      <a:srgbClr val="FFFFFF"/>
                    </a:solidFill>
                  </a:tcPr>
                </a:tc>
              </a:tr>
              <a:tr h="736092">
                <a:tc>
                  <a:txBody>
                    <a:bodyPr wrap="square"/>
                    <a:lstStyle/>
                    <a:p>
                      <a:r>
                        <a:rPr sz="1050" b="1">
                          <a:solidFill>
                            <a:srgbClr val="0C2B4A"/>
                          </a:solidFill>
                        </a:rPr>
                        <a:t>Sectoral rules (e.g. NRB directives)</a:t>
                      </a:r>
                    </a:p>
                  </a:txBody>
                  <a:tcPr anchor="ctr" marL="73152" marR="54864" marT="27432" marB="27432">
                    <a:solidFill>
                      <a:srgbClr val="EEF3F8"/>
                    </a:solidFill>
                  </a:tcPr>
                </a:tc>
                <a:tc>
                  <a:txBody>
                    <a:bodyPr wrap="square"/>
                    <a:lstStyle/>
                    <a:p>
                      <a:r>
                        <a:rPr sz="1050">
                          <a:solidFill>
                            <a:srgbClr val="1A1A1A"/>
                          </a:solidFill>
                        </a:rPr>
                        <a:t>Data rules within one sector (finance)</a:t>
                      </a:r>
                    </a:p>
                  </a:txBody>
                  <a:tcPr anchor="ctr" marL="73152" marR="54864" marT="27432" marB="27432">
                    <a:solidFill>
                      <a:srgbClr val="EEF3F8"/>
                    </a:solidFill>
                  </a:tcPr>
                </a:tc>
                <a:tc>
                  <a:txBody>
                    <a:bodyPr wrap="square"/>
                    <a:lstStyle/>
                    <a:p>
                      <a:r>
                        <a:rPr sz="1050">
                          <a:solidFill>
                            <a:srgbClr val="1A1A1A"/>
                          </a:solidFill>
                        </a:rPr>
                        <a:t>Patchy; no economy-wide standard</a:t>
                      </a:r>
                    </a:p>
                  </a:txBody>
                  <a:tcPr anchor="ctr" marL="73152" marR="54864" marT="27432" marB="27432">
                    <a:solidFill>
                      <a:srgbClr val="EEF3F8"/>
                    </a:solidFill>
                  </a:tcPr>
                </a:tc>
              </a:tr>
              <a:tr h="736092">
                <a:tc>
                  <a:txBody>
                    <a:bodyPr wrap="square"/>
                    <a:lstStyle/>
                    <a:p>
                      <a:r>
                        <a:rPr sz="1050" b="1">
                          <a:solidFill>
                            <a:srgbClr val="0C2B4A"/>
                          </a:solidFill>
                        </a:rPr>
                        <a:t>Dedicated Data Protection Act</a:t>
                      </a:r>
                    </a:p>
                  </a:txBody>
                  <a:tcPr anchor="ctr" marL="73152" marR="54864" marT="27432" marB="27432">
                    <a:solidFill>
                      <a:srgbClr val="FFFFFF"/>
                    </a:solidFill>
                  </a:tcPr>
                </a:tc>
                <a:tc>
                  <a:txBody>
                    <a:bodyPr wrap="square"/>
                    <a:lstStyle/>
                    <a:p>
                      <a:r>
                        <a:rPr sz="1050">
                          <a:solidFill>
                            <a:srgbClr val="1A1A1A"/>
                          </a:solidFill>
                        </a:rPr>
                        <a:t>— (does not yet exist)</a:t>
                      </a:r>
                    </a:p>
                  </a:txBody>
                  <a:tcPr anchor="ctr" marL="73152" marR="54864" marT="27432" marB="27432">
                    <a:solidFill>
                      <a:srgbClr val="FFFFFF"/>
                    </a:solidFill>
                  </a:tcPr>
                </a:tc>
                <a:tc>
                  <a:txBody>
                    <a:bodyPr wrap="square"/>
                    <a:lstStyle/>
                    <a:p>
                      <a:r>
                        <a:rPr sz="1050">
                          <a:solidFill>
                            <a:srgbClr val="1A1A1A"/>
                          </a:solidFill>
                        </a:rPr>
                        <a:t>THE GAP: no unified collection/sharing/security law</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Names and dates are taught from general knowledge — verify current Nepal law. The pattern: several partial instruments, but no single modern Data Protection Act, so citizen data lacks economy-wide safeguards.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Data-Protection Gap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As Nagarik App, health records and tax data go digital, the state holds a citizen's whole life in databases — yet no dedicated Data Protection Act says how that data must be secured, who may share it, or what happens after a breach. So a leak has weak legal remedy, and cautious citizens hesitate to adopt. This single gap quietly undercuts every win on the scorecard: trust is the foundation digital government stands 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a service is online and encrypted, citizen data is protected." Encryption is a control, not a law. Without a dedicated Data Protection Act governing collection, sharing, retention and breach response, there is no economy-wide legal safeguard — the Privacy Act 2075 and ETA 2063 are thin and dated. Nepal's gap is legal, not just technical. (Verify status.)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government collects vast personal data, but Nepal's legal shield is thin: the Individual Privacy Act 2075 (2018) gives a basic privacy right, the Electronic Transactions Act 2063 (2008) covers e-records/e-signature/cybercrime but is dated, and the Constitution recognises privacy — yet there is NO dedicated Data Protection Act governing how agencies collect, store, share and secure citizen data. This gap enables breaches and misuse, erodes trust, and undercuts adoption of every e-gov service. (Verify current status.)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Privacy Act 2075 · Electronic Transactions Act 2063 · NO dedicated Data Protection Act · the gap · trust · verify status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S46 — 'Win, gap, fix'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one public-sector digital win (e-procurement, COVID push, ward services).</a:t>
            </a:r>
          </a:p>
          <a:p>
            <a:pPr>
              <a:spcAft>
                <a:spcPts val="700"/>
              </a:spcAft>
            </a:pPr>
            <a:r>
              <a:rPr sz="1550">
                <a:solidFill>
                  <a:srgbClr val="1A1A1A"/>
                </a:solidFill>
              </a:rPr>
              <a:t>•  State its matching gap, and say who on the digital divide it risks excluding.</a:t>
            </a:r>
          </a:p>
          <a:p>
            <a:pPr>
              <a:spcAft>
                <a:spcPts val="700"/>
              </a:spcAft>
            </a:pPr>
            <a:r>
              <a:rPr sz="1550">
                <a:solidFill>
                  <a:srgbClr val="1A1A1A"/>
                </a:solidFill>
              </a:rPr>
              <a:t>•  Propose one fix — and say whether the data-protection gap affects it.</a:t>
            </a:r>
          </a:p>
          <a:p>
            <a:pPr>
              <a:spcAft>
                <a:spcPts val="700"/>
              </a:spcAft>
            </a:pPr>
            <a:r>
              <a:rPr sz="1550">
                <a:solidFill>
                  <a:srgbClr val="1A1A1A"/>
                </a:solidFill>
              </a:rPr>
              <a:t>•  Take 3–4 answers aloud (2 min); insist every win is paired with its gap.</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Model: e-procurement (win: harder bribes) / gap (no data sharing) / excludes rural offices / fix: interoperability + a Data Protection Act for the data it exposes. Reward win-gap-fix discipline and naming the divide dimension.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Nepal's biggest legal gap for protecting citizens' digital data is:</a:t>
            </a:r>
          </a:p>
          <a:p>
            <a:pPr lvl="1"/>
            <a:r>
              <a:rPr sz="1500" b="1">
                <a:solidFill>
                  <a:srgbClr val="0F6E56"/>
                </a:solidFill>
              </a:rPr>
              <a:t>a) too many privacy laws   b) no internet   c) ✅ no dedicated Data Protection Act   d) no computers</a:t>
            </a:r>
          </a:p>
          <a:p>
            <a:pPr lvl="1">
              <a:spcBef>
                <a:spcPts val="600"/>
              </a:spcBef>
            </a:pPr>
            <a:r>
              <a:rPr sz="1500" i="1">
                <a:solidFill>
                  <a:srgbClr val="1A1A1A"/>
                </a:solidFill>
              </a:rPr>
              <a:t>     Why: Privacy Act 2075 &amp; ETA 2063 exist but are thin/dated; there is no unified modern data-protection law. (Verify status.)</a:t>
            </a:r>
          </a:p>
          <a:p>
            <a:pPr>
              <a:spcBef>
                <a:spcPts val="900"/>
              </a:spcBef>
            </a:pPr>
            <a:r>
              <a:rPr sz="1700" b="1">
                <a:solidFill>
                  <a:srgbClr val="0C2B4A"/>
                </a:solidFill>
              </a:rPr>
              <a:t>Q2.  Making a service 'digital-only' can widen the:</a:t>
            </a:r>
          </a:p>
          <a:p>
            <a:pPr lvl="1"/>
            <a:r>
              <a:rPr sz="1500" b="1">
                <a:solidFill>
                  <a:srgbClr val="0F6E56"/>
                </a:solidFill>
              </a:rPr>
              <a:t>a) budget   b) ✅ digital divide (excludes rural/poor/old/etc.)   c) internet speed   d) tax base</a:t>
            </a:r>
          </a:p>
          <a:p>
            <a:pPr lvl="1">
              <a:spcBef>
                <a:spcPts val="600"/>
              </a:spcBef>
            </a:pPr>
            <a:r>
              <a:rPr sz="1500" i="1">
                <a:solidFill>
                  <a:srgbClr val="1A1A1A"/>
                </a:solidFill>
              </a:rPr>
              <a:t>     Why: without an assisted/offline path, digital-only excludes those on the wrong side of the divide.</a:t>
            </a:r>
          </a:p>
          <a:p>
            <a:pPr lvl="1">
              <a:spcBef>
                <a:spcPts val="600"/>
              </a:spcBef>
            </a:pPr>
            <a:r>
              <a:rPr sz="1500" i="1">
                <a:solidFill>
                  <a:srgbClr val="1A1A1A"/>
                </a:solidFill>
              </a:rPr>
              <a:t>Discussion: pick a digital win and state its matching gap and one fix.</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Honest scorecard: every public-sector digital win (e-procurement, COVID push, ward services) has a matching gap.</a:t>
            </a:r>
          </a:p>
          <a:p>
            <a:pPr>
              <a:spcAft>
                <a:spcPts val="800"/>
              </a:spcAft>
            </a:pPr>
            <a:r>
              <a:rPr sz="1500">
                <a:solidFill>
                  <a:srgbClr val="1A1A1A"/>
                </a:solidFill>
              </a:rPr>
              <a:t>2.  The digital divide is multi-dimensional (geography, income, age, gender, disability, language) — digital-only can exclude.</a:t>
            </a:r>
          </a:p>
          <a:p>
            <a:pPr>
              <a:spcAft>
                <a:spcPts val="800"/>
              </a:spcAft>
            </a:pPr>
            <a:r>
              <a:rPr sz="1500">
                <a:solidFill>
                  <a:srgbClr val="1A1A1A"/>
                </a:solidFill>
              </a:rPr>
              <a:t>3.  The data-protection gap: Privacy Act 2075 + ETA 2063 exist, but NO dedicated Data Protection Act — it threatens every win.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how to assess ANY digital-government claim: pair the win with its gap, ask who's excluded, and check the legal foundation. The missing Data Protection Act is the quiet risk under all of Nepal's e-gov progress.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S47 — from the state to the economy: how digital transformation is reshaping Nepal's trade and tourism (and the LDC-2026 clock).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47 · LECTURE HOUR 6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Economic Performance: Trade &amp; Tourism</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pashmina weaver in Bhaktapur sells to a buyer in Berlin through Instagram; a trekking guide fills his season from Booking.com reviews, not a Thamel middleman; you scan a QR to enter Pashupatinath. Digital trade and tourism are rewriting who captures the value — and Nepal's LDC graduation in 2026 makes getting this right urgent.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69 / 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Trade, E-Commerce &amp; the LDC-2026 Clock</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transformation lets Nepali sellers reach buyers directly. E-commerce (Daraz, HamroBazaar, SastoDeal) and social commerce cut out layers of middlemen; digital payments and UPI-Nepal (cross-border with India, reported from 2024) settle trade instantly. This matters now because Nepal is reported to graduate from Least-Developed-Country status around 2026, losing some trade preferences — so competing on efficient, digital trade becomes urgent, not optional.</a:t>
            </a:r>
          </a:p>
          <a:p>
            <a:pPr>
              <a:spcAft>
                <a:spcPts val="500"/>
              </a:spcAft>
            </a:pPr>
            <a:r>
              <a:rPr sz="1200" b="1">
                <a:solidFill>
                  <a:srgbClr val="185FA5"/>
                </a:solidFill>
              </a:rPr>
              <a:t>HOW IT WORKS</a:t>
            </a:r>
          </a:p>
          <a:p>
            <a:pPr>
              <a:spcAft>
                <a:spcPts val="600"/>
              </a:spcAft>
            </a:pPr>
            <a:r>
              <a:rPr sz="1400">
                <a:solidFill>
                  <a:srgbClr val="1A1A1A"/>
                </a:solidFill>
              </a:rPr>
              <a:t>•  E-commerce + social commerce: producers reach buyers directly, fewer middlemen.</a:t>
            </a:r>
          </a:p>
          <a:p>
            <a:pPr>
              <a:spcAft>
                <a:spcPts val="600"/>
              </a:spcAft>
            </a:pPr>
            <a:r>
              <a:rPr sz="1400">
                <a:solidFill>
                  <a:srgbClr val="1A1A1A"/>
                </a:solidFill>
              </a:rPr>
              <a:t>•  Digital payments &amp; UPI-Nepal (cross-border, reported 2024) settle trade fast.</a:t>
            </a:r>
          </a:p>
          <a:p>
            <a:pPr>
              <a:spcAft>
                <a:spcPts val="600"/>
              </a:spcAft>
            </a:pPr>
            <a:r>
              <a:rPr sz="1400">
                <a:solidFill>
                  <a:srgbClr val="1A1A1A"/>
                </a:solidFill>
              </a:rPr>
              <a:t>•  LDC graduation ~2026 (reported) -&gt; loss of some trade preferences -&gt; digital-trade urgency.</a:t>
            </a:r>
          </a:p>
          <a:p>
            <a:pPr>
              <a:spcAft>
                <a:spcPts val="600"/>
              </a:spcAft>
            </a:pPr>
            <a:r>
              <a:rPr sz="1400">
                <a:solidFill>
                  <a:srgbClr val="1A1A1A"/>
                </a:solidFill>
              </a:rPr>
              <a:t>•  The win is reach &amp; margin; the gap is cash-only and logistics beyond the cities.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trade cuts middlemen &amp; speeds payment; LDC-2026 makes efficient digital trade urgent.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trade in Nepal — the win vs the gap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84782"/>
                <a:gridCol w="4638260"/>
                <a:gridCol w="4306956"/>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Digital win</a:t>
                      </a:r>
                    </a:p>
                  </a:txBody>
                  <a:tcPr anchor="ctr" marL="73152" marR="54864" marT="27432" marB="27432">
                    <a:solidFill>
                      <a:srgbClr val="0C2B4A"/>
                    </a:solidFill>
                  </a:tcPr>
                </a:tc>
                <a:tc>
                  <a:txBody>
                    <a:bodyPr wrap="square"/>
                    <a:lstStyle/>
                    <a:p>
                      <a:r>
                        <a:rPr sz="1100" b="1">
                          <a:solidFill>
                            <a:srgbClr val="FFFFFF"/>
                          </a:solidFill>
                        </a:rPr>
                        <a:t>The gap</a:t>
                      </a:r>
                    </a:p>
                  </a:txBody>
                  <a:tcPr anchor="ctr" marL="73152" marR="54864" marT="27432" marB="27432">
                    <a:solidFill>
                      <a:srgbClr val="0C2B4A"/>
                    </a:solidFill>
                  </a:tcPr>
                </a:tc>
              </a:tr>
              <a:tr h="630936">
                <a:tc>
                  <a:txBody>
                    <a:bodyPr wrap="square"/>
                    <a:lstStyle/>
                    <a:p>
                      <a:r>
                        <a:rPr sz="1050" b="1">
                          <a:solidFill>
                            <a:srgbClr val="0C2B4A"/>
                          </a:solidFill>
                        </a:rPr>
                        <a:t>Reach</a:t>
                      </a:r>
                    </a:p>
                  </a:txBody>
                  <a:tcPr anchor="ctr" marL="73152" marR="54864" marT="27432" marB="27432">
                    <a:solidFill>
                      <a:srgbClr val="FFFFFF"/>
                    </a:solidFill>
                  </a:tcPr>
                </a:tc>
                <a:tc>
                  <a:txBody>
                    <a:bodyPr wrap="square"/>
                    <a:lstStyle/>
                    <a:p>
                      <a:r>
                        <a:rPr sz="1050">
                          <a:solidFill>
                            <a:srgbClr val="1A1A1A"/>
                          </a:solidFill>
                        </a:rPr>
                        <a:t>Sell nationwide/abroad online</a:t>
                      </a:r>
                    </a:p>
                  </a:txBody>
                  <a:tcPr anchor="ctr" marL="73152" marR="54864" marT="27432" marB="27432">
                    <a:solidFill>
                      <a:srgbClr val="FFFFFF"/>
                    </a:solidFill>
                  </a:tcPr>
                </a:tc>
                <a:tc>
                  <a:txBody>
                    <a:bodyPr wrap="square"/>
                    <a:lstStyle/>
                    <a:p>
                      <a:r>
                        <a:rPr sz="1050">
                          <a:solidFill>
                            <a:srgbClr val="1A1A1A"/>
                          </a:solidFill>
                        </a:rPr>
                        <a:t>Rural sellers lack reliable internet</a:t>
                      </a:r>
                    </a:p>
                  </a:txBody>
                  <a:tcPr anchor="ctr" marL="73152" marR="54864" marT="27432" marB="27432">
                    <a:solidFill>
                      <a:srgbClr val="FFFFFF"/>
                    </a:solidFill>
                  </a:tcPr>
                </a:tc>
              </a:tr>
              <a:tr h="630936">
                <a:tc>
                  <a:txBody>
                    <a:bodyPr wrap="square"/>
                    <a:lstStyle/>
                    <a:p>
                      <a:r>
                        <a:rPr sz="1050" b="1">
                          <a:solidFill>
                            <a:srgbClr val="0C2B4A"/>
                          </a:solidFill>
                        </a:rPr>
                        <a:t>Middlemen</a:t>
                      </a:r>
                    </a:p>
                  </a:txBody>
                  <a:tcPr anchor="ctr" marL="73152" marR="54864" marT="27432" marB="27432">
                    <a:solidFill>
                      <a:srgbClr val="EEF3F8"/>
                    </a:solidFill>
                  </a:tcPr>
                </a:tc>
                <a:tc>
                  <a:txBody>
                    <a:bodyPr wrap="square"/>
                    <a:lstStyle/>
                    <a:p>
                      <a:r>
                        <a:rPr sz="1050">
                          <a:solidFill>
                            <a:srgbClr val="1A1A1A"/>
                          </a:solidFill>
                        </a:rPr>
                        <a:t>Producer-to-buyer, better margins</a:t>
                      </a:r>
                    </a:p>
                  </a:txBody>
                  <a:tcPr anchor="ctr" marL="73152" marR="54864" marT="27432" marB="27432">
                    <a:solidFill>
                      <a:srgbClr val="EEF3F8"/>
                    </a:solidFill>
                  </a:tcPr>
                </a:tc>
                <a:tc>
                  <a:txBody>
                    <a:bodyPr wrap="square"/>
                    <a:lstStyle/>
                    <a:p>
                      <a:r>
                        <a:rPr sz="1050">
                          <a:solidFill>
                            <a:srgbClr val="1A1A1A"/>
                          </a:solidFill>
                        </a:rPr>
                        <a:t>Trust &amp; returns still favour big platforms</a:t>
                      </a:r>
                    </a:p>
                  </a:txBody>
                  <a:tcPr anchor="ctr" marL="73152" marR="54864" marT="27432" marB="27432">
                    <a:solidFill>
                      <a:srgbClr val="EEF3F8"/>
                    </a:solidFill>
                  </a:tcPr>
                </a:tc>
              </a:tr>
              <a:tr h="630936">
                <a:tc>
                  <a:txBody>
                    <a:bodyPr wrap="square"/>
                    <a:lstStyle/>
                    <a:p>
                      <a:r>
                        <a:rPr sz="1050" b="1">
                          <a:solidFill>
                            <a:srgbClr val="0C2B4A"/>
                          </a:solidFill>
                        </a:rPr>
                        <a:t>Payments</a:t>
                      </a:r>
                    </a:p>
                  </a:txBody>
                  <a:tcPr anchor="ctr" marL="73152" marR="54864" marT="27432" marB="27432">
                    <a:solidFill>
                      <a:srgbClr val="FFFFFF"/>
                    </a:solidFill>
                  </a:tcPr>
                </a:tc>
                <a:tc>
                  <a:txBody>
                    <a:bodyPr wrap="square"/>
                    <a:lstStyle/>
                    <a:p>
                      <a:r>
                        <a:rPr sz="1050">
                          <a:solidFill>
                            <a:srgbClr val="1A1A1A"/>
                          </a:solidFill>
                        </a:rPr>
                        <a:t>Instant digital / UPI-Nepal settlement</a:t>
                      </a:r>
                    </a:p>
                  </a:txBody>
                  <a:tcPr anchor="ctr" marL="73152" marR="54864" marT="27432" marB="27432">
                    <a:solidFill>
                      <a:srgbClr val="FFFFFF"/>
                    </a:solidFill>
                  </a:tcPr>
                </a:tc>
                <a:tc>
                  <a:txBody>
                    <a:bodyPr wrap="square"/>
                    <a:lstStyle/>
                    <a:p>
                      <a:r>
                        <a:rPr sz="1050">
                          <a:solidFill>
                            <a:srgbClr val="1A1A1A"/>
                          </a:solidFill>
                        </a:rPr>
                        <a:t>Cash-on-delivery still dominates outside cities</a:t>
                      </a:r>
                    </a:p>
                  </a:txBody>
                  <a:tcPr anchor="ctr" marL="73152" marR="54864" marT="27432" marB="27432">
                    <a:solidFill>
                      <a:srgbClr val="FFFFFF"/>
                    </a:solidFill>
                  </a:tcPr>
                </a:tc>
              </a:tr>
              <a:tr h="630936">
                <a:tc>
                  <a:txBody>
                    <a:bodyPr wrap="square"/>
                    <a:lstStyle/>
                    <a:p>
                      <a:r>
                        <a:rPr sz="1050" b="1">
                          <a:solidFill>
                            <a:srgbClr val="0C2B4A"/>
                          </a:solidFill>
                        </a:rPr>
                        <a:t>Logistics</a:t>
                      </a:r>
                    </a:p>
                  </a:txBody>
                  <a:tcPr anchor="ctr" marL="73152" marR="54864" marT="27432" marB="27432">
                    <a:solidFill>
                      <a:srgbClr val="EEF3F8"/>
                    </a:solidFill>
                  </a:tcPr>
                </a:tc>
                <a:tc>
                  <a:txBody>
                    <a:bodyPr wrap="square"/>
                    <a:lstStyle/>
                    <a:p>
                      <a:r>
                        <a:rPr sz="1050">
                          <a:solidFill>
                            <a:srgbClr val="1A1A1A"/>
                          </a:solidFill>
                        </a:rPr>
                        <a:t>Courier &amp; tracking in cities</a:t>
                      </a:r>
                    </a:p>
                  </a:txBody>
                  <a:tcPr anchor="ctr" marL="73152" marR="54864" marT="27432" marB="27432">
                    <a:solidFill>
                      <a:srgbClr val="EEF3F8"/>
                    </a:solidFill>
                  </a:tcPr>
                </a:tc>
                <a:tc>
                  <a:txBody>
                    <a:bodyPr wrap="square"/>
                    <a:lstStyle/>
                    <a:p>
                      <a:r>
                        <a:rPr sz="1050">
                          <a:solidFill>
                            <a:srgbClr val="1A1A1A"/>
                          </a:solidFill>
                        </a:rPr>
                        <a:t>Weak last-mile delivery to remote areas</a:t>
                      </a:r>
                    </a:p>
                  </a:txBody>
                  <a:tcPr anchor="ctr" marL="73152" marR="54864" marT="27432" marB="27432">
                    <a:solidFill>
                      <a:srgbClr val="EEF3F8"/>
                    </a:solidFill>
                  </a:tcPr>
                </a:tc>
              </a:tr>
              <a:tr h="630936">
                <a:tc>
                  <a:txBody>
                    <a:bodyPr wrap="square"/>
                    <a:lstStyle/>
                    <a:p>
                      <a:r>
                        <a:rPr sz="1050" b="1">
                          <a:solidFill>
                            <a:srgbClr val="0C2B4A"/>
                          </a:solidFill>
                        </a:rPr>
                        <a:t>Competitiveness</a:t>
                      </a:r>
                    </a:p>
                  </a:txBody>
                  <a:tcPr anchor="ctr" marL="73152" marR="54864" marT="27432" marB="27432">
                    <a:solidFill>
                      <a:srgbClr val="FFFFFF"/>
                    </a:solidFill>
                  </a:tcPr>
                </a:tc>
                <a:tc>
                  <a:txBody>
                    <a:bodyPr wrap="square"/>
                    <a:lstStyle/>
                    <a:p>
                      <a:r>
                        <a:rPr sz="1050">
                          <a:solidFill>
                            <a:srgbClr val="1A1A1A"/>
                          </a:solidFill>
                        </a:rPr>
                        <a:t>Efficient trade ahead of LDC-2026</a:t>
                      </a:r>
                    </a:p>
                  </a:txBody>
                  <a:tcPr anchor="ctr" marL="73152" marR="54864" marT="27432" marB="27432">
                    <a:solidFill>
                      <a:srgbClr val="FFFFFF"/>
                    </a:solidFill>
                  </a:tcPr>
                </a:tc>
                <a:tc>
                  <a:txBody>
                    <a:bodyPr wrap="square"/>
                    <a:lstStyle/>
                    <a:p>
                      <a:r>
                        <a:rPr sz="1050">
                          <a:solidFill>
                            <a:srgbClr val="1A1A1A"/>
                          </a:solidFill>
                        </a:rPr>
                        <a:t>Preference loss hits if trade stays informal</a:t>
                      </a:r>
                    </a:p>
                  </a:txBody>
                  <a:tcPr anchor="ctr" marL="73152" marR="54864" marT="27432" marB="27432">
                    <a:solidFill>
                      <a:srgbClr val="FFFFFF"/>
                    </a:solidFill>
                  </a:tcPr>
                </a:tc>
              </a:tr>
              <a:tr h="630936">
                <a:tc>
                  <a:txBody>
                    <a:bodyPr wrap="square"/>
                    <a:lstStyle/>
                    <a:p>
                      <a:r>
                        <a:rPr sz="1050" b="1">
                          <a:solidFill>
                            <a:srgbClr val="0C2B4A"/>
                          </a:solidFill>
                        </a:rPr>
                        <a:t>Formality</a:t>
                      </a:r>
                    </a:p>
                  </a:txBody>
                  <a:tcPr anchor="ctr" marL="73152" marR="54864" marT="27432" marB="27432">
                    <a:solidFill>
                      <a:srgbClr val="EEF3F8"/>
                    </a:solidFill>
                  </a:tcPr>
                </a:tc>
                <a:tc>
                  <a:txBody>
                    <a:bodyPr wrap="square"/>
                    <a:lstStyle/>
                    <a:p>
                      <a:r>
                        <a:rPr sz="1050">
                          <a:solidFill>
                            <a:srgbClr val="1A1A1A"/>
                          </a:solidFill>
                        </a:rPr>
                        <a:t>Digital sales leave records</a:t>
                      </a:r>
                    </a:p>
                  </a:txBody>
                  <a:tcPr anchor="ctr" marL="73152" marR="54864" marT="27432" marB="27432">
                    <a:solidFill>
                      <a:srgbClr val="EEF3F8"/>
                    </a:solidFill>
                  </a:tcPr>
                </a:tc>
                <a:tc>
                  <a:txBody>
                    <a:bodyPr wrap="square"/>
                    <a:lstStyle/>
                    <a:p>
                      <a:r>
                        <a:rPr sz="1050">
                          <a:solidFill>
                            <a:srgbClr val="1A1A1A"/>
                          </a:solidFill>
                        </a:rPr>
                        <a:t>Much trade stays informal/untaxed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Figures (LDC 2026, UPI-Nepal volumes) are reported — verify. The pattern repeats across sectors: a real digital win capped by an access/logistics/informality gap.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Trade &amp; the LDC-2026 Clock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Bhaktapur pashmina workshop that once sold only through an exporter now ships directly to overseas buyers via a website and Instagram, keeping the exporter's margin and settling by digital payment. But a weaver in a hill district with cash-only customers and no courier can't. As Nepal is reported to graduate from LDC status around 2026 and lose some trade preferences, closing that access gap is what keeps Nepali trade competitive.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"E-commerce automatically makes Nepali trade competitive." Only where the foundation reaches: reliable internet, digital payments and last-mile logistics. Beyond the cities, cash-only and weak delivery cap the win — and with LDC-2026 removing preferences, the informal, offline seller is most exposed. The win is real but access-limited.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transformation lets Nepali sellers reach buyers directly: e-commerce (Daraz, HamroBazaar, SastoDeal) and social commerce cut middlemen, while digital payments and UPI-Nepal (cross-border with India, reported from 2024) settle trade instantly. It is urgent because Nepal is reported to graduate from Least-Developed-Country status around 2026, losing some trade preferences — so efficient digital trade becomes essential. The win (reach, margin, speed) is capped by a gap (cash-only, weak logistics, informality) beyond the cities.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e-commerce · social commerce · UPI-Nepal · no middleman · LDC graduation ~2026 (reported) · win capped by access gap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Tourism</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Tourism is one of Nepal's most digital-ready sectors. Operators promote globally at near-zero cost on Instagram and YouTube; travellers book directly via Booking.com and Airbnb, bypassing agents; reviews build trust across borders; and QR ticketing/digital payments (reported at sites like Pashupatinath and Bhaktapur) speed entry and cut leakage. The win is global reach for a small operator; the gap is seasonality and cash-only service beyond the main trails.</a:t>
            </a:r>
          </a:p>
          <a:p>
            <a:pPr>
              <a:spcAft>
                <a:spcPts val="500"/>
              </a:spcAft>
            </a:pPr>
            <a:r>
              <a:rPr sz="1200" b="1">
                <a:solidFill>
                  <a:srgbClr val="185FA5"/>
                </a:solidFill>
              </a:rPr>
              <a:t>HOW IT WORKS</a:t>
            </a:r>
          </a:p>
          <a:p>
            <a:pPr>
              <a:spcAft>
                <a:spcPts val="600"/>
              </a:spcAft>
            </a:pPr>
            <a:r>
              <a:rPr sz="1400">
                <a:solidFill>
                  <a:srgbClr val="1A1A1A"/>
                </a:solidFill>
              </a:rPr>
              <a:t>•  Near-zero-cost global promotion (Instagram, YouTube) for even small operators.</a:t>
            </a:r>
          </a:p>
          <a:p>
            <a:pPr>
              <a:spcAft>
                <a:spcPts val="600"/>
              </a:spcAft>
            </a:pPr>
            <a:r>
              <a:rPr sz="1400">
                <a:solidFill>
                  <a:srgbClr val="1A1A1A"/>
                </a:solidFill>
              </a:rPr>
              <a:t>•  Direct booking (Booking.com, Airbnb) bypasses agents -&gt; more margin to the operator.</a:t>
            </a:r>
          </a:p>
          <a:p>
            <a:pPr>
              <a:spcAft>
                <a:spcPts val="600"/>
              </a:spcAft>
            </a:pPr>
            <a:r>
              <a:rPr sz="1400">
                <a:solidFill>
                  <a:srgbClr val="1A1A1A"/>
                </a:solidFill>
              </a:rPr>
              <a:t>•  Reviews = cross-border trust; QR ticketing &amp; digital payment (Pashupatinath/Bhaktapur, reported).</a:t>
            </a:r>
          </a:p>
          <a:p>
            <a:pPr>
              <a:spcAft>
                <a:spcPts val="600"/>
              </a:spcAft>
            </a:pPr>
            <a:r>
              <a:rPr sz="1400">
                <a:solidFill>
                  <a:srgbClr val="1A1A1A"/>
                </a:solidFill>
              </a:rPr>
              <a:t>•  Gap: seasonality, cash-only beyond main trails, uneven connectivity in remote areas.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tourism: near-zero-cost global reach, direct booking, QR ticketing — capped by seasonality &amp; cash.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tourism in Nepal — the win vs the gap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19130"/>
                <a:gridCol w="4638260"/>
                <a:gridCol w="4472608"/>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Digital win</a:t>
                      </a:r>
                    </a:p>
                  </a:txBody>
                  <a:tcPr anchor="ctr" marL="73152" marR="54864" marT="27432" marB="27432">
                    <a:solidFill>
                      <a:srgbClr val="0C2B4A"/>
                    </a:solidFill>
                  </a:tcPr>
                </a:tc>
                <a:tc>
                  <a:txBody>
                    <a:bodyPr wrap="square"/>
                    <a:lstStyle/>
                    <a:p>
                      <a:r>
                        <a:rPr sz="1100" b="1">
                          <a:solidFill>
                            <a:srgbClr val="FFFFFF"/>
                          </a:solidFill>
                        </a:rPr>
                        <a:t>The gap</a:t>
                      </a:r>
                    </a:p>
                  </a:txBody>
                  <a:tcPr anchor="ctr" marL="73152" marR="54864" marT="27432" marB="27432">
                    <a:solidFill>
                      <a:srgbClr val="0C2B4A"/>
                    </a:solidFill>
                  </a:tcPr>
                </a:tc>
              </a:tr>
              <a:tr h="630936">
                <a:tc>
                  <a:txBody>
                    <a:bodyPr wrap="square"/>
                    <a:lstStyle/>
                    <a:p>
                      <a:r>
                        <a:rPr sz="1050" b="1">
                          <a:solidFill>
                            <a:srgbClr val="0C2B4A"/>
                          </a:solidFill>
                        </a:rPr>
                        <a:t>Promotion</a:t>
                      </a:r>
                    </a:p>
                  </a:txBody>
                  <a:tcPr anchor="ctr" marL="73152" marR="54864" marT="27432" marB="27432">
                    <a:solidFill>
                      <a:srgbClr val="FFFFFF"/>
                    </a:solidFill>
                  </a:tcPr>
                </a:tc>
                <a:tc>
                  <a:txBody>
                    <a:bodyPr wrap="square"/>
                    <a:lstStyle/>
                    <a:p>
                      <a:r>
                        <a:rPr sz="1050">
                          <a:solidFill>
                            <a:srgbClr val="1A1A1A"/>
                          </a:solidFill>
                        </a:rPr>
                        <a:t>Global reach at near-zero cost</a:t>
                      </a:r>
                    </a:p>
                  </a:txBody>
                  <a:tcPr anchor="ctr" marL="73152" marR="54864" marT="27432" marB="27432">
                    <a:solidFill>
                      <a:srgbClr val="FFFFFF"/>
                    </a:solidFill>
                  </a:tcPr>
                </a:tc>
                <a:tc>
                  <a:txBody>
                    <a:bodyPr wrap="square"/>
                    <a:lstStyle/>
                    <a:p>
                      <a:r>
                        <a:rPr sz="1050">
                          <a:solidFill>
                            <a:srgbClr val="1A1A1A"/>
                          </a:solidFill>
                        </a:rPr>
                        <a:t>Needs digital skills &amp; good content</a:t>
                      </a:r>
                    </a:p>
                  </a:txBody>
                  <a:tcPr anchor="ctr" marL="73152" marR="54864" marT="27432" marB="27432">
                    <a:solidFill>
                      <a:srgbClr val="FFFFFF"/>
                    </a:solidFill>
                  </a:tcPr>
                </a:tc>
              </a:tr>
              <a:tr h="630936">
                <a:tc>
                  <a:txBody>
                    <a:bodyPr wrap="square"/>
                    <a:lstStyle/>
                    <a:p>
                      <a:r>
                        <a:rPr sz="1050" b="1">
                          <a:solidFill>
                            <a:srgbClr val="0C2B4A"/>
                          </a:solidFill>
                        </a:rPr>
                        <a:t>Booking</a:t>
                      </a:r>
                    </a:p>
                  </a:txBody>
                  <a:tcPr anchor="ctr" marL="73152" marR="54864" marT="27432" marB="27432">
                    <a:solidFill>
                      <a:srgbClr val="EEF3F8"/>
                    </a:solidFill>
                  </a:tcPr>
                </a:tc>
                <a:tc>
                  <a:txBody>
                    <a:bodyPr wrap="square"/>
                    <a:lstStyle/>
                    <a:p>
                      <a:r>
                        <a:rPr sz="1050">
                          <a:solidFill>
                            <a:srgbClr val="1A1A1A"/>
                          </a:solidFill>
                        </a:rPr>
                        <a:t>Direct via Booking.com/Airbnb, less agent cut</a:t>
                      </a:r>
                    </a:p>
                  </a:txBody>
                  <a:tcPr anchor="ctr" marL="73152" marR="54864" marT="27432" marB="27432">
                    <a:solidFill>
                      <a:srgbClr val="EEF3F8"/>
                    </a:solidFill>
                  </a:tcPr>
                </a:tc>
                <a:tc>
                  <a:txBody>
                    <a:bodyPr wrap="square"/>
                    <a:lstStyle/>
                    <a:p>
                      <a:r>
                        <a:rPr sz="1050">
                          <a:solidFill>
                            <a:srgbClr val="1A1A1A"/>
                          </a:solidFill>
                        </a:rPr>
                        <a:t>Commission &amp; platform dependence</a:t>
                      </a:r>
                    </a:p>
                  </a:txBody>
                  <a:tcPr anchor="ctr" marL="73152" marR="54864" marT="27432" marB="27432">
                    <a:solidFill>
                      <a:srgbClr val="EEF3F8"/>
                    </a:solidFill>
                  </a:tcPr>
                </a:tc>
              </a:tr>
              <a:tr h="630936">
                <a:tc>
                  <a:txBody>
                    <a:bodyPr wrap="square"/>
                    <a:lstStyle/>
                    <a:p>
                      <a:r>
                        <a:rPr sz="1050" b="1">
                          <a:solidFill>
                            <a:srgbClr val="0C2B4A"/>
                          </a:solidFill>
                        </a:rPr>
                        <a:t>Trust</a:t>
                      </a:r>
                    </a:p>
                  </a:txBody>
                  <a:tcPr anchor="ctr" marL="73152" marR="54864" marT="27432" marB="27432">
                    <a:solidFill>
                      <a:srgbClr val="FFFFFF"/>
                    </a:solidFill>
                  </a:tcPr>
                </a:tc>
                <a:tc>
                  <a:txBody>
                    <a:bodyPr wrap="square"/>
                    <a:lstStyle/>
                    <a:p>
                      <a:r>
                        <a:rPr sz="1050">
                          <a:solidFill>
                            <a:srgbClr val="1A1A1A"/>
                          </a:solidFill>
                        </a:rPr>
                        <a:t>Reviews build cross-border confidence</a:t>
                      </a:r>
                    </a:p>
                  </a:txBody>
                  <a:tcPr anchor="ctr" marL="73152" marR="54864" marT="27432" marB="27432">
                    <a:solidFill>
                      <a:srgbClr val="FFFFFF"/>
                    </a:solidFill>
                  </a:tcPr>
                </a:tc>
                <a:tc>
                  <a:txBody>
                    <a:bodyPr wrap="square"/>
                    <a:lstStyle/>
                    <a:p>
                      <a:r>
                        <a:rPr sz="1050">
                          <a:solidFill>
                            <a:srgbClr val="1A1A1A"/>
                          </a:solidFill>
                        </a:rPr>
                        <a:t>Fake reviews; reputation risk</a:t>
                      </a:r>
                    </a:p>
                  </a:txBody>
                  <a:tcPr anchor="ctr" marL="73152" marR="54864" marT="27432" marB="27432">
                    <a:solidFill>
                      <a:srgbClr val="FFFFFF"/>
                    </a:solidFill>
                  </a:tcPr>
                </a:tc>
              </a:tr>
              <a:tr h="630936">
                <a:tc>
                  <a:txBody>
                    <a:bodyPr wrap="square"/>
                    <a:lstStyle/>
                    <a:p>
                      <a:r>
                        <a:rPr sz="1050" b="1">
                          <a:solidFill>
                            <a:srgbClr val="0C2B4A"/>
                          </a:solidFill>
                        </a:rPr>
                        <a:t>Ticketing</a:t>
                      </a:r>
                    </a:p>
                  </a:txBody>
                  <a:tcPr anchor="ctr" marL="73152" marR="54864" marT="27432" marB="27432">
                    <a:solidFill>
                      <a:srgbClr val="EEF3F8"/>
                    </a:solidFill>
                  </a:tcPr>
                </a:tc>
                <a:tc>
                  <a:txBody>
                    <a:bodyPr wrap="square"/>
                    <a:lstStyle/>
                    <a:p>
                      <a:r>
                        <a:rPr sz="1050">
                          <a:solidFill>
                            <a:srgbClr val="1A1A1A"/>
                          </a:solidFill>
                        </a:rPr>
                        <a:t>QR entry &amp; digital payment at sites</a:t>
                      </a:r>
                    </a:p>
                  </a:txBody>
                  <a:tcPr anchor="ctr" marL="73152" marR="54864" marT="27432" marB="27432">
                    <a:solidFill>
                      <a:srgbClr val="EEF3F8"/>
                    </a:solidFill>
                  </a:tcPr>
                </a:tc>
                <a:tc>
                  <a:txBody>
                    <a:bodyPr wrap="square"/>
                    <a:lstStyle/>
                    <a:p>
                      <a:r>
                        <a:rPr sz="1050">
                          <a:solidFill>
                            <a:srgbClr val="1A1A1A"/>
                          </a:solidFill>
                        </a:rPr>
                        <a:t>Reported rollout; cash still common</a:t>
                      </a:r>
                    </a:p>
                  </a:txBody>
                  <a:tcPr anchor="ctr" marL="73152" marR="54864" marT="27432" marB="27432">
                    <a:solidFill>
                      <a:srgbClr val="EEF3F8"/>
                    </a:solidFill>
                  </a:tcPr>
                </a:tc>
              </a:tr>
              <a:tr h="630936">
                <a:tc>
                  <a:txBody>
                    <a:bodyPr wrap="square"/>
                    <a:lstStyle/>
                    <a:p>
                      <a:r>
                        <a:rPr sz="1050" b="1">
                          <a:solidFill>
                            <a:srgbClr val="0C2B4A"/>
                          </a:solidFill>
                        </a:rPr>
                        <a:t>Payments</a:t>
                      </a:r>
                    </a:p>
                  </a:txBody>
                  <a:tcPr anchor="ctr" marL="73152" marR="54864" marT="27432" marB="27432">
                    <a:solidFill>
                      <a:srgbClr val="FFFFFF"/>
                    </a:solidFill>
                  </a:tcPr>
                </a:tc>
                <a:tc>
                  <a:txBody>
                    <a:bodyPr wrap="square"/>
                    <a:lstStyle/>
                    <a:p>
                      <a:r>
                        <a:rPr sz="1050">
                          <a:solidFill>
                            <a:srgbClr val="1A1A1A"/>
                          </a:solidFill>
                        </a:rPr>
                        <a:t>Cards/wallets for tourists</a:t>
                      </a:r>
                    </a:p>
                  </a:txBody>
                  <a:tcPr anchor="ctr" marL="73152" marR="54864" marT="27432" marB="27432">
                    <a:solidFill>
                      <a:srgbClr val="FFFFFF"/>
                    </a:solidFill>
                  </a:tcPr>
                </a:tc>
                <a:tc>
                  <a:txBody>
                    <a:bodyPr wrap="square"/>
                    <a:lstStyle/>
                    <a:p>
                      <a:r>
                        <a:rPr sz="1050">
                          <a:solidFill>
                            <a:srgbClr val="1A1A1A"/>
                          </a:solidFill>
                        </a:rPr>
                        <a:t>Rural teahouses often cash-only</a:t>
                      </a:r>
                    </a:p>
                  </a:txBody>
                  <a:tcPr anchor="ctr" marL="73152" marR="54864" marT="27432" marB="27432">
                    <a:solidFill>
                      <a:srgbClr val="FFFFFF"/>
                    </a:solidFill>
                  </a:tcPr>
                </a:tc>
              </a:tr>
              <a:tr h="630936">
                <a:tc>
                  <a:txBody>
                    <a:bodyPr wrap="square"/>
                    <a:lstStyle/>
                    <a:p>
                      <a:r>
                        <a:rPr sz="1050" b="1">
                          <a:solidFill>
                            <a:srgbClr val="0C2B4A"/>
                          </a:solidFill>
                        </a:rPr>
                        <a:t>Resilience</a:t>
                      </a:r>
                    </a:p>
                  </a:txBody>
                  <a:tcPr anchor="ctr" marL="73152" marR="54864" marT="27432" marB="27432">
                    <a:solidFill>
                      <a:srgbClr val="EEF3F8"/>
                    </a:solidFill>
                  </a:tcPr>
                </a:tc>
                <a:tc>
                  <a:txBody>
                    <a:bodyPr wrap="square"/>
                    <a:lstStyle/>
                    <a:p>
                      <a:r>
                        <a:rPr sz="1050">
                          <a:solidFill>
                            <a:srgbClr val="1A1A1A"/>
                          </a:solidFill>
                        </a:rPr>
                        <a:t>Digital diversifies marketing</a:t>
                      </a:r>
                    </a:p>
                  </a:txBody>
                  <a:tcPr anchor="ctr" marL="73152" marR="54864" marT="27432" marB="27432">
                    <a:solidFill>
                      <a:srgbClr val="EEF3F8"/>
                    </a:solidFill>
                  </a:tcPr>
                </a:tc>
                <a:tc>
                  <a:txBody>
                    <a:bodyPr wrap="square"/>
                    <a:lstStyle/>
                    <a:p>
                      <a:r>
                        <a:rPr sz="1050">
                          <a:solidFill>
                            <a:srgbClr val="1A1A1A"/>
                          </a:solidFill>
                        </a:rPr>
                        <a:t>Seasonality &amp; shocks (quake, COVID) still bite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QR-ticketing sites (Pashupatinath, Bhaktapur) are reported — verify. Same shape again: a genuine digital win limited by skills, connectivity and cash beyond the main destinations.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Tourism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homestay in Ghandruk that once waited for a Pokhara agent to send trekkers now lists on Booking.com, posts photos on Instagram, and fills its rooms on the strength of reviews — capturing the agent's margin itself. But it takes only cash, its internet drops in peak season, and one shock (a quake or a pandemic) empties the trail. Global reach is real; the access and resilience gaps are just as real.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tourism just means having a website." The win is direct global reach and trust — promotion, booking and reviews that let a tiny operator sell worldwide without an agent. But without digital skills, reliable connectivity and cashless payment, and against seasonality, the reach is capped. It is a marketing-and-trust transformation, not merely a homepage.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tourism gives Nepali operators near-zero-cost global promotion (Instagram, YouTube), direct booking (Booking.com, Airbnb) that bypasses agents, review-based cross-border trust, and QR ticketing/digital payments at sites (reported: Pashupatinath, Bhaktapur). The win is global reach and margin for even a small operator; the gap is seasonality, cash-only service and uneven connectivity beyond the main trails, plus platform commission and reputation risk.</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near-zero-cost promotion · direct booking · reviews = trust · QR ticketing · win = global reach · gap = seasonality/cash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Beyond the Cities: the Access Barrier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Trade and tourism share one shape: a genuine digital win in Kathmandu, Pokhara and the main trails, capped by an access barrier beyond them. The barrier is concrete — cash-only customers, weak last-mile logistics, unreliable connectivity, seasonality, and low digital skills. So the benefit concentrates where the Digital Foundation (S44) already reaches. Widening the win means fixing the foundation, not adding more apps.</a:t>
            </a:r>
          </a:p>
          <a:p>
            <a:pPr>
              <a:spcAft>
                <a:spcPts val="500"/>
              </a:spcAft>
            </a:pPr>
            <a:r>
              <a:rPr sz="1200" b="1">
                <a:solidFill>
                  <a:srgbClr val="185FA5"/>
                </a:solidFill>
              </a:rPr>
              <a:t>HOW IT WORKS</a:t>
            </a:r>
          </a:p>
          <a:p>
            <a:pPr>
              <a:spcAft>
                <a:spcPts val="600"/>
              </a:spcAft>
            </a:pPr>
            <a:r>
              <a:rPr sz="1400">
                <a:solidFill>
                  <a:srgbClr val="1A1A1A"/>
                </a:solidFill>
              </a:rPr>
              <a:t>•  Both sectors: strong digital win in the cities, thin beyond them.</a:t>
            </a:r>
          </a:p>
          <a:p>
            <a:pPr>
              <a:spcAft>
                <a:spcPts val="600"/>
              </a:spcAft>
            </a:pPr>
            <a:r>
              <a:rPr sz="1400">
                <a:solidFill>
                  <a:srgbClr val="1A1A1A"/>
                </a:solidFill>
              </a:rPr>
              <a:t>•  Barrier = cash-only, weak logistics, patchy internet, seasonality, low skills.</a:t>
            </a:r>
          </a:p>
          <a:p>
            <a:pPr>
              <a:spcAft>
                <a:spcPts val="600"/>
              </a:spcAft>
            </a:pPr>
            <a:r>
              <a:rPr sz="1400">
                <a:solidFill>
                  <a:srgbClr val="1A1A1A"/>
                </a:solidFill>
              </a:rPr>
              <a:t>•  Benefit concentrates where the Digital Foundation already reaches (link to S44).</a:t>
            </a:r>
          </a:p>
          <a:p>
            <a:pPr>
              <a:spcAft>
                <a:spcPts val="600"/>
              </a:spcAft>
            </a:pPr>
            <a:r>
              <a:rPr sz="1400">
                <a:solidFill>
                  <a:srgbClr val="1A1A1A"/>
                </a:solidFill>
              </a:rPr>
              <a:t>•  Fix = foundation (connectivity, payments, logistics, skills), not more apps.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Trade &amp; tourism: real digital win in cities, capped beyond by cash, logistics &amp; connectivity.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access barrier beyond the cities — who it hits &amp; the fix</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93676"/>
                <a:gridCol w="3866029"/>
                <a:gridCol w="4370294"/>
              </a:tblGrid>
              <a:tr h="736092">
                <a:tc>
                  <a:txBody>
                    <a:bodyPr wrap="square"/>
                    <a:lstStyle/>
                    <a:p>
                      <a:r>
                        <a:rPr sz="1150" b="1">
                          <a:solidFill>
                            <a:srgbClr val="FFFFFF"/>
                          </a:solidFill>
                        </a:rPr>
                        <a:t>Barrier</a:t>
                      </a:r>
                    </a:p>
                  </a:txBody>
                  <a:tcPr anchor="ctr" marL="73152" marR="54864" marT="27432" marB="27432">
                    <a:solidFill>
                      <a:srgbClr val="0C2B4A"/>
                    </a:solidFill>
                  </a:tcPr>
                </a:tc>
                <a:tc>
                  <a:txBody>
                    <a:bodyPr wrap="square"/>
                    <a:lstStyle/>
                    <a:p>
                      <a:r>
                        <a:rPr sz="1150" b="1">
                          <a:solidFill>
                            <a:srgbClr val="FFFFFF"/>
                          </a:solidFill>
                        </a:rPr>
                        <a:t>Who it hits</a:t>
                      </a:r>
                    </a:p>
                  </a:txBody>
                  <a:tcPr anchor="ctr" marL="73152" marR="54864" marT="27432" marB="27432">
                    <a:solidFill>
                      <a:srgbClr val="0C2B4A"/>
                    </a:solidFill>
                  </a:tcPr>
                </a:tc>
                <a:tc>
                  <a:txBody>
                    <a:bodyPr wrap="square"/>
                    <a:lstStyle/>
                    <a:p>
                      <a:r>
                        <a:rPr sz="1150" b="1">
                          <a:solidFill>
                            <a:srgbClr val="FFFFFF"/>
                          </a:solidFill>
                        </a:rPr>
                        <a:t>Fix</a:t>
                      </a:r>
                    </a:p>
                  </a:txBody>
                  <a:tcPr anchor="ctr" marL="73152" marR="54864" marT="27432" marB="27432">
                    <a:solidFill>
                      <a:srgbClr val="0C2B4A"/>
                    </a:solidFill>
                  </a:tcPr>
                </a:tc>
              </a:tr>
              <a:tr h="736092">
                <a:tc>
                  <a:txBody>
                    <a:bodyPr wrap="square"/>
                    <a:lstStyle/>
                    <a:p>
                      <a:r>
                        <a:rPr sz="1100" b="1">
                          <a:solidFill>
                            <a:srgbClr val="0C2B4A"/>
                          </a:solidFill>
                        </a:rPr>
                        <a:t>Cash-only customers</a:t>
                      </a:r>
                    </a:p>
                  </a:txBody>
                  <a:tcPr anchor="ctr" marL="73152" marR="54864" marT="27432" marB="27432">
                    <a:solidFill>
                      <a:srgbClr val="FFFFFF"/>
                    </a:solidFill>
                  </a:tcPr>
                </a:tc>
                <a:tc>
                  <a:txBody>
                    <a:bodyPr wrap="square"/>
                    <a:lstStyle/>
                    <a:p>
                      <a:r>
                        <a:rPr sz="1100">
                          <a:solidFill>
                            <a:srgbClr val="1A1A1A"/>
                          </a:solidFill>
                        </a:rPr>
                        <a:t>Rural sellers &amp; teahouses</a:t>
                      </a:r>
                    </a:p>
                  </a:txBody>
                  <a:tcPr anchor="ctr" marL="73152" marR="54864" marT="27432" marB="27432">
                    <a:solidFill>
                      <a:srgbClr val="FFFFFF"/>
                    </a:solidFill>
                  </a:tcPr>
                </a:tc>
                <a:tc>
                  <a:txBody>
                    <a:bodyPr wrap="square"/>
                    <a:lstStyle/>
                    <a:p>
                      <a:r>
                        <a:rPr sz="1100">
                          <a:solidFill>
                            <a:srgbClr val="1A1A1A"/>
                          </a:solidFill>
                        </a:rPr>
                        <a:t>Expand QR/agent acceptance rurally</a:t>
                      </a:r>
                    </a:p>
                  </a:txBody>
                  <a:tcPr anchor="ctr" marL="73152" marR="54864" marT="27432" marB="27432">
                    <a:solidFill>
                      <a:srgbClr val="FFFFFF"/>
                    </a:solidFill>
                  </a:tcPr>
                </a:tc>
              </a:tr>
              <a:tr h="736092">
                <a:tc>
                  <a:txBody>
                    <a:bodyPr wrap="square"/>
                    <a:lstStyle/>
                    <a:p>
                      <a:r>
                        <a:rPr sz="1100" b="1">
                          <a:solidFill>
                            <a:srgbClr val="0C2B4A"/>
                          </a:solidFill>
                        </a:rPr>
                        <a:t>Weak last-mile logistics</a:t>
                      </a:r>
                    </a:p>
                  </a:txBody>
                  <a:tcPr anchor="ctr" marL="73152" marR="54864" marT="27432" marB="27432">
                    <a:solidFill>
                      <a:srgbClr val="EEF3F8"/>
                    </a:solidFill>
                  </a:tcPr>
                </a:tc>
                <a:tc>
                  <a:txBody>
                    <a:bodyPr wrap="square"/>
                    <a:lstStyle/>
                    <a:p>
                      <a:r>
                        <a:rPr sz="1100">
                          <a:solidFill>
                            <a:srgbClr val="1A1A1A"/>
                          </a:solidFill>
                        </a:rPr>
                        <a:t>Remote e-commerce sellers</a:t>
                      </a:r>
                    </a:p>
                  </a:txBody>
                  <a:tcPr anchor="ctr" marL="73152" marR="54864" marT="27432" marB="27432">
                    <a:solidFill>
                      <a:srgbClr val="EEF3F8"/>
                    </a:solidFill>
                  </a:tcPr>
                </a:tc>
                <a:tc>
                  <a:txBody>
                    <a:bodyPr wrap="square"/>
                    <a:lstStyle/>
                    <a:p>
                      <a:r>
                        <a:rPr sz="1100">
                          <a:solidFill>
                            <a:srgbClr val="1A1A1A"/>
                          </a:solidFill>
                        </a:rPr>
                        <a:t>Courier partnerships, pickup points</a:t>
                      </a:r>
                    </a:p>
                  </a:txBody>
                  <a:tcPr anchor="ctr" marL="73152" marR="54864" marT="27432" marB="27432">
                    <a:solidFill>
                      <a:srgbClr val="EEF3F8"/>
                    </a:solidFill>
                  </a:tcPr>
                </a:tc>
              </a:tr>
              <a:tr h="736092">
                <a:tc>
                  <a:txBody>
                    <a:bodyPr wrap="square"/>
                    <a:lstStyle/>
                    <a:p>
                      <a:r>
                        <a:rPr sz="1100" b="1">
                          <a:solidFill>
                            <a:srgbClr val="0C2B4A"/>
                          </a:solidFill>
                        </a:rPr>
                        <a:t>Unreliable connectivity</a:t>
                      </a:r>
                    </a:p>
                  </a:txBody>
                  <a:tcPr anchor="ctr" marL="73152" marR="54864" marT="27432" marB="27432">
                    <a:solidFill>
                      <a:srgbClr val="FFFFFF"/>
                    </a:solidFill>
                  </a:tcPr>
                </a:tc>
                <a:tc>
                  <a:txBody>
                    <a:bodyPr wrap="square"/>
                    <a:lstStyle/>
                    <a:p>
                      <a:r>
                        <a:rPr sz="1100">
                          <a:solidFill>
                            <a:srgbClr val="1A1A1A"/>
                          </a:solidFill>
                        </a:rPr>
                        <a:t>All rural digital trade/tourism</a:t>
                      </a:r>
                    </a:p>
                  </a:txBody>
                  <a:tcPr anchor="ctr" marL="73152" marR="54864" marT="27432" marB="27432">
                    <a:solidFill>
                      <a:srgbClr val="FFFFFF"/>
                    </a:solidFill>
                  </a:tcPr>
                </a:tc>
                <a:tc>
                  <a:txBody>
                    <a:bodyPr wrap="square"/>
                    <a:lstStyle/>
                    <a:p>
                      <a:r>
                        <a:rPr sz="1100">
                          <a:solidFill>
                            <a:srgbClr val="1A1A1A"/>
                          </a:solidFill>
                        </a:rPr>
                        <a:t>Rural broadband, offline-capable tools</a:t>
                      </a:r>
                    </a:p>
                  </a:txBody>
                  <a:tcPr anchor="ctr" marL="73152" marR="54864" marT="27432" marB="27432">
                    <a:solidFill>
                      <a:srgbClr val="FFFFFF"/>
                    </a:solidFill>
                  </a:tcPr>
                </a:tc>
              </a:tr>
              <a:tr h="736092">
                <a:tc>
                  <a:txBody>
                    <a:bodyPr wrap="square"/>
                    <a:lstStyle/>
                    <a:p>
                      <a:r>
                        <a:rPr sz="1100" b="1">
                          <a:solidFill>
                            <a:srgbClr val="0C2B4A"/>
                          </a:solidFill>
                        </a:rPr>
                        <a:t>Seasonality</a:t>
                      </a:r>
                    </a:p>
                  </a:txBody>
                  <a:tcPr anchor="ctr" marL="73152" marR="54864" marT="27432" marB="27432">
                    <a:solidFill>
                      <a:srgbClr val="EEF3F8"/>
                    </a:solidFill>
                  </a:tcPr>
                </a:tc>
                <a:tc>
                  <a:txBody>
                    <a:bodyPr wrap="square"/>
                    <a:lstStyle/>
                    <a:p>
                      <a:r>
                        <a:rPr sz="1100">
                          <a:solidFill>
                            <a:srgbClr val="1A1A1A"/>
                          </a:solidFill>
                        </a:rPr>
                        <a:t>Tourism operators</a:t>
                      </a:r>
                    </a:p>
                  </a:txBody>
                  <a:tcPr anchor="ctr" marL="73152" marR="54864" marT="27432" marB="27432">
                    <a:solidFill>
                      <a:srgbClr val="EEF3F8"/>
                    </a:solidFill>
                  </a:tcPr>
                </a:tc>
                <a:tc>
                  <a:txBody>
                    <a:bodyPr wrap="square"/>
                    <a:lstStyle/>
                    <a:p>
                      <a:r>
                        <a:rPr sz="1100">
                          <a:solidFill>
                            <a:srgbClr val="1A1A1A"/>
                          </a:solidFill>
                        </a:rPr>
                        <a:t>Diversify markets &amp; off-season digital promo</a:t>
                      </a:r>
                    </a:p>
                  </a:txBody>
                  <a:tcPr anchor="ctr" marL="73152" marR="54864" marT="27432" marB="27432">
                    <a:solidFill>
                      <a:srgbClr val="EEF3F8"/>
                    </a:solidFill>
                  </a:tcPr>
                </a:tc>
              </a:tr>
              <a:tr h="736092">
                <a:tc>
                  <a:txBody>
                    <a:bodyPr wrap="square"/>
                    <a:lstStyle/>
                    <a:p>
                      <a:r>
                        <a:rPr sz="1100" b="1">
                          <a:solidFill>
                            <a:srgbClr val="0C2B4A"/>
                          </a:solidFill>
                        </a:rPr>
                        <a:t>Low digital skills</a:t>
                      </a:r>
                    </a:p>
                  </a:txBody>
                  <a:tcPr anchor="ctr" marL="73152" marR="54864" marT="27432" marB="27432">
                    <a:solidFill>
                      <a:srgbClr val="FFFFFF"/>
                    </a:solidFill>
                  </a:tcPr>
                </a:tc>
                <a:tc>
                  <a:txBody>
                    <a:bodyPr wrap="square"/>
                    <a:lstStyle/>
                    <a:p>
                      <a:r>
                        <a:rPr sz="1100">
                          <a:solidFill>
                            <a:srgbClr val="1A1A1A"/>
                          </a:solidFill>
                        </a:rPr>
                        <a:t>Small &amp; older operators</a:t>
                      </a:r>
                    </a:p>
                  </a:txBody>
                  <a:tcPr anchor="ctr" marL="73152" marR="54864" marT="27432" marB="27432">
                    <a:solidFill>
                      <a:srgbClr val="FFFFFF"/>
                    </a:solidFill>
                  </a:tcPr>
                </a:tc>
                <a:tc>
                  <a:txBody>
                    <a:bodyPr wrap="square"/>
                    <a:lstStyle/>
                    <a:p>
                      <a:r>
                        <a:rPr sz="1100">
                          <a:solidFill>
                            <a:srgbClr val="1A1A1A"/>
                          </a:solidFill>
                        </a:rPr>
                        <a:t>Local-language training, simple tools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fix list is the Digital Foundation from S44 wearing a sector hat — connectivity, payments, logistics and skills. Sector apps can't outrun a missing foundation.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Beyond the Cities: the Access Barrier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Kathmandu a shop sells online, takes QR and ships next-day; two hills away an identical shop deals only in cash, has no courier, and loses signal for hours. Same country, same apps, opposite outcomes — because the Digital Foundation reaches one and not the other. That is why 'more apps' won't close the gap: trade and tourism can only go as far digitally as connectivity, payments and logistics have already gone.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"Adding e-commerce and booking apps will spread the benefit everywhere." Apps ride on a foundation. Where connectivity, digital payments and logistics are missing, no app helps — the win stays in the cities. Spreading the benefit means fixing the foundation (S44), which is why sector performance and e-gov foundation are the same problem.</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Trade and tourism share one shape: a genuine digital win in the cities and main trails, capped beyond them by a concrete access barrier — cash-only customers, weak last-mile logistics, unreliable connectivity, seasonality, and low digital skills. The benefit therefore concentrates where the Digital Foundation (S44) already reaches. Widening it requires fixing that foundation (connectivity, payments, logistics, skills), not adding more sector apps.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access barrier · cash-only · last-mile logistics · connectivity · Digital Foundation link · win concentrates in cities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S47 — 'City vs hills'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take one business (a handicraft seller OR a homestay).</a:t>
            </a:r>
          </a:p>
          <a:p>
            <a:pPr>
              <a:spcAft>
                <a:spcPts val="700"/>
              </a:spcAft>
            </a:pPr>
            <a:r>
              <a:rPr sz="1550">
                <a:solidFill>
                  <a:srgbClr val="1A1A1A"/>
                </a:solidFill>
              </a:rPr>
              <a:t>•  Describe its digital win in Kathmandu/Pokhara, then the SAME business two hills away.</a:t>
            </a:r>
          </a:p>
          <a:p>
            <a:pPr>
              <a:spcAft>
                <a:spcPts val="700"/>
              </a:spcAft>
            </a:pPr>
            <a:r>
              <a:rPr sz="1550">
                <a:solidFill>
                  <a:srgbClr val="1A1A1A"/>
                </a:solidFill>
              </a:rPr>
              <a:t>•  Name the specific access barrier and the foundation fix that would close it.</a:t>
            </a:r>
          </a:p>
          <a:p>
            <a:pPr>
              <a:spcAft>
                <a:spcPts val="700"/>
              </a:spcAft>
            </a:pPr>
            <a:r>
              <a:rPr sz="1550">
                <a:solidFill>
                  <a:srgbClr val="1A1A1A"/>
                </a:solidFill>
              </a:rPr>
              <a:t>•  Take 3–4 answers aloud (2 min); connect each fix back to S44's Digital Foundation.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Model: handicraft seller — city (online sales, QR, courier) vs hills (cash-only, no courier, weak net); fix = rural connectivity + QR/agents + logistics. Reward tying the fix to the Digital Foundation, not 'another app'.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Nepal's reported LDC graduation around 2026 matters for digital trade because it:</a:t>
            </a:r>
          </a:p>
          <a:p>
            <a:pPr lvl="1"/>
            <a:r>
              <a:rPr sz="1500" b="1">
                <a:solidFill>
                  <a:srgbClr val="0F6E56"/>
                </a:solidFill>
              </a:rPr>
              <a:t>a) bans e-commerce   b) ✅ removes some trade preferences, so efficient digital trade becomes urgent   c) closes Daraz   d) adds tariffs on wallets</a:t>
            </a:r>
          </a:p>
          <a:p>
            <a:pPr lvl="1">
              <a:spcBef>
                <a:spcPts val="600"/>
              </a:spcBef>
            </a:pPr>
            <a:r>
              <a:rPr sz="1500" i="1">
                <a:solidFill>
                  <a:srgbClr val="1A1A1A"/>
                </a:solidFill>
              </a:rPr>
              <a:t>     Why: losing preferences raises the pressure to compete on efficient, formal, digital trade. (Figure reported.)</a:t>
            </a:r>
          </a:p>
          <a:p>
            <a:pPr>
              <a:spcBef>
                <a:spcPts val="900"/>
              </a:spcBef>
            </a:pPr>
            <a:r>
              <a:rPr sz="1700" b="1">
                <a:solidFill>
                  <a:srgbClr val="0C2B4A"/>
                </a:solidFill>
              </a:rPr>
              <a:t>Q2.  Digital tourism's core win for a small operator is:</a:t>
            </a:r>
          </a:p>
          <a:p>
            <a:pPr lvl="1"/>
            <a:r>
              <a:rPr sz="1500" b="1">
                <a:solidFill>
                  <a:srgbClr val="0F6E56"/>
                </a:solidFill>
              </a:rPr>
              <a:t>a) free hotels   b) ✅ near-zero-cost global reach &amp; direct booking   c) no tourists   d) government subsidy</a:t>
            </a:r>
          </a:p>
          <a:p>
            <a:pPr lvl="1">
              <a:spcBef>
                <a:spcPts val="600"/>
              </a:spcBef>
            </a:pPr>
            <a:r>
              <a:rPr sz="1500" i="1">
                <a:solidFill>
                  <a:srgbClr val="1A1A1A"/>
                </a:solidFill>
              </a:rPr>
              <a:t>     Why: promotion, direct booking and reviews let a tiny operator sell worldwide without an agent.</a:t>
            </a:r>
          </a:p>
          <a:p>
            <a:pPr lvl="1">
              <a:spcBef>
                <a:spcPts val="600"/>
              </a:spcBef>
            </a:pPr>
            <a:r>
              <a:rPr sz="1500" i="1">
                <a:solidFill>
                  <a:srgbClr val="1A1A1A"/>
                </a:solidFill>
              </a:rPr>
              <a:t>Discussion: name one trade/tourism digital win and its matching gap beyond the cities.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trade cuts middlemen &amp; speeds payment (UPI-Nepal); LDC graduation ~2026 (reported) makes it urgent.</a:t>
            </a:r>
          </a:p>
          <a:p>
            <a:pPr>
              <a:spcAft>
                <a:spcPts val="800"/>
              </a:spcAft>
            </a:pPr>
            <a:r>
              <a:rPr sz="1500">
                <a:solidFill>
                  <a:srgbClr val="1A1A1A"/>
                </a:solidFill>
              </a:rPr>
              <a:t>2.  Digital tourism gives small operators near-zero-cost global reach, direct booking, QR ticketing &amp; review-based trust.</a:t>
            </a:r>
          </a:p>
          <a:p>
            <a:pPr>
              <a:spcAft>
                <a:spcPts val="800"/>
              </a:spcAft>
            </a:pPr>
            <a:r>
              <a:rPr sz="1500">
                <a:solidFill>
                  <a:srgbClr val="1A1A1A"/>
                </a:solidFill>
              </a:rPr>
              <a:t>3.  Both share one shape: a real digital win in the cities, capped beyond by cash, logistics &amp; connectivity (the foundation).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Sector performance is the e-gov foundation seen from the market side: trade and tourism go digital only as far as connectivity, payments and logistics already reach. Fixing the foundation is what turns a city win into a national one.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S48 — closing the unit and the course: agriculture &amp; SMEs, the '4-sector scorecard', and Nepal's whole digital-economy trajectory.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48 · LECTURE HOUR 7 (OF 7) — CLOSES UNIT 6 AND THE WHOLE COURSE</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Economic Performance: Agriculture &amp; SMEs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TelePlantDoctor lets a farmer photograph a sick crop and get AI advice; a Palpa pickle-maker runs her whole business on a Facebook page and a QR code. The tools are world-class — but a 60-year-old farmer on a 2G phone can't reach them. As we close the course, the theme is 'great tool, broken access' — and whether Nepal can bridge it by 2035.</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82 / 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Agriculture: Great Tool, Broken Access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tools are transforming what is possible in Nepali agriculture: AI crop advice (TelePlantDoctor, reported with FAO from 2024), mobile banking to buy inputs and receive payment, digital weather and market-price information, and e-markets that connect farmers to buyers. The catch is access: many farmers are older, on 2G phones, with low digital literacy and thin rural connectivity — so the world-class tool can't reach the person who needs it. 'Great tool, broken access.'</a:t>
            </a:r>
          </a:p>
          <a:p>
            <a:pPr>
              <a:spcAft>
                <a:spcPts val="500"/>
              </a:spcAft>
            </a:pPr>
            <a:r>
              <a:rPr sz="1200" b="1">
                <a:solidFill>
                  <a:srgbClr val="185FA5"/>
                </a:solidFill>
              </a:rPr>
              <a:t>HOW IT WORKS</a:t>
            </a:r>
          </a:p>
          <a:p>
            <a:pPr>
              <a:spcAft>
                <a:spcPts val="600"/>
              </a:spcAft>
            </a:pPr>
            <a:r>
              <a:rPr sz="1400">
                <a:solidFill>
                  <a:srgbClr val="1A1A1A"/>
                </a:solidFill>
              </a:rPr>
              <a:t>•  Tools: AI crop advice (TelePlantDoctor, reported 2024), mobile banking, digital weather &amp; prices, e-markets.</a:t>
            </a:r>
          </a:p>
          <a:p>
            <a:pPr>
              <a:spcAft>
                <a:spcPts val="600"/>
              </a:spcAft>
            </a:pPr>
            <a:r>
              <a:rPr sz="1400">
                <a:solidFill>
                  <a:srgbClr val="1A1A1A"/>
                </a:solidFill>
              </a:rPr>
              <a:t>•  Win: better decisions, fair prices, inputs &amp; payments without travelling to town.</a:t>
            </a:r>
          </a:p>
          <a:p>
            <a:pPr>
              <a:spcAft>
                <a:spcPts val="600"/>
              </a:spcAft>
            </a:pPr>
            <a:r>
              <a:rPr sz="1400">
                <a:solidFill>
                  <a:srgbClr val="1A1A1A"/>
                </a:solidFill>
              </a:rPr>
              <a:t>•  Access barrier: older farmers, 2G phones, low literacy, patchy rural internet &amp; data cost.</a:t>
            </a:r>
          </a:p>
          <a:p>
            <a:pPr>
              <a:spcAft>
                <a:spcPts val="600"/>
              </a:spcAft>
            </a:pPr>
            <a:r>
              <a:rPr sz="1400">
                <a:solidFill>
                  <a:srgbClr val="1A1A1A"/>
                </a:solidFill>
              </a:rPr>
              <a:t>•  The theme: the tool is excellent; the access is broken — bridging it is the task.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Agriculture: world-class digital tools (TelePlantDoctor, m-banking) held back by broken rural access.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agriculture in Nepal — the win vs the gap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19130"/>
                <a:gridCol w="4638260"/>
                <a:gridCol w="4472608"/>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Digital win</a:t>
                      </a:r>
                    </a:p>
                  </a:txBody>
                  <a:tcPr anchor="ctr" marL="73152" marR="54864" marT="27432" marB="27432">
                    <a:solidFill>
                      <a:srgbClr val="0C2B4A"/>
                    </a:solidFill>
                  </a:tcPr>
                </a:tc>
                <a:tc>
                  <a:txBody>
                    <a:bodyPr wrap="square"/>
                    <a:lstStyle/>
                    <a:p>
                      <a:r>
                        <a:rPr sz="1100" b="1">
                          <a:solidFill>
                            <a:srgbClr val="FFFFFF"/>
                          </a:solidFill>
                        </a:rPr>
                        <a:t>The gap</a:t>
                      </a:r>
                    </a:p>
                  </a:txBody>
                  <a:tcPr anchor="ctr" marL="73152" marR="54864" marT="27432" marB="27432">
                    <a:solidFill>
                      <a:srgbClr val="0C2B4A"/>
                    </a:solidFill>
                  </a:tcPr>
                </a:tc>
              </a:tr>
              <a:tr h="630936">
                <a:tc>
                  <a:txBody>
                    <a:bodyPr wrap="square"/>
                    <a:lstStyle/>
                    <a:p>
                      <a:r>
                        <a:rPr sz="1050" b="1">
                          <a:solidFill>
                            <a:srgbClr val="0C2B4A"/>
                          </a:solidFill>
                        </a:rPr>
                        <a:t>Crop health</a:t>
                      </a:r>
                    </a:p>
                  </a:txBody>
                  <a:tcPr anchor="ctr" marL="73152" marR="54864" marT="27432" marB="27432">
                    <a:solidFill>
                      <a:srgbClr val="FFFFFF"/>
                    </a:solidFill>
                  </a:tcPr>
                </a:tc>
                <a:tc>
                  <a:txBody>
                    <a:bodyPr wrap="square"/>
                    <a:lstStyle/>
                    <a:p>
                      <a:r>
                        <a:rPr sz="1050">
                          <a:solidFill>
                            <a:srgbClr val="1A1A1A"/>
                          </a:solidFill>
                        </a:rPr>
                        <a:t>AI advice from a photo (TelePlantDoctor)</a:t>
                      </a:r>
                    </a:p>
                  </a:txBody>
                  <a:tcPr anchor="ctr" marL="73152" marR="54864" marT="27432" marB="27432">
                    <a:solidFill>
                      <a:srgbClr val="FFFFFF"/>
                    </a:solidFill>
                  </a:tcPr>
                </a:tc>
                <a:tc>
                  <a:txBody>
                    <a:bodyPr wrap="square"/>
                    <a:lstStyle/>
                    <a:p>
                      <a:r>
                        <a:rPr sz="1050">
                          <a:solidFill>
                            <a:srgbClr val="1A1A1A"/>
                          </a:solidFill>
                        </a:rPr>
                        <a:t>Older farmers on 2G can't run the app</a:t>
                      </a:r>
                    </a:p>
                  </a:txBody>
                  <a:tcPr anchor="ctr" marL="73152" marR="54864" marT="27432" marB="27432">
                    <a:solidFill>
                      <a:srgbClr val="FFFFFF"/>
                    </a:solidFill>
                  </a:tcPr>
                </a:tc>
              </a:tr>
              <a:tr h="630936">
                <a:tc>
                  <a:txBody>
                    <a:bodyPr wrap="square"/>
                    <a:lstStyle/>
                    <a:p>
                      <a:r>
                        <a:rPr sz="1050" b="1">
                          <a:solidFill>
                            <a:srgbClr val="0C2B4A"/>
                          </a:solidFill>
                        </a:rPr>
                        <a:t>Finance</a:t>
                      </a:r>
                    </a:p>
                  </a:txBody>
                  <a:tcPr anchor="ctr" marL="73152" marR="54864" marT="27432" marB="27432">
                    <a:solidFill>
                      <a:srgbClr val="EEF3F8"/>
                    </a:solidFill>
                  </a:tcPr>
                </a:tc>
                <a:tc>
                  <a:txBody>
                    <a:bodyPr wrap="square"/>
                    <a:lstStyle/>
                    <a:p>
                      <a:r>
                        <a:rPr sz="1050">
                          <a:solidFill>
                            <a:srgbClr val="1A1A1A"/>
                          </a:solidFill>
                        </a:rPr>
                        <a:t>Mobile banking for inputs &amp; payments</a:t>
                      </a:r>
                    </a:p>
                  </a:txBody>
                  <a:tcPr anchor="ctr" marL="73152" marR="54864" marT="27432" marB="27432">
                    <a:solidFill>
                      <a:srgbClr val="EEF3F8"/>
                    </a:solidFill>
                  </a:tcPr>
                </a:tc>
                <a:tc>
                  <a:txBody>
                    <a:bodyPr wrap="square"/>
                    <a:lstStyle/>
                    <a:p>
                      <a:r>
                        <a:rPr sz="1050">
                          <a:solidFill>
                            <a:srgbClr val="1A1A1A"/>
                          </a:solidFill>
                        </a:rPr>
                        <a:t>Few rural agents; missing KYC</a:t>
                      </a:r>
                    </a:p>
                  </a:txBody>
                  <a:tcPr anchor="ctr" marL="73152" marR="54864" marT="27432" marB="27432">
                    <a:solidFill>
                      <a:srgbClr val="EEF3F8"/>
                    </a:solidFill>
                  </a:tcPr>
                </a:tc>
              </a:tr>
              <a:tr h="630936">
                <a:tc>
                  <a:txBody>
                    <a:bodyPr wrap="square"/>
                    <a:lstStyle/>
                    <a:p>
                      <a:r>
                        <a:rPr sz="1050" b="1">
                          <a:solidFill>
                            <a:srgbClr val="0C2B4A"/>
                          </a:solidFill>
                        </a:rPr>
                        <a:t>Information</a:t>
                      </a:r>
                    </a:p>
                  </a:txBody>
                  <a:tcPr anchor="ctr" marL="73152" marR="54864" marT="27432" marB="27432">
                    <a:solidFill>
                      <a:srgbClr val="FFFFFF"/>
                    </a:solidFill>
                  </a:tcPr>
                </a:tc>
                <a:tc>
                  <a:txBody>
                    <a:bodyPr wrap="square"/>
                    <a:lstStyle/>
                    <a:p>
                      <a:r>
                        <a:rPr sz="1050">
                          <a:solidFill>
                            <a:srgbClr val="1A1A1A"/>
                          </a:solidFill>
                        </a:rPr>
                        <a:t>Digital weather &amp; market prices</a:t>
                      </a:r>
                    </a:p>
                  </a:txBody>
                  <a:tcPr anchor="ctr" marL="73152" marR="54864" marT="27432" marB="27432">
                    <a:solidFill>
                      <a:srgbClr val="FFFFFF"/>
                    </a:solidFill>
                  </a:tcPr>
                </a:tc>
                <a:tc>
                  <a:txBody>
                    <a:bodyPr wrap="square"/>
                    <a:lstStyle/>
                    <a:p>
                      <a:r>
                        <a:rPr sz="1050">
                          <a:solidFill>
                            <a:srgbClr val="1A1A1A"/>
                          </a:solidFill>
                        </a:rPr>
                        <a:t>Low literacy; language barriers</a:t>
                      </a:r>
                    </a:p>
                  </a:txBody>
                  <a:tcPr anchor="ctr" marL="73152" marR="54864" marT="27432" marB="27432">
                    <a:solidFill>
                      <a:srgbClr val="FFFFFF"/>
                    </a:solidFill>
                  </a:tcPr>
                </a:tc>
              </a:tr>
              <a:tr h="630936">
                <a:tc>
                  <a:txBody>
                    <a:bodyPr wrap="square"/>
                    <a:lstStyle/>
                    <a:p>
                      <a:r>
                        <a:rPr sz="1050" b="1">
                          <a:solidFill>
                            <a:srgbClr val="0C2B4A"/>
                          </a:solidFill>
                        </a:rPr>
                        <a:t>Markets</a:t>
                      </a:r>
                    </a:p>
                  </a:txBody>
                  <a:tcPr anchor="ctr" marL="73152" marR="54864" marT="27432" marB="27432">
                    <a:solidFill>
                      <a:srgbClr val="EEF3F8"/>
                    </a:solidFill>
                  </a:tcPr>
                </a:tc>
                <a:tc>
                  <a:txBody>
                    <a:bodyPr wrap="square"/>
                    <a:lstStyle/>
                    <a:p>
                      <a:r>
                        <a:rPr sz="1050">
                          <a:solidFill>
                            <a:srgbClr val="1A1A1A"/>
                          </a:solidFill>
                        </a:rPr>
                        <a:t>E-markets link farmers to buyers</a:t>
                      </a:r>
                    </a:p>
                  </a:txBody>
                  <a:tcPr anchor="ctr" marL="73152" marR="54864" marT="27432" marB="27432">
                    <a:solidFill>
                      <a:srgbClr val="EEF3F8"/>
                    </a:solidFill>
                  </a:tcPr>
                </a:tc>
                <a:tc>
                  <a:txBody>
                    <a:bodyPr wrap="square"/>
                    <a:lstStyle/>
                    <a:p>
                      <a:r>
                        <a:rPr sz="1050">
                          <a:solidFill>
                            <a:srgbClr val="1A1A1A"/>
                          </a:solidFill>
                        </a:rPr>
                        <a:t>Weak logistics; cash-only buyers</a:t>
                      </a:r>
                    </a:p>
                  </a:txBody>
                  <a:tcPr anchor="ctr" marL="73152" marR="54864" marT="27432" marB="27432">
                    <a:solidFill>
                      <a:srgbClr val="EEF3F8"/>
                    </a:solidFill>
                  </a:tcPr>
                </a:tc>
              </a:tr>
              <a:tr h="630936">
                <a:tc>
                  <a:txBody>
                    <a:bodyPr wrap="square"/>
                    <a:lstStyle/>
                    <a:p>
                      <a:r>
                        <a:rPr sz="1050" b="1">
                          <a:solidFill>
                            <a:srgbClr val="0C2B4A"/>
                          </a:solidFill>
                        </a:rPr>
                        <a:t>Connectivity</a:t>
                      </a:r>
                    </a:p>
                  </a:txBody>
                  <a:tcPr anchor="ctr" marL="73152" marR="54864" marT="27432" marB="27432">
                    <a:solidFill>
                      <a:srgbClr val="FFFFFF"/>
                    </a:solidFill>
                  </a:tcPr>
                </a:tc>
                <a:tc>
                  <a:txBody>
                    <a:bodyPr wrap="square"/>
                    <a:lstStyle/>
                    <a:p>
                      <a:r>
                        <a:rPr sz="1050">
                          <a:solidFill>
                            <a:srgbClr val="1A1A1A"/>
                          </a:solidFill>
                        </a:rPr>
                        <a:t>Enables all of the above</a:t>
                      </a:r>
                    </a:p>
                  </a:txBody>
                  <a:tcPr anchor="ctr" marL="73152" marR="54864" marT="27432" marB="27432">
                    <a:solidFill>
                      <a:srgbClr val="FFFFFF"/>
                    </a:solidFill>
                  </a:tcPr>
                </a:tc>
                <a:tc>
                  <a:txBody>
                    <a:bodyPr wrap="square"/>
                    <a:lstStyle/>
                    <a:p>
                      <a:r>
                        <a:rPr sz="1050">
                          <a:solidFill>
                            <a:srgbClr val="1A1A1A"/>
                          </a:solidFill>
                        </a:rPr>
                        <a:t>Patchy rural internet, data cost</a:t>
                      </a:r>
                    </a:p>
                  </a:txBody>
                  <a:tcPr anchor="ctr" marL="73152" marR="54864" marT="27432" marB="27432">
                    <a:solidFill>
                      <a:srgbClr val="FFFFFF"/>
                    </a:solidFill>
                  </a:tcPr>
                </a:tc>
              </a:tr>
              <a:tr h="630936">
                <a:tc>
                  <a:txBody>
                    <a:bodyPr wrap="square"/>
                    <a:lstStyle/>
                    <a:p>
                      <a:r>
                        <a:rPr sz="1050" b="1">
                          <a:solidFill>
                            <a:srgbClr val="0C2B4A"/>
                          </a:solidFill>
                        </a:rPr>
                        <a:t>Adoption</a:t>
                      </a:r>
                    </a:p>
                  </a:txBody>
                  <a:tcPr anchor="ctr" marL="73152" marR="54864" marT="27432" marB="27432">
                    <a:solidFill>
                      <a:srgbClr val="EEF3F8"/>
                    </a:solidFill>
                  </a:tcPr>
                </a:tc>
                <a:tc>
                  <a:txBody>
                    <a:bodyPr wrap="square"/>
                    <a:lstStyle/>
                    <a:p>
                      <a:r>
                        <a:rPr sz="1050">
                          <a:solidFill>
                            <a:srgbClr val="1A1A1A"/>
                          </a:solidFill>
                        </a:rPr>
                        <a:t>Younger farmers adopt fast</a:t>
                      </a:r>
                    </a:p>
                  </a:txBody>
                  <a:tcPr anchor="ctr" marL="73152" marR="54864" marT="27432" marB="27432">
                    <a:solidFill>
                      <a:srgbClr val="EEF3F8"/>
                    </a:solidFill>
                  </a:tcPr>
                </a:tc>
                <a:tc>
                  <a:txBody>
                    <a:bodyPr wrap="square"/>
                    <a:lstStyle/>
                    <a:p>
                      <a:r>
                        <a:rPr sz="1050">
                          <a:solidFill>
                            <a:srgbClr val="1A1A1A"/>
                          </a:solidFill>
                        </a:rPr>
                        <a:t>Ageing farm population lags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TelePlantDoctor/FAO (2024) is reported — verify. The gap here is sharper than in trade/tourism because the farm population skews older and more rural — access, not tools, is the binding constraint.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Agriculture: Great Tool, Broken Access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vegetable farmer photographs a diseased tomato plant, and TelePlantDoctor returns a likely cause and treatment — advice that once needed a rare visiting technician. But his 60-year-old neighbour, on a 2G phone and unable to read the app, never benefits, even though his crop is failing too. The technology is genuinely world-class; the access — device, literacy, connectivity — is broken. Closing that gap, not inventing new apps, is the agenda.</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"Nepal's farmers lack good digital tools." The tools are excellent — AI advice, mobile banking, digital markets. The problem is the opposite: access. An ageing, rural, lower-literacy farm population on weak networks can't reach world-class tools. 'Great tool, broken access' names the real constraint. (TelePlantDoctor figure reported — verify.)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tools are transforming Nepali agriculture: AI crop advice (TelePlantDoctor, reported with FAO from 2024), mobile banking for inputs and payments, digital weather and market-price information, and e-markets linking farmers to buyers. But access is the binding constraint — many farmers are older, on 2G phones, with low digital literacy and patchy rural internet, so the excellent tool can't reach the person who needs it. The theme is 'great tool, broken access': the task is bridging access, not inventing more tools.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TelePlantDoctor (reported) · mobile banking · digital weather/prices · e-markets · 'great tool, broken access' · older/2G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SMEs: the Backbone Goes Digital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Small and medium enterprises are the backbone of Nepal's economy — reported at ~90% of businesses and 50%+ of employment. Digital transformation lets a tiny firm punch above its weight: accept payments by QR, sell through social commerce (Instagram, Facebook Marketplace), reach customers online, and manage stock with cheap apps. But barriers bite: collateral requirements block credit, a digital-skills gap limits adoption, and informality keeps many SMEs outside the formal system.</a:t>
            </a:r>
          </a:p>
          <a:p>
            <a:pPr>
              <a:spcAft>
                <a:spcPts val="500"/>
              </a:spcAft>
            </a:pPr>
            <a:r>
              <a:rPr sz="1200" b="1">
                <a:solidFill>
                  <a:srgbClr val="185FA5"/>
                </a:solidFill>
              </a:rPr>
              <a:t>HOW IT WORKS</a:t>
            </a:r>
          </a:p>
          <a:p>
            <a:pPr>
              <a:spcAft>
                <a:spcPts val="600"/>
              </a:spcAft>
            </a:pPr>
            <a:r>
              <a:rPr sz="1400">
                <a:solidFill>
                  <a:srgbClr val="1A1A1A"/>
                </a:solidFill>
              </a:rPr>
              <a:t>•  SMEs = reported ~90% of businesses, 50%+ of jobs — the economy's backbone.</a:t>
            </a:r>
          </a:p>
          <a:p>
            <a:pPr>
              <a:spcAft>
                <a:spcPts val="600"/>
              </a:spcAft>
            </a:pPr>
            <a:r>
              <a:rPr sz="1400">
                <a:solidFill>
                  <a:srgbClr val="1A1A1A"/>
                </a:solidFill>
              </a:rPr>
              <a:t>•  Digital wins: QR payments, social commerce, online reach, cheap management tools.</a:t>
            </a:r>
          </a:p>
          <a:p>
            <a:pPr>
              <a:spcAft>
                <a:spcPts val="600"/>
              </a:spcAft>
            </a:pPr>
            <a:r>
              <a:rPr sz="1400">
                <a:solidFill>
                  <a:srgbClr val="1A1A1A"/>
                </a:solidFill>
              </a:rPr>
              <a:t>•  Barriers: collateral for credit, digital-skills gap, informality/formalisation cost.</a:t>
            </a:r>
          </a:p>
          <a:p>
            <a:pPr>
              <a:spcAft>
                <a:spcPts val="600"/>
              </a:spcAft>
            </a:pPr>
            <a:r>
              <a:rPr sz="1400">
                <a:solidFill>
                  <a:srgbClr val="1A1A1A"/>
                </a:solidFill>
              </a:rPr>
              <a:t>•  Digital sales history can itself unlock credit — if lenders and rules use 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SMEs (~90% of firms, reported) go digital via QR &amp; social commerce — capped by credit, skills, informality.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SMEs in Nepal — the win vs the gap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319130"/>
                <a:gridCol w="4638260"/>
                <a:gridCol w="4472608"/>
              </a:tblGrid>
              <a:tr h="630936">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Digital win</a:t>
                      </a:r>
                    </a:p>
                  </a:txBody>
                  <a:tcPr anchor="ctr" marL="73152" marR="54864" marT="27432" marB="27432">
                    <a:solidFill>
                      <a:srgbClr val="0C2B4A"/>
                    </a:solidFill>
                  </a:tcPr>
                </a:tc>
                <a:tc>
                  <a:txBody>
                    <a:bodyPr wrap="square"/>
                    <a:lstStyle/>
                    <a:p>
                      <a:r>
                        <a:rPr sz="1100" b="1">
                          <a:solidFill>
                            <a:srgbClr val="FFFFFF"/>
                          </a:solidFill>
                        </a:rPr>
                        <a:t>The gap</a:t>
                      </a:r>
                    </a:p>
                  </a:txBody>
                  <a:tcPr anchor="ctr" marL="73152" marR="54864" marT="27432" marB="27432">
                    <a:solidFill>
                      <a:srgbClr val="0C2B4A"/>
                    </a:solidFill>
                  </a:tcPr>
                </a:tc>
              </a:tr>
              <a:tr h="630936">
                <a:tc>
                  <a:txBody>
                    <a:bodyPr wrap="square"/>
                    <a:lstStyle/>
                    <a:p>
                      <a:r>
                        <a:rPr sz="1050" b="1">
                          <a:solidFill>
                            <a:srgbClr val="0C2B4A"/>
                          </a:solidFill>
                        </a:rPr>
                        <a:t>Payments</a:t>
                      </a:r>
                    </a:p>
                  </a:txBody>
                  <a:tcPr anchor="ctr" marL="73152" marR="54864" marT="27432" marB="27432">
                    <a:solidFill>
                      <a:srgbClr val="FFFFFF"/>
                    </a:solidFill>
                  </a:tcPr>
                </a:tc>
                <a:tc>
                  <a:txBody>
                    <a:bodyPr wrap="square"/>
                    <a:lstStyle/>
                    <a:p>
                      <a:r>
                        <a:rPr sz="1050">
                          <a:solidFill>
                            <a:srgbClr val="1A1A1A"/>
                          </a:solidFill>
                        </a:rPr>
                        <a:t>Accept QR (NepalPay), fast settlement</a:t>
                      </a:r>
                    </a:p>
                  </a:txBody>
                  <a:tcPr anchor="ctr" marL="73152" marR="54864" marT="27432" marB="27432">
                    <a:solidFill>
                      <a:srgbClr val="FFFFFF"/>
                    </a:solidFill>
                  </a:tcPr>
                </a:tc>
                <a:tc>
                  <a:txBody>
                    <a:bodyPr wrap="square"/>
                    <a:lstStyle/>
                    <a:p>
                      <a:r>
                        <a:rPr sz="1050">
                          <a:solidFill>
                            <a:srgbClr val="1A1A1A"/>
                          </a:solidFill>
                        </a:rPr>
                        <a:t>Rural customers still cash-only</a:t>
                      </a:r>
                    </a:p>
                  </a:txBody>
                  <a:tcPr anchor="ctr" marL="73152" marR="54864" marT="27432" marB="27432">
                    <a:solidFill>
                      <a:srgbClr val="FFFFFF"/>
                    </a:solidFill>
                  </a:tcPr>
                </a:tc>
              </a:tr>
              <a:tr h="630936">
                <a:tc>
                  <a:txBody>
                    <a:bodyPr wrap="square"/>
                    <a:lstStyle/>
                    <a:p>
                      <a:r>
                        <a:rPr sz="1050" b="1">
                          <a:solidFill>
                            <a:srgbClr val="0C2B4A"/>
                          </a:solidFill>
                        </a:rPr>
                        <a:t>Sales channel</a:t>
                      </a:r>
                    </a:p>
                  </a:txBody>
                  <a:tcPr anchor="ctr" marL="73152" marR="54864" marT="27432" marB="27432">
                    <a:solidFill>
                      <a:srgbClr val="EEF3F8"/>
                    </a:solidFill>
                  </a:tcPr>
                </a:tc>
                <a:tc>
                  <a:txBody>
                    <a:bodyPr wrap="square"/>
                    <a:lstStyle/>
                    <a:p>
                      <a:r>
                        <a:rPr sz="1050">
                          <a:solidFill>
                            <a:srgbClr val="1A1A1A"/>
                          </a:solidFill>
                        </a:rPr>
                        <a:t>Social commerce (Insta/FB Marketplace)</a:t>
                      </a:r>
                    </a:p>
                  </a:txBody>
                  <a:tcPr anchor="ctr" marL="73152" marR="54864" marT="27432" marB="27432">
                    <a:solidFill>
                      <a:srgbClr val="EEF3F8"/>
                    </a:solidFill>
                  </a:tcPr>
                </a:tc>
                <a:tc>
                  <a:txBody>
                    <a:bodyPr wrap="square"/>
                    <a:lstStyle/>
                    <a:p>
                      <a:r>
                        <a:rPr sz="1050">
                          <a:solidFill>
                            <a:srgbClr val="1A1A1A"/>
                          </a:solidFill>
                        </a:rPr>
                        <a:t>Platform dependence; ad costs</a:t>
                      </a:r>
                    </a:p>
                  </a:txBody>
                  <a:tcPr anchor="ctr" marL="73152" marR="54864" marT="27432" marB="27432">
                    <a:solidFill>
                      <a:srgbClr val="EEF3F8"/>
                    </a:solidFill>
                  </a:tcPr>
                </a:tc>
              </a:tr>
              <a:tr h="630936">
                <a:tc>
                  <a:txBody>
                    <a:bodyPr wrap="square"/>
                    <a:lstStyle/>
                    <a:p>
                      <a:r>
                        <a:rPr sz="1050" b="1">
                          <a:solidFill>
                            <a:srgbClr val="0C2B4A"/>
                          </a:solidFill>
                        </a:rPr>
                        <a:t>Reach</a:t>
                      </a:r>
                    </a:p>
                  </a:txBody>
                  <a:tcPr anchor="ctr" marL="73152" marR="54864" marT="27432" marB="27432">
                    <a:solidFill>
                      <a:srgbClr val="FFFFFF"/>
                    </a:solidFill>
                  </a:tcPr>
                </a:tc>
                <a:tc>
                  <a:txBody>
                    <a:bodyPr wrap="square"/>
                    <a:lstStyle/>
                    <a:p>
                      <a:r>
                        <a:rPr sz="1050">
                          <a:solidFill>
                            <a:srgbClr val="1A1A1A"/>
                          </a:solidFill>
                        </a:rPr>
                        <a:t>Sell beyond the local street</a:t>
                      </a:r>
                    </a:p>
                  </a:txBody>
                  <a:tcPr anchor="ctr" marL="73152" marR="54864" marT="27432" marB="27432">
                    <a:solidFill>
                      <a:srgbClr val="FFFFFF"/>
                    </a:solidFill>
                  </a:tcPr>
                </a:tc>
                <a:tc>
                  <a:txBody>
                    <a:bodyPr wrap="square"/>
                    <a:lstStyle/>
                    <a:p>
                      <a:r>
                        <a:rPr sz="1050">
                          <a:solidFill>
                            <a:srgbClr val="1A1A1A"/>
                          </a:solidFill>
                        </a:rPr>
                        <a:t>Logistics &amp; delivery limits</a:t>
                      </a:r>
                    </a:p>
                  </a:txBody>
                  <a:tcPr anchor="ctr" marL="73152" marR="54864" marT="27432" marB="27432">
                    <a:solidFill>
                      <a:srgbClr val="FFFFFF"/>
                    </a:solidFill>
                  </a:tcPr>
                </a:tc>
              </a:tr>
              <a:tr h="630936">
                <a:tc>
                  <a:txBody>
                    <a:bodyPr wrap="square"/>
                    <a:lstStyle/>
                    <a:p>
                      <a:r>
                        <a:rPr sz="1050" b="1">
                          <a:solidFill>
                            <a:srgbClr val="0C2B4A"/>
                          </a:solidFill>
                        </a:rPr>
                        <a:t>Credit</a:t>
                      </a:r>
                    </a:p>
                  </a:txBody>
                  <a:tcPr anchor="ctr" marL="73152" marR="54864" marT="27432" marB="27432">
                    <a:solidFill>
                      <a:srgbClr val="EEF3F8"/>
                    </a:solidFill>
                  </a:tcPr>
                </a:tc>
                <a:tc>
                  <a:txBody>
                    <a:bodyPr wrap="square"/>
                    <a:lstStyle/>
                    <a:p>
                      <a:r>
                        <a:rPr sz="1050">
                          <a:solidFill>
                            <a:srgbClr val="1A1A1A"/>
                          </a:solidFill>
                        </a:rPr>
                        <a:t>Sales history can support a loan</a:t>
                      </a:r>
                    </a:p>
                  </a:txBody>
                  <a:tcPr anchor="ctr" marL="73152" marR="54864" marT="27432" marB="27432">
                    <a:solidFill>
                      <a:srgbClr val="EEF3F8"/>
                    </a:solidFill>
                  </a:tcPr>
                </a:tc>
                <a:tc>
                  <a:txBody>
                    <a:bodyPr wrap="square"/>
                    <a:lstStyle/>
                    <a:p>
                      <a:r>
                        <a:rPr sz="1050">
                          <a:solidFill>
                            <a:srgbClr val="1A1A1A"/>
                          </a:solidFill>
                        </a:rPr>
                        <a:t>Collateral still demanded; thin credit scoring</a:t>
                      </a:r>
                    </a:p>
                  </a:txBody>
                  <a:tcPr anchor="ctr" marL="73152" marR="54864" marT="27432" marB="27432">
                    <a:solidFill>
                      <a:srgbClr val="EEF3F8"/>
                    </a:solidFill>
                  </a:tcPr>
                </a:tc>
              </a:tr>
              <a:tr h="630936">
                <a:tc>
                  <a:txBody>
                    <a:bodyPr wrap="square"/>
                    <a:lstStyle/>
                    <a:p>
                      <a:r>
                        <a:rPr sz="1050" b="1">
                          <a:solidFill>
                            <a:srgbClr val="0C2B4A"/>
                          </a:solidFill>
                        </a:rPr>
                        <a:t>Skills</a:t>
                      </a:r>
                    </a:p>
                  </a:txBody>
                  <a:tcPr anchor="ctr" marL="73152" marR="54864" marT="27432" marB="27432">
                    <a:solidFill>
                      <a:srgbClr val="FFFFFF"/>
                    </a:solidFill>
                  </a:tcPr>
                </a:tc>
                <a:tc>
                  <a:txBody>
                    <a:bodyPr wrap="square"/>
                    <a:lstStyle/>
                    <a:p>
                      <a:r>
                        <a:rPr sz="1050">
                          <a:solidFill>
                            <a:srgbClr val="1A1A1A"/>
                          </a:solidFill>
                        </a:rPr>
                        <a:t>Cheap apps for stock &amp; accounts</a:t>
                      </a:r>
                    </a:p>
                  </a:txBody>
                  <a:tcPr anchor="ctr" marL="73152" marR="54864" marT="27432" marB="27432">
                    <a:solidFill>
                      <a:srgbClr val="FFFFFF"/>
                    </a:solidFill>
                  </a:tcPr>
                </a:tc>
                <a:tc>
                  <a:txBody>
                    <a:bodyPr wrap="square"/>
                    <a:lstStyle/>
                    <a:p>
                      <a:r>
                        <a:rPr sz="1050">
                          <a:solidFill>
                            <a:srgbClr val="1A1A1A"/>
                          </a:solidFill>
                        </a:rPr>
                        <a:t>Digital-skills gap, especially older owners</a:t>
                      </a:r>
                    </a:p>
                  </a:txBody>
                  <a:tcPr anchor="ctr" marL="73152" marR="54864" marT="27432" marB="27432">
                    <a:solidFill>
                      <a:srgbClr val="FFFFFF"/>
                    </a:solidFill>
                  </a:tcPr>
                </a:tc>
              </a:tr>
              <a:tr h="630936">
                <a:tc>
                  <a:txBody>
                    <a:bodyPr wrap="square"/>
                    <a:lstStyle/>
                    <a:p>
                      <a:r>
                        <a:rPr sz="1050" b="1">
                          <a:solidFill>
                            <a:srgbClr val="0C2B4A"/>
                          </a:solidFill>
                        </a:rPr>
                        <a:t>Formality</a:t>
                      </a:r>
                    </a:p>
                  </a:txBody>
                  <a:tcPr anchor="ctr" marL="73152" marR="54864" marT="27432" marB="27432">
                    <a:solidFill>
                      <a:srgbClr val="EEF3F8"/>
                    </a:solidFill>
                  </a:tcPr>
                </a:tc>
                <a:tc>
                  <a:txBody>
                    <a:bodyPr wrap="square"/>
                    <a:lstStyle/>
                    <a:p>
                      <a:r>
                        <a:rPr sz="1050">
                          <a:solidFill>
                            <a:srgbClr val="1A1A1A"/>
                          </a:solidFill>
                        </a:rPr>
                        <a:t>Digital records ease formalisation</a:t>
                      </a:r>
                    </a:p>
                  </a:txBody>
                  <a:tcPr anchor="ctr" marL="73152" marR="54864" marT="27432" marB="27432">
                    <a:solidFill>
                      <a:srgbClr val="EEF3F8"/>
                    </a:solidFill>
                  </a:tcPr>
                </a:tc>
                <a:tc>
                  <a:txBody>
                    <a:bodyPr wrap="square"/>
                    <a:lstStyle/>
                    <a:p>
                      <a:r>
                        <a:rPr sz="1050">
                          <a:solidFill>
                            <a:srgbClr val="1A1A1A"/>
                          </a:solidFill>
                        </a:rPr>
                        <a:t>Informality persists; formalising has cost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Figures (~90% of businesses, 50%+ of jobs) are reported — verify. The credit gap is the key one: digital sales history could replace collateral, linking back to S45's inclusion story.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SMEs: the Backbone Goes Digital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Palpa pickle-maker sells nationwide from a Facebook page, takes NepalPay QR, and packs orders from phone messages — a one-person firm with a national market. But when she wants a loan to scale, the bank asks for land collateral she doesn't have and ignores her visible digital sales history. Multiply her by the reported ~90% of businesses that are SMEs, and the credit-and-skills gap becomes the economy's gap.</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"SMEs are too small to matter to the digital economy." The reverse — SMEs are reported at ~90% of Nepal's businesses and half its jobs, so their digital adoption IS the digital economy. Their binding constraints are credit (collateral over sales history) and skills, not size. Fixing those scales the whole economy. (Figures reported.)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SMEs are the backbone of Nepal's economy (reported ~90% of businesses, 50%+ of employment). Digital transformation lets a tiny firm accept QR payments, sell via social commerce (Instagram, Facebook Marketplace), reach customers online, and manage stock cheaply. But barriers bite: collateral requirements block credit (despite visible digital sales history), a digital-skills gap limits adoption, and informality keeps many outside the formal system. Using digital sales history for credit is the key bridge, linking to financial inclusion (S45).</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SMEs ~90% of firms (reported) · QR + social commerce · barriers: collateral, skills, informality · sales history -&gt; credit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3 · [SYNTHESIS]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4-Sector Scorecard &amp; the Whole-Course Verdict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Close the unit and the course with one picture. Across all four sectors — trade, tourism, agriculture, SMEs — the pattern is identical: a genuine digital WIN, capped by an access/foundation GAP. That mirrors the whole course: platforms and network effects (U2), markets and strategy (U3), transformation and currencies (U4), and the economics of information (U5) all deliver in Nepal only as far as the Digital Foundation and enabling rules reach. The verdict: real, uneven, foundation-limited progress.</a:t>
            </a:r>
          </a:p>
          <a:p>
            <a:pPr>
              <a:spcAft>
                <a:spcPts val="500"/>
              </a:spcAft>
            </a:pPr>
            <a:r>
              <a:rPr sz="1200" b="1">
                <a:solidFill>
                  <a:srgbClr val="185FA5"/>
                </a:solidFill>
              </a:rPr>
              <a:t>HOW IT WORKS</a:t>
            </a:r>
          </a:p>
          <a:p>
            <a:pPr>
              <a:spcAft>
                <a:spcPts val="600"/>
              </a:spcAft>
            </a:pPr>
            <a:r>
              <a:rPr sz="1400">
                <a:solidFill>
                  <a:srgbClr val="1A1A1A"/>
                </a:solidFill>
              </a:rPr>
              <a:t>•  Four sectors, one shape: real digital win + access/foundation gap (the scorecard).</a:t>
            </a:r>
          </a:p>
          <a:p>
            <a:pPr>
              <a:spcAft>
                <a:spcPts val="600"/>
              </a:spcAft>
            </a:pPr>
            <a:r>
              <a:rPr sz="1400">
                <a:solidFill>
                  <a:srgbClr val="1A1A1A"/>
                </a:solidFill>
              </a:rPr>
              <a:t>•  Course arc: U2 platforms · U3 markets · U4 transformation/currencies · U5 information -&gt; U6 applies them to Nepal.</a:t>
            </a:r>
          </a:p>
          <a:p>
            <a:pPr>
              <a:spcAft>
                <a:spcPts val="600"/>
              </a:spcAft>
            </a:pPr>
            <a:r>
              <a:rPr sz="1400">
                <a:solidFill>
                  <a:srgbClr val="1A1A1A"/>
                </a:solidFill>
              </a:rPr>
              <a:t>•  Nepal's binding constraint is the Digital Foundation + rules (connectivity, ID, data law), not ideas or tools.</a:t>
            </a:r>
          </a:p>
          <a:p>
            <a:pPr>
              <a:spcAft>
                <a:spcPts val="600"/>
              </a:spcAft>
            </a:pPr>
            <a:r>
              <a:rPr sz="1400">
                <a:solidFill>
                  <a:srgbClr val="1A1A1A"/>
                </a:solidFill>
              </a:rPr>
              <a:t>•  Verdict: genuine, uneven, foundation-limited progress — a cashless, e-governed 2035 is possible but not guaranteed.</a:t>
            </a:r>
          </a:p>
        </p:txBody>
      </p:sp>
      <p:pic>
        <p:nvPicPr>
          <p:cNvPr id="6" name="Picture 5" descr="s48_sme_scorecard.png"/>
          <p:cNvPicPr>
            <a:picLocks noChangeAspect="1"/>
          </p:cNvPicPr>
          <p:nvPr/>
        </p:nvPicPr>
        <p:blipFill>
          <a:blip r:embed="rId2"/>
          <a:stretch>
            <a:fillRect/>
          </a:stretch>
        </p:blipFill>
        <p:spPr>
          <a:xfrm>
            <a:off x="6355080" y="2631377"/>
            <a:ext cx="5532120" cy="237248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4-sector scorecard: each sector = a real win capped by an access/foundation gap.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4-sector digital scorecard — win vs gap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53478"/>
                <a:gridCol w="4638260"/>
                <a:gridCol w="4638260"/>
              </a:tblGrid>
              <a:tr h="883310">
                <a:tc>
                  <a:txBody>
                    <a:bodyPr wrap="square"/>
                    <a:lstStyle/>
                    <a:p>
                      <a:r>
                        <a:rPr sz="1150" b="1">
                          <a:solidFill>
                            <a:srgbClr val="FFFFFF"/>
                          </a:solidFill>
                        </a:rPr>
                        <a:t>Sector</a:t>
                      </a:r>
                    </a:p>
                  </a:txBody>
                  <a:tcPr anchor="ctr" marL="73152" marR="54864" marT="27432" marB="27432">
                    <a:solidFill>
                      <a:srgbClr val="0C2B4A"/>
                    </a:solidFill>
                  </a:tcPr>
                </a:tc>
                <a:tc>
                  <a:txBody>
                    <a:bodyPr wrap="square"/>
                    <a:lstStyle/>
                    <a:p>
                      <a:r>
                        <a:rPr sz="1150" b="1">
                          <a:solidFill>
                            <a:srgbClr val="FFFFFF"/>
                          </a:solidFill>
                        </a:rPr>
                        <a:t>Digital win</a:t>
                      </a:r>
                    </a:p>
                  </a:txBody>
                  <a:tcPr anchor="ctr" marL="73152" marR="54864" marT="27432" marB="27432">
                    <a:solidFill>
                      <a:srgbClr val="0C2B4A"/>
                    </a:solidFill>
                  </a:tcPr>
                </a:tc>
                <a:tc>
                  <a:txBody>
                    <a:bodyPr wrap="square"/>
                    <a:lstStyle/>
                    <a:p>
                      <a:r>
                        <a:rPr sz="1150" b="1">
                          <a:solidFill>
                            <a:srgbClr val="FFFFFF"/>
                          </a:solidFill>
                        </a:rPr>
                        <a:t>Main gap</a:t>
                      </a:r>
                    </a:p>
                  </a:txBody>
                  <a:tcPr anchor="ctr" marL="73152" marR="54864" marT="27432" marB="27432">
                    <a:solidFill>
                      <a:srgbClr val="0C2B4A"/>
                    </a:solidFill>
                  </a:tcPr>
                </a:tc>
              </a:tr>
              <a:tr h="883310">
                <a:tc>
                  <a:txBody>
                    <a:bodyPr wrap="square"/>
                    <a:lstStyle/>
                    <a:p>
                      <a:r>
                        <a:rPr sz="1100" b="1">
                          <a:solidFill>
                            <a:srgbClr val="0C2B4A"/>
                          </a:solidFill>
                        </a:rPr>
                        <a:t>Trade</a:t>
                      </a:r>
                    </a:p>
                  </a:txBody>
                  <a:tcPr anchor="ctr" marL="73152" marR="54864" marT="27432" marB="27432">
                    <a:solidFill>
                      <a:srgbClr val="FFFFFF"/>
                    </a:solidFill>
                  </a:tcPr>
                </a:tc>
                <a:tc>
                  <a:txBody>
                    <a:bodyPr wrap="square"/>
                    <a:lstStyle/>
                    <a:p>
                      <a:r>
                        <a:rPr sz="1100">
                          <a:solidFill>
                            <a:srgbClr val="1A1A1A"/>
                          </a:solidFill>
                        </a:rPr>
                        <a:t>E-commerce, UPI-Nepal, no middleman</a:t>
                      </a:r>
                    </a:p>
                  </a:txBody>
                  <a:tcPr anchor="ctr" marL="73152" marR="54864" marT="27432" marB="27432">
                    <a:solidFill>
                      <a:srgbClr val="FFFFFF"/>
                    </a:solidFill>
                  </a:tcPr>
                </a:tc>
                <a:tc>
                  <a:txBody>
                    <a:bodyPr wrap="square"/>
                    <a:lstStyle/>
                    <a:p>
                      <a:r>
                        <a:rPr sz="1100">
                          <a:solidFill>
                            <a:srgbClr val="1A1A1A"/>
                          </a:solidFill>
                        </a:rPr>
                        <a:t>Cash-only &amp; logistics beyond cities; LDC-2026</a:t>
                      </a:r>
                    </a:p>
                  </a:txBody>
                  <a:tcPr anchor="ctr" marL="73152" marR="54864" marT="27432" marB="27432">
                    <a:solidFill>
                      <a:srgbClr val="FFFFFF"/>
                    </a:solidFill>
                  </a:tcPr>
                </a:tc>
              </a:tr>
              <a:tr h="883310">
                <a:tc>
                  <a:txBody>
                    <a:bodyPr wrap="square"/>
                    <a:lstStyle/>
                    <a:p>
                      <a:r>
                        <a:rPr sz="1100" b="1">
                          <a:solidFill>
                            <a:srgbClr val="0C2B4A"/>
                          </a:solidFill>
                        </a:rPr>
                        <a:t>Tourism</a:t>
                      </a:r>
                    </a:p>
                  </a:txBody>
                  <a:tcPr anchor="ctr" marL="73152" marR="54864" marT="27432" marB="27432">
                    <a:solidFill>
                      <a:srgbClr val="EEF3F8"/>
                    </a:solidFill>
                  </a:tcPr>
                </a:tc>
                <a:tc>
                  <a:txBody>
                    <a:bodyPr wrap="square"/>
                    <a:lstStyle/>
                    <a:p>
                      <a:r>
                        <a:rPr sz="1100">
                          <a:solidFill>
                            <a:srgbClr val="1A1A1A"/>
                          </a:solidFill>
                        </a:rPr>
                        <a:t>Near-zero-cost global reach, QR ticketing</a:t>
                      </a:r>
                    </a:p>
                  </a:txBody>
                  <a:tcPr anchor="ctr" marL="73152" marR="54864" marT="27432" marB="27432">
                    <a:solidFill>
                      <a:srgbClr val="EEF3F8"/>
                    </a:solidFill>
                  </a:tcPr>
                </a:tc>
                <a:tc>
                  <a:txBody>
                    <a:bodyPr wrap="square"/>
                    <a:lstStyle/>
                    <a:p>
                      <a:r>
                        <a:rPr sz="1100">
                          <a:solidFill>
                            <a:srgbClr val="1A1A1A"/>
                          </a:solidFill>
                        </a:rPr>
                        <a:t>Seasonality; rural cash-only</a:t>
                      </a:r>
                    </a:p>
                  </a:txBody>
                  <a:tcPr anchor="ctr" marL="73152" marR="54864" marT="27432" marB="27432">
                    <a:solidFill>
                      <a:srgbClr val="EEF3F8"/>
                    </a:solidFill>
                  </a:tcPr>
                </a:tc>
              </a:tr>
              <a:tr h="883310">
                <a:tc>
                  <a:txBody>
                    <a:bodyPr wrap="square"/>
                    <a:lstStyle/>
                    <a:p>
                      <a:r>
                        <a:rPr sz="1100" b="1">
                          <a:solidFill>
                            <a:srgbClr val="0C2B4A"/>
                          </a:solidFill>
                        </a:rPr>
                        <a:t>Agriculture</a:t>
                      </a:r>
                    </a:p>
                  </a:txBody>
                  <a:tcPr anchor="ctr" marL="73152" marR="54864" marT="27432" marB="27432">
                    <a:solidFill>
                      <a:srgbClr val="FFFFFF"/>
                    </a:solidFill>
                  </a:tcPr>
                </a:tc>
                <a:tc>
                  <a:txBody>
                    <a:bodyPr wrap="square"/>
                    <a:lstStyle/>
                    <a:p>
                      <a:r>
                        <a:rPr sz="1100">
                          <a:solidFill>
                            <a:srgbClr val="1A1A1A"/>
                          </a:solidFill>
                        </a:rPr>
                        <a:t>AI advice (TelePlantDoctor), m-banking</a:t>
                      </a:r>
                    </a:p>
                  </a:txBody>
                  <a:tcPr anchor="ctr" marL="73152" marR="54864" marT="27432" marB="27432">
                    <a:solidFill>
                      <a:srgbClr val="FFFFFF"/>
                    </a:solidFill>
                  </a:tcPr>
                </a:tc>
                <a:tc>
                  <a:txBody>
                    <a:bodyPr wrap="square"/>
                    <a:lstStyle/>
                    <a:p>
                      <a:r>
                        <a:rPr sz="1100">
                          <a:solidFill>
                            <a:srgbClr val="1A1A1A"/>
                          </a:solidFill>
                        </a:rPr>
                        <a:t>2G, older farmers, low literacy</a:t>
                      </a:r>
                    </a:p>
                  </a:txBody>
                  <a:tcPr anchor="ctr" marL="73152" marR="54864" marT="27432" marB="27432">
                    <a:solidFill>
                      <a:srgbClr val="FFFFFF"/>
                    </a:solidFill>
                  </a:tcPr>
                </a:tc>
              </a:tr>
              <a:tr h="883312">
                <a:tc>
                  <a:txBody>
                    <a:bodyPr wrap="square"/>
                    <a:lstStyle/>
                    <a:p>
                      <a:r>
                        <a:rPr sz="1100" b="1">
                          <a:solidFill>
                            <a:srgbClr val="0C2B4A"/>
                          </a:solidFill>
                        </a:rPr>
                        <a:t>SMEs</a:t>
                      </a:r>
                    </a:p>
                  </a:txBody>
                  <a:tcPr anchor="ctr" marL="73152" marR="54864" marT="27432" marB="27432">
                    <a:solidFill>
                      <a:srgbClr val="EEF3F8"/>
                    </a:solidFill>
                  </a:tcPr>
                </a:tc>
                <a:tc>
                  <a:txBody>
                    <a:bodyPr wrap="square"/>
                    <a:lstStyle/>
                    <a:p>
                      <a:r>
                        <a:rPr sz="1100">
                          <a:solidFill>
                            <a:srgbClr val="1A1A1A"/>
                          </a:solidFill>
                        </a:rPr>
                        <a:t>QR + social commerce; national reach</a:t>
                      </a:r>
                    </a:p>
                  </a:txBody>
                  <a:tcPr anchor="ctr" marL="73152" marR="54864" marT="27432" marB="27432">
                    <a:solidFill>
                      <a:srgbClr val="EEF3F8"/>
                    </a:solidFill>
                  </a:tcPr>
                </a:tc>
                <a:tc>
                  <a:txBody>
                    <a:bodyPr wrap="square"/>
                    <a:lstStyle/>
                    <a:p>
                      <a:r>
                        <a:rPr sz="1100">
                          <a:solidFill>
                            <a:srgbClr val="1A1A1A"/>
                          </a:solidFill>
                        </a:rPr>
                        <a:t>Collateral for credit; skills gap; informality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 shape across all four sectors: a genuine digital win capped by an access/foundation gap. Fixing the Digital Foundation (S44) is the single lever that widens every win. Figures reported — verify.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S48 · CONCEPT 3 · [SYNTHESIS]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Whole-Course Verdict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Zoom out across IT 250: platforms and network effects (U2) explain eSewa and Daraz; markets and strategy (U3) explain how they compete; transformation and digital currency (U4) explain the payment rails; the economics of information (U5) explain data-driven value — and Unit 6 shows all of it landing in Nepal only as far as connectivity, identity and data law reach. The four-sector scorecard is the course in one table: real wins, real gaps, one foundation to fix.</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 is either a digital success or a digital failure." The whole course rejects the binary. Every sector and every unit shows the same honest shape — genuine progress, capped by the Digital Foundation and missing rules (e.g. a Data Protection Act). A cashless, e-governed Nepal by 2035 is achievable IF the foundation and rules are fixed; it is not automatic.</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four-sector scorecard (trade, tourism, agriculture, SMEs) shows one shape everywhere: a genuine digital WIN capped by an access/foundation GAP. This mirrors the whole course — platforms/network effects (U2), markets/strategy (U3), transformation/currencies (U4), economics of information (U5) all deliver in Nepal only as far as the Digital Foundation (connectivity, digital ID, payment rails) and enabling rules (incl. a Data Protection Act) reach. Verdict: real, uneven, foundation-limited progress — 2035 possible, not guaranteed.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4-sector scorecard · one shape: win + gap · course synthesis (U2–U6) · Digital Foundation is the lever · 2035 possible not certain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S48 — 'Nepal 2035' (capstone)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using the 4-sector scorecard, argue whether Nepal can be cashless &amp; e-governed by 2035.</a:t>
            </a:r>
          </a:p>
          <a:p>
            <a:pPr>
              <a:spcAft>
                <a:spcPts val="700"/>
              </a:spcAft>
            </a:pPr>
            <a:r>
              <a:rPr sz="1550">
                <a:solidFill>
                  <a:srgbClr val="1A1A1A"/>
                </a:solidFill>
              </a:rPr>
              <a:t>•  Cite one win, one gap, and the single foundation fix that would matter most.</a:t>
            </a:r>
          </a:p>
          <a:p>
            <a:pPr>
              <a:spcAft>
                <a:spcPts val="700"/>
              </a:spcAft>
            </a:pPr>
            <a:r>
              <a:rPr sz="1550">
                <a:solidFill>
                  <a:srgbClr val="1A1A1A"/>
                </a:solidFill>
              </a:rPr>
              <a:t>•  State your verdict (yes / no / conditional) and your one key condition.</a:t>
            </a:r>
          </a:p>
          <a:p>
            <a:pPr>
              <a:spcAft>
                <a:spcPts val="700"/>
              </a:spcAft>
            </a:pPr>
            <a:r>
              <a:rPr sz="1550">
                <a:solidFill>
                  <a:srgbClr val="1A1A1A"/>
                </a:solidFill>
              </a:rPr>
              <a:t>•  Take 3–4 answers aloud (2 min); most land on 'conditional on fixing the foundation &amp; data law'.</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capstone answers pair scorecard evidence with the data-protection gap (S46) and the Digital Foundation (S44), ending 'possible IF connectivity, ID and a Data Protection Act are delivered'. Reward a reasoned conditional verdict over a slogan.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single phrase that best captures Nepali digital agriculture is:</a:t>
            </a:r>
          </a:p>
          <a:p>
            <a:pPr lvl="1"/>
            <a:r>
              <a:rPr sz="1500" b="1">
                <a:solidFill>
                  <a:srgbClr val="0F6E56"/>
                </a:solidFill>
              </a:rPr>
              <a:t>a) no tools exist   b) fully digital   c) ✅ great tool, broken access   d) illegal</a:t>
            </a:r>
          </a:p>
          <a:p>
            <a:pPr lvl="1">
              <a:spcBef>
                <a:spcPts val="600"/>
              </a:spcBef>
            </a:pPr>
            <a:r>
              <a:rPr sz="1500" i="1">
                <a:solidFill>
                  <a:srgbClr val="1A1A1A"/>
                </a:solidFill>
              </a:rPr>
              <a:t>     Why: the AI/mobile tools are excellent, but older, rural, 2G, low-literacy farmers can't reach them.</a:t>
            </a:r>
          </a:p>
          <a:p>
            <a:pPr>
              <a:spcBef>
                <a:spcPts val="900"/>
              </a:spcBef>
            </a:pPr>
            <a:r>
              <a:rPr sz="1700" b="1">
                <a:solidFill>
                  <a:srgbClr val="0C2B4A"/>
                </a:solidFill>
              </a:rPr>
              <a:t>Q2.  SMEs matter to Nepal's digital economy because they are reported to be:</a:t>
            </a:r>
          </a:p>
          <a:p>
            <a:pPr lvl="1"/>
            <a:r>
              <a:rPr sz="1500" b="1">
                <a:solidFill>
                  <a:srgbClr val="0F6E56"/>
                </a:solidFill>
              </a:rPr>
              <a:t>a) 5% of firms   b) foreign-owned   c) ✅ ~90% of businesses &amp; 50%+ of jobs   d) all in Kathmandu</a:t>
            </a:r>
          </a:p>
          <a:p>
            <a:pPr lvl="1">
              <a:spcBef>
                <a:spcPts val="600"/>
              </a:spcBef>
            </a:pPr>
            <a:r>
              <a:rPr sz="1500" i="1">
                <a:solidFill>
                  <a:srgbClr val="1A1A1A"/>
                </a:solidFill>
              </a:rPr>
              <a:t>     Why: SMEs are the backbone, so their digital adoption largely IS the digital economy. (Figures reported.)</a:t>
            </a:r>
          </a:p>
          <a:p>
            <a:pPr lvl="1">
              <a:spcBef>
                <a:spcPts val="600"/>
              </a:spcBef>
            </a:pPr>
            <a:r>
              <a:rPr sz="1500" i="1">
                <a:solidFill>
                  <a:srgbClr val="1A1A1A"/>
                </a:solidFill>
              </a:rPr>
              <a:t>Discussion: using the 4-sector scorecard, can Nepal be cashless &amp; e-governed by 2035? Defend a verdict.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Agriculture: world-class digital tools (TelePlantDoctor, m-banking) held back by broken rural access.</a:t>
            </a:r>
          </a:p>
          <a:p>
            <a:pPr>
              <a:spcAft>
                <a:spcPts val="800"/>
              </a:spcAft>
            </a:pPr>
            <a:r>
              <a:rPr sz="1500">
                <a:solidFill>
                  <a:srgbClr val="1A1A1A"/>
                </a:solidFill>
              </a:rPr>
              <a:t>2.  SMEs (reported ~90% of firms, 50%+ jobs) go digital via QR &amp; social commerce — capped by credit, skills, informality.</a:t>
            </a:r>
          </a:p>
          <a:p>
            <a:pPr>
              <a:spcAft>
                <a:spcPts val="800"/>
              </a:spcAft>
            </a:pPr>
            <a:r>
              <a:rPr sz="1500">
                <a:solidFill>
                  <a:srgbClr val="1A1A1A"/>
                </a:solidFill>
              </a:rPr>
              <a:t>3.  The 4-sector scorecard = the whole course in one table: real wins, real gaps, one Digital Foundation to fix.</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closes IT 250: every unit and every Nepali sector shows genuine, uneven, foundation-limited progress. Whether Nepal reaches a cashless, e-governed 2035 depends on delivering the foundation, closing the divide, and passing a data-protection law — not on new ideas.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End of Unit 6 and end of IT 250. Next: consolidate with the cheat sheet, glossary, and end-of-course revision quiz.</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E-gov concepts &amp; goals (S42)</a:t>
            </a:r>
          </a:p>
          <a:p>
            <a:pPr>
              <a:spcBef>
                <a:spcPts val="300"/>
              </a:spcBef>
            </a:pPr>
            <a:r>
              <a:rPr sz="1200">
                <a:solidFill>
                  <a:srgbClr val="1A1A1A"/>
                </a:solidFill>
              </a:rPr>
              <a:t>E-governance = ICT to run/deliver government (redesign, not scanning). 4 goals: Transparency, Efficiency, Accountability, Participation (T-E-A-P). 4 types by counterpart: G2C (citizens), G2B (business), G2G (agencies), G2E (employees). Nagarik App, IRD e-VAT, PPMO.</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Process, structure, maturity (S43)</a:t>
            </a:r>
          </a:p>
          <a:p>
            <a:pPr>
              <a:spcBef>
                <a:spcPts val="300"/>
              </a:spcBef>
            </a:pPr>
            <a:r>
              <a:rPr sz="1200">
                <a:solidFill>
                  <a:srgbClr val="1A1A1A"/>
                </a:solidFill>
              </a:rPr>
              <a:t>Process: Input-&gt;Process-&gt;Output-&gt;Feedback (a loop). Architecture: Presentation/Application/Data/Infrastructure; security wraps all. Maturity ladder: emerging-&gt;enhanced-&gt;transactional-&gt;connected. Nepal ~transactional (siloed), not yet connected.</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Practices &amp; policy (S44)</a:t>
            </a:r>
          </a:p>
          <a:p>
            <a:pPr>
              <a:spcBef>
                <a:spcPts val="300"/>
              </a:spcBef>
            </a:pPr>
            <a:r>
              <a:rPr sz="1200">
                <a:solidFill>
                  <a:srgbClr val="1A1A1A"/>
                </a:solidFill>
              </a:rPr>
              <a:t>Initiatives: Nagarik App, ConnectIPS, online passport, IRD, GIDC, broadband. Policy stack (verify): IT Policy 2072; Digital Nepal Framework 2019 (8 sectors: Digital Foundation + Agriculture/Health/Education/Energy/Tourism/Finance/Urban); National ID; proposed Startup Act. Gap = delivery &amp; integration.</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Financial inclusion (S45)</a:t>
            </a:r>
          </a:p>
          <a:p>
            <a:pPr>
              <a:spcBef>
                <a:spcPts val="300"/>
              </a:spcBef>
            </a:pPr>
            <a:r>
              <a:rPr sz="1200">
                <a:solidFill>
                  <a:srgbClr val="1A1A1A"/>
                </a:solidFill>
              </a:rPr>
              <a:t>Inclusion = affordable formal finance, USED, digitally (cash-&gt;records-&gt;credit). Ecosystem: eSewa/Khalti/IME Pay + bank apps + NepalPay QR. Flow: User-&gt;platform-&gt;bank-&gt;receiver. Regulators: NRB (money — Payment &amp; Settlement Act 2075, switch, KYC) + NTA (connectivity). Rural last-mile gap.</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Opportunities, challenges, data gap (S46)</a:t>
            </a:r>
          </a:p>
          <a:p>
            <a:pPr>
              <a:spcBef>
                <a:spcPts val="300"/>
              </a:spcBef>
            </a:pPr>
            <a:r>
              <a:rPr sz="1200">
                <a:solidFill>
                  <a:srgbClr val="1A1A1A"/>
                </a:solidFill>
              </a:rPr>
              <a:t>Honest scorecard: each win (no-queue, e-procurement, COVID push, ward services) has a matching gap. Digital divide: geography/income/age/gender/disability/language. Data-protection gap: Privacy Act 2075 + ETA 2063 exist, but NO dedicated Data Protection Act (threatens all wins).</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Sector performance (S47–S48)</a:t>
            </a:r>
          </a:p>
          <a:p>
            <a:pPr>
              <a:spcBef>
                <a:spcPts val="300"/>
              </a:spcBef>
            </a:pPr>
            <a:r>
              <a:rPr sz="1200">
                <a:solidFill>
                  <a:srgbClr val="1A1A1A"/>
                </a:solidFill>
              </a:rPr>
              <a:t>One shape across trade/tourism/agriculture/SMEs: real digital WIN + access/foundation GAP. Trade: e-commerce, UPI-Nepal, LDC-2026. Tourism: global reach, QR ticketing. Agriculture: 'great tool, broken access' (TelePlantDoctor). SMEs ~90% of firms. Fix = Digital Foundation. Figures reported.</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E-governance — </a:t>
            </a:r>
            <a:r>
              <a:rPr sz="1150">
                <a:solidFill>
                  <a:srgbClr val="1A1A1A"/>
                </a:solidFill>
              </a:rPr>
              <a:t>Using ICT to deliver and run government services and interaction.</a:t>
            </a:r>
          </a:p>
          <a:p>
            <a:pPr>
              <a:spcAft>
                <a:spcPts val="600"/>
              </a:spcAft>
            </a:pPr>
            <a:r>
              <a:rPr sz="1150" b="1">
                <a:solidFill>
                  <a:srgbClr val="0C2B4A"/>
                </a:solidFill>
              </a:rPr>
              <a:t>E-government vs e-democracy — </a:t>
            </a:r>
            <a:r>
              <a:rPr sz="1150">
                <a:solidFill>
                  <a:srgbClr val="1A1A1A"/>
                </a:solidFill>
              </a:rPr>
              <a:t>Service delivery vs participation/decision-making online.</a:t>
            </a:r>
          </a:p>
          <a:p>
            <a:pPr>
              <a:spcAft>
                <a:spcPts val="600"/>
              </a:spcAft>
            </a:pPr>
            <a:r>
              <a:rPr sz="1150" b="1">
                <a:solidFill>
                  <a:srgbClr val="0C2B4A"/>
                </a:solidFill>
              </a:rPr>
              <a:t>G2C / G2B / G2G / G2E — </a:t>
            </a:r>
            <a:r>
              <a:rPr sz="1150">
                <a:solidFill>
                  <a:srgbClr val="1A1A1A"/>
                </a:solidFill>
              </a:rPr>
              <a:t>Government to Citizen / Business / Government / Employee.</a:t>
            </a:r>
          </a:p>
          <a:p>
            <a:pPr>
              <a:spcAft>
                <a:spcPts val="600"/>
              </a:spcAft>
            </a:pPr>
            <a:r>
              <a:rPr sz="1150" b="1">
                <a:solidFill>
                  <a:srgbClr val="0C2B4A"/>
                </a:solidFill>
              </a:rPr>
              <a:t>Transparency — </a:t>
            </a:r>
            <a:r>
              <a:rPr sz="1150">
                <a:solidFill>
                  <a:srgbClr val="1A1A1A"/>
                </a:solidFill>
              </a:rPr>
              <a:t>Open information and processes citizens can see.</a:t>
            </a:r>
          </a:p>
          <a:p>
            <a:pPr>
              <a:spcAft>
                <a:spcPts val="600"/>
              </a:spcAft>
            </a:pPr>
            <a:r>
              <a:rPr sz="1150" b="1">
                <a:solidFill>
                  <a:srgbClr val="0C2B4A"/>
                </a:solidFill>
              </a:rPr>
              <a:t>Accountability — </a:t>
            </a:r>
            <a:r>
              <a:rPr sz="1150">
                <a:solidFill>
                  <a:srgbClr val="1A1A1A"/>
                </a:solidFill>
              </a:rPr>
              <a:t>Digital records create an auditable, traceable trail.</a:t>
            </a:r>
          </a:p>
          <a:p>
            <a:pPr>
              <a:spcAft>
                <a:spcPts val="600"/>
              </a:spcAft>
            </a:pPr>
            <a:r>
              <a:rPr sz="1150" b="1">
                <a:solidFill>
                  <a:srgbClr val="0C2B4A"/>
                </a:solidFill>
              </a:rPr>
              <a:t>Participation — </a:t>
            </a:r>
            <a:r>
              <a:rPr sz="1150">
                <a:solidFill>
                  <a:srgbClr val="1A1A1A"/>
                </a:solidFill>
              </a:rPr>
              <a:t>Feedback, grievance and consultation channels for citizens.</a:t>
            </a:r>
          </a:p>
          <a:p>
            <a:pPr>
              <a:spcAft>
                <a:spcPts val="600"/>
              </a:spcAft>
            </a:pPr>
            <a:r>
              <a:rPr sz="1150" b="1">
                <a:solidFill>
                  <a:srgbClr val="0C2B4A"/>
                </a:solidFill>
              </a:rPr>
              <a:t>Process model — </a:t>
            </a:r>
            <a:r>
              <a:rPr sz="1150">
                <a:solidFill>
                  <a:srgbClr val="1A1A1A"/>
                </a:solidFill>
              </a:rPr>
              <a:t>Input -&gt; Process -&gt; Output -&gt; Feedback (a loop).</a:t>
            </a:r>
          </a:p>
          <a:p>
            <a:pPr>
              <a:spcAft>
                <a:spcPts val="600"/>
              </a:spcAft>
            </a:pPr>
            <a:r>
              <a:rPr sz="1150" b="1">
                <a:solidFill>
                  <a:srgbClr val="0C2B4A"/>
                </a:solidFill>
              </a:rPr>
              <a:t>Presentation layer — </a:t>
            </a:r>
            <a:r>
              <a:rPr sz="1150">
                <a:solidFill>
                  <a:srgbClr val="1A1A1A"/>
                </a:solidFill>
              </a:rPr>
              <a:t>The app/website/portal the citizen sees.</a:t>
            </a:r>
          </a:p>
          <a:p>
            <a:pPr>
              <a:spcAft>
                <a:spcPts val="600"/>
              </a:spcAft>
            </a:pPr>
            <a:r>
              <a:rPr sz="1150" b="1">
                <a:solidFill>
                  <a:srgbClr val="0C2B4A"/>
                </a:solidFill>
              </a:rPr>
              <a:t>Application layer — </a:t>
            </a:r>
            <a:r>
              <a:rPr sz="1150">
                <a:solidFill>
                  <a:srgbClr val="1A1A1A"/>
                </a:solidFill>
              </a:rPr>
              <a:t>Business logic — rules, workflows, validation.</a:t>
            </a:r>
          </a:p>
          <a:p>
            <a:pPr>
              <a:spcAft>
                <a:spcPts val="600"/>
              </a:spcAft>
            </a:pPr>
            <a:r>
              <a:rPr sz="1150" b="1">
                <a:solidFill>
                  <a:srgbClr val="0C2B4A"/>
                </a:solidFill>
              </a:rPr>
              <a:t>Data layer — </a:t>
            </a:r>
            <a:r>
              <a:rPr sz="1150">
                <a:solidFill>
                  <a:srgbClr val="1A1A1A"/>
                </a:solidFill>
              </a:rPr>
              <a:t>Databases and registries (citizen, PAN, vehicle, land).</a:t>
            </a:r>
          </a:p>
          <a:p>
            <a:pPr>
              <a:spcAft>
                <a:spcPts val="600"/>
              </a:spcAft>
            </a:pPr>
            <a:r>
              <a:rPr sz="1150" b="1">
                <a:solidFill>
                  <a:srgbClr val="0C2B4A"/>
                </a:solidFill>
              </a:rPr>
              <a:t>Infrastructure layer — </a:t>
            </a:r>
            <a:r>
              <a:rPr sz="1150">
                <a:solidFill>
                  <a:srgbClr val="1A1A1A"/>
                </a:solidFill>
              </a:rPr>
              <a:t>Servers, network, data centre (e.g. GIDC).</a:t>
            </a:r>
          </a:p>
          <a:p>
            <a:pPr>
              <a:spcAft>
                <a:spcPts val="600"/>
              </a:spcAft>
            </a:pPr>
            <a:r>
              <a:rPr sz="1150" b="1">
                <a:solidFill>
                  <a:srgbClr val="0C2B4A"/>
                </a:solidFill>
              </a:rPr>
              <a:t>Maturity stages — </a:t>
            </a:r>
            <a:r>
              <a:rPr sz="1150">
                <a:solidFill>
                  <a:srgbClr val="1A1A1A"/>
                </a:solidFill>
              </a:rPr>
              <a:t>Emerging -&gt; enhanced -&gt; transactional -&gt; connected.</a:t>
            </a:r>
          </a:p>
          <a:p>
            <a:pPr>
              <a:spcAft>
                <a:spcPts val="600"/>
              </a:spcAft>
            </a:pPr>
            <a:r>
              <a:rPr sz="1150" b="1">
                <a:solidFill>
                  <a:srgbClr val="0C2B4A"/>
                </a:solidFill>
              </a:rPr>
              <a:t>Connected government — </a:t>
            </a:r>
            <a:r>
              <a:rPr sz="1150">
                <a:solidFill>
                  <a:srgbClr val="1A1A1A"/>
                </a:solidFill>
              </a:rPr>
              <a:t>Services joined across agencies around one identity.</a:t>
            </a:r>
          </a:p>
          <a:p>
            <a:pPr>
              <a:spcAft>
                <a:spcPts val="600"/>
              </a:spcAft>
            </a:pPr>
            <a:r>
              <a:rPr sz="1150" b="1">
                <a:solidFill>
                  <a:srgbClr val="0C2B4A"/>
                </a:solidFill>
              </a:rPr>
              <a:t>Nagarik App — </a:t>
            </a:r>
            <a:r>
              <a:rPr sz="1150">
                <a:solidFill>
                  <a:srgbClr val="1A1A1A"/>
                </a:solidFill>
              </a:rPr>
              <a:t>Nepal's single citizen-services app (records, payments).</a:t>
            </a:r>
          </a:p>
          <a:p>
            <a:pPr>
              <a:spcAft>
                <a:spcPts val="600"/>
              </a:spcAft>
            </a:pPr>
            <a:r>
              <a:rPr sz="1150" b="1">
                <a:solidFill>
                  <a:srgbClr val="0C2B4A"/>
                </a:solidFill>
              </a:rPr>
              <a:t>ConnectIPS — </a:t>
            </a:r>
            <a:r>
              <a:rPr sz="1150">
                <a:solidFill>
                  <a:srgbClr val="1A1A1A"/>
                </a:solidFill>
              </a:rPr>
              <a:t>NCHL interbank transfer &amp; bill-payment rail.</a:t>
            </a:r>
          </a:p>
          <a:p>
            <a:pPr>
              <a:spcAft>
                <a:spcPts val="600"/>
              </a:spcAft>
            </a:pPr>
            <a:r>
              <a:rPr sz="1150" b="1">
                <a:solidFill>
                  <a:srgbClr val="0C2B4A"/>
                </a:solidFill>
              </a:rPr>
              <a:t>IT Policy 2072 (2015) — </a:t>
            </a:r>
            <a:r>
              <a:rPr sz="1150">
                <a:solidFill>
                  <a:srgbClr val="1A1A1A"/>
                </a:solidFill>
              </a:rPr>
              <a:t>Framework to promote IT, e-gov and IT parks.</a:t>
            </a:r>
          </a:p>
          <a:p>
            <a:pPr>
              <a:spcAft>
                <a:spcPts val="600"/>
              </a:spcAft>
            </a:pPr>
            <a:r>
              <a:rPr sz="1150" b="1">
                <a:solidFill>
                  <a:srgbClr val="0C2B4A"/>
                </a:solidFill>
              </a:rPr>
              <a:t>Digital Nepal Framework 2019 — </a:t>
            </a:r>
            <a:r>
              <a:rPr sz="1150">
                <a:solidFill>
                  <a:srgbClr val="1A1A1A"/>
                </a:solidFill>
              </a:rPr>
              <a:t>Roadmap of ~80 initiatives across 8 sectors.</a:t>
            </a:r>
          </a:p>
          <a:p>
            <a:pPr>
              <a:spcAft>
                <a:spcPts val="600"/>
              </a:spcAft>
            </a:pPr>
            <a:r>
              <a:rPr sz="1150" b="1">
                <a:solidFill>
                  <a:srgbClr val="0C2B4A"/>
                </a:solidFill>
              </a:rPr>
              <a:t>Digital Foundation — </a:t>
            </a:r>
            <a:r>
              <a:rPr sz="1150">
                <a:solidFill>
                  <a:srgbClr val="1A1A1A"/>
                </a:solidFill>
              </a:rPr>
              <a:t>The base sector: connectivity, ID, payment rails, data centres.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National ID — </a:t>
            </a:r>
            <a:r>
              <a:rPr sz="1150">
                <a:solidFill>
                  <a:srgbClr val="1A1A1A"/>
                </a:solidFill>
              </a:rPr>
              <a:t>Rastriya Parichaya Patra — one digital identity per citizen.</a:t>
            </a:r>
          </a:p>
          <a:p>
            <a:pPr>
              <a:spcAft>
                <a:spcPts val="600"/>
              </a:spcAft>
            </a:pPr>
            <a:r>
              <a:rPr sz="1150" b="1">
                <a:solidFill>
                  <a:srgbClr val="0C2B4A"/>
                </a:solidFill>
              </a:rPr>
              <a:t>Startup Act (proposed) — </a:t>
            </a:r>
            <a:r>
              <a:rPr sz="1150">
                <a:solidFill>
                  <a:srgbClr val="1A1A1A"/>
                </a:solidFill>
              </a:rPr>
              <a:t>Proposed tax holiday &amp; seed funding for startups.</a:t>
            </a:r>
          </a:p>
          <a:p>
            <a:pPr>
              <a:spcAft>
                <a:spcPts val="600"/>
              </a:spcAft>
            </a:pPr>
            <a:r>
              <a:rPr sz="1150" b="1">
                <a:solidFill>
                  <a:srgbClr val="0C2B4A"/>
                </a:solidFill>
              </a:rPr>
              <a:t>Digital financial inclusion — </a:t>
            </a:r>
            <a:r>
              <a:rPr sz="1150">
                <a:solidFill>
                  <a:srgbClr val="1A1A1A"/>
                </a:solidFill>
              </a:rPr>
              <a:t>Affordable formal finance, used, via digital channels.</a:t>
            </a:r>
          </a:p>
          <a:p>
            <a:pPr>
              <a:spcAft>
                <a:spcPts val="600"/>
              </a:spcAft>
            </a:pPr>
            <a:r>
              <a:rPr sz="1150" b="1">
                <a:solidFill>
                  <a:srgbClr val="0C2B4A"/>
                </a:solidFill>
              </a:rPr>
              <a:t>NepalPay QR — </a:t>
            </a:r>
            <a:r>
              <a:rPr sz="1150">
                <a:solidFill>
                  <a:srgbClr val="1A1A1A"/>
                </a:solidFill>
              </a:rPr>
              <a:t>Interoperable QR standard — any wallet pays any merchant.</a:t>
            </a:r>
          </a:p>
          <a:p>
            <a:pPr>
              <a:spcAft>
                <a:spcPts val="600"/>
              </a:spcAft>
            </a:pPr>
            <a:r>
              <a:rPr sz="1150" b="1">
                <a:solidFill>
                  <a:srgbClr val="0C2B4A"/>
                </a:solidFill>
              </a:rPr>
              <a:t>National Payment Switch — </a:t>
            </a:r>
            <a:r>
              <a:rPr sz="1150">
                <a:solidFill>
                  <a:srgbClr val="1A1A1A"/>
                </a:solidFill>
              </a:rPr>
              <a:t>Routes &amp; settles payments between banks/wallets (NCHL).</a:t>
            </a:r>
          </a:p>
          <a:p>
            <a:pPr>
              <a:spcAft>
                <a:spcPts val="600"/>
              </a:spcAft>
            </a:pPr>
            <a:r>
              <a:rPr sz="1150" b="1">
                <a:solidFill>
                  <a:srgbClr val="0C2B4A"/>
                </a:solidFill>
              </a:rPr>
              <a:t>NRB — </a:t>
            </a:r>
            <a:r>
              <a:rPr sz="1150">
                <a:solidFill>
                  <a:srgbClr val="1A1A1A"/>
                </a:solidFill>
              </a:rPr>
              <a:t>Nepal Rastra Bank — regulates payments/money (Act 2075, KYC).</a:t>
            </a:r>
          </a:p>
          <a:p>
            <a:pPr>
              <a:spcAft>
                <a:spcPts val="600"/>
              </a:spcAft>
            </a:pPr>
            <a:r>
              <a:rPr sz="1150" b="1">
                <a:solidFill>
                  <a:srgbClr val="0C2B4A"/>
                </a:solidFill>
              </a:rPr>
              <a:t>NTA — </a:t>
            </a:r>
            <a:r>
              <a:rPr sz="1150">
                <a:solidFill>
                  <a:srgbClr val="1A1A1A"/>
                </a:solidFill>
              </a:rPr>
              <a:t>Nepal Telecommunications Authority — regulates telecom/internet.</a:t>
            </a:r>
          </a:p>
          <a:p>
            <a:pPr>
              <a:spcAft>
                <a:spcPts val="600"/>
              </a:spcAft>
            </a:pPr>
            <a:r>
              <a:rPr sz="1150" b="1">
                <a:solidFill>
                  <a:srgbClr val="0C2B4A"/>
                </a:solidFill>
              </a:rPr>
              <a:t>KYC — </a:t>
            </a:r>
            <a:r>
              <a:rPr sz="1150">
                <a:solidFill>
                  <a:srgbClr val="1A1A1A"/>
                </a:solidFill>
              </a:rPr>
              <a:t>Know Your Customer — identity checks for financial accounts.</a:t>
            </a:r>
          </a:p>
          <a:p>
            <a:pPr>
              <a:spcAft>
                <a:spcPts val="600"/>
              </a:spcAft>
            </a:pPr>
            <a:r>
              <a:rPr sz="1150" b="1">
                <a:solidFill>
                  <a:srgbClr val="0C2B4A"/>
                </a:solidFill>
              </a:rPr>
              <a:t>Digital divide — </a:t>
            </a:r>
            <a:r>
              <a:rPr sz="1150">
                <a:solidFill>
                  <a:srgbClr val="1A1A1A"/>
                </a:solidFill>
              </a:rPr>
              <a:t>Who is left out — geography, income, age, gender, disability, language.</a:t>
            </a:r>
          </a:p>
          <a:p>
            <a:pPr>
              <a:spcAft>
                <a:spcPts val="600"/>
              </a:spcAft>
            </a:pPr>
            <a:r>
              <a:rPr sz="1150" b="1">
                <a:solidFill>
                  <a:srgbClr val="0C2B4A"/>
                </a:solidFill>
              </a:rPr>
              <a:t>Individual Privacy Act 2075 — </a:t>
            </a:r>
            <a:r>
              <a:rPr sz="1150">
                <a:solidFill>
                  <a:srgbClr val="1A1A1A"/>
                </a:solidFill>
              </a:rPr>
              <a:t>Nepal's basic privacy right (thin on data handling).</a:t>
            </a:r>
          </a:p>
          <a:p>
            <a:pPr>
              <a:spcAft>
                <a:spcPts val="600"/>
              </a:spcAft>
            </a:pPr>
            <a:r>
              <a:rPr sz="1150" b="1">
                <a:solidFill>
                  <a:srgbClr val="0C2B4A"/>
                </a:solidFill>
              </a:rPr>
              <a:t>Electronic Transactions Act 2063 — </a:t>
            </a:r>
            <a:r>
              <a:rPr sz="1150">
                <a:solidFill>
                  <a:srgbClr val="1A1A1A"/>
                </a:solidFill>
              </a:rPr>
              <a:t>E-records, e-signature, cybercrime (dated).</a:t>
            </a:r>
          </a:p>
          <a:p>
            <a:pPr>
              <a:spcAft>
                <a:spcPts val="600"/>
              </a:spcAft>
            </a:pPr>
            <a:r>
              <a:rPr sz="1150" b="1">
                <a:solidFill>
                  <a:srgbClr val="0C2B4A"/>
                </a:solidFill>
              </a:rPr>
              <a:t>Data Protection Act (missing) — </a:t>
            </a:r>
            <a:r>
              <a:rPr sz="1150">
                <a:solidFill>
                  <a:srgbClr val="1A1A1A"/>
                </a:solidFill>
              </a:rPr>
              <a:t>The absent unified law on data collection/sharing/security.</a:t>
            </a:r>
          </a:p>
          <a:p>
            <a:pPr>
              <a:spcAft>
                <a:spcPts val="600"/>
              </a:spcAft>
            </a:pPr>
            <a:r>
              <a:rPr sz="1150" b="1">
                <a:solidFill>
                  <a:srgbClr val="0C2B4A"/>
                </a:solidFill>
              </a:rPr>
              <a:t>Honest scorecard — </a:t>
            </a:r>
            <a:r>
              <a:rPr sz="1150">
                <a:solidFill>
                  <a:srgbClr val="1A1A1A"/>
                </a:solidFill>
              </a:rPr>
              <a:t>Pairing each digital win with its matching gap.</a:t>
            </a:r>
          </a:p>
          <a:p>
            <a:pPr>
              <a:spcAft>
                <a:spcPts val="600"/>
              </a:spcAft>
            </a:pPr>
            <a:r>
              <a:rPr sz="1150" b="1">
                <a:solidFill>
                  <a:srgbClr val="0C2B4A"/>
                </a:solidFill>
              </a:rPr>
              <a:t>LDC graduation (~2026) — </a:t>
            </a:r>
            <a:r>
              <a:rPr sz="1150">
                <a:solidFill>
                  <a:srgbClr val="1A1A1A"/>
                </a:solidFill>
              </a:rPr>
              <a:t>Reported loss of some trade preferences -&gt; digital-trade urgency.</a:t>
            </a:r>
          </a:p>
          <a:p>
            <a:pPr>
              <a:spcAft>
                <a:spcPts val="600"/>
              </a:spcAft>
            </a:pPr>
            <a:r>
              <a:rPr sz="1150" b="1">
                <a:solidFill>
                  <a:srgbClr val="0C2B4A"/>
                </a:solidFill>
              </a:rPr>
              <a:t>UPI-Nepal — </a:t>
            </a:r>
            <a:r>
              <a:rPr sz="1150">
                <a:solidFill>
                  <a:srgbClr val="1A1A1A"/>
                </a:solidFill>
              </a:rPr>
              <a:t>Reported cross-border (with India) instant-payment link.</a:t>
            </a:r>
          </a:p>
          <a:p>
            <a:pPr>
              <a:spcAft>
                <a:spcPts val="600"/>
              </a:spcAft>
            </a:pPr>
            <a:r>
              <a:rPr sz="1150" b="1">
                <a:solidFill>
                  <a:srgbClr val="0C2B4A"/>
                </a:solidFill>
              </a:rPr>
              <a:t>Social commerce — </a:t>
            </a:r>
            <a:r>
              <a:rPr sz="1150">
                <a:solidFill>
                  <a:srgbClr val="1A1A1A"/>
                </a:solidFill>
              </a:rPr>
              <a:t>Selling via Instagram / Facebook Marketplace.</a:t>
            </a:r>
          </a:p>
          <a:p>
            <a:pPr>
              <a:spcAft>
                <a:spcPts val="600"/>
              </a:spcAft>
            </a:pPr>
            <a:r>
              <a:rPr sz="1150" b="1">
                <a:solidFill>
                  <a:srgbClr val="0C2B4A"/>
                </a:solidFill>
              </a:rPr>
              <a:t>TelePlantDoctor — </a:t>
            </a:r>
            <a:r>
              <a:rPr sz="1150">
                <a:solidFill>
                  <a:srgbClr val="1A1A1A"/>
                </a:solidFill>
              </a:rPr>
              <a:t>Reported AI crop-advice tool (FAO, 2024).</a:t>
            </a:r>
          </a:p>
          <a:p>
            <a:pPr>
              <a:spcAft>
                <a:spcPts val="600"/>
              </a:spcAft>
            </a:pPr>
            <a:r>
              <a:rPr sz="1150" b="1">
                <a:solidFill>
                  <a:srgbClr val="0C2B4A"/>
                </a:solidFill>
              </a:rPr>
              <a:t>'Great tool, broken access' — </a:t>
            </a:r>
            <a:r>
              <a:rPr sz="1150">
                <a:solidFill>
                  <a:srgbClr val="1A1A1A"/>
                </a:solidFill>
              </a:rPr>
              <a:t>Excellent digital tools that access barriers keep out of reach.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6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(a/b/c/d, answers marked and keyed), then short-answer, applied-case and discussion questions to work from the concept slides and Unit6_material.md.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97 / 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marked; key below)</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1. E-governance means:  a) govt websites only  b) ✅ using ICT to deliver/run public services  c) buying computers  d) the internet</a:t>
            </a:r>
          </a:p>
          <a:p>
            <a:pPr>
              <a:spcBef>
                <a:spcPts val="500"/>
              </a:spcBef>
            </a:pPr>
            <a:r>
              <a:rPr sz="1400" b="1">
                <a:solidFill>
                  <a:srgbClr val="0C2B4A"/>
                </a:solidFill>
              </a:rPr>
              <a:t>2. Filing VAT on the IRD portal is:  a) G2C  b) ✅ G2B  c) G2G  d) G2E</a:t>
            </a:r>
          </a:p>
          <a:p>
            <a:pPr>
              <a:spcBef>
                <a:spcPts val="500"/>
              </a:spcBef>
            </a:pPr>
            <a:r>
              <a:rPr sz="1400" b="1">
                <a:solidFill>
                  <a:srgbClr val="0C2B4A"/>
                </a:solidFill>
              </a:rPr>
              <a:t>3. The process model order is:  a) output-input-process-feedback  b) ✅ input-process-output-feedback  c) process-input-output-feedback  d) input-output-feedback-process</a:t>
            </a:r>
          </a:p>
          <a:p>
            <a:pPr>
              <a:spcBef>
                <a:spcPts val="500"/>
              </a:spcBef>
            </a:pPr>
            <a:r>
              <a:rPr sz="1400" b="1">
                <a:solidFill>
                  <a:srgbClr val="0C2B4A"/>
                </a:solidFill>
              </a:rPr>
              <a:t>4. Citizen/PAN/vehicle registries live in the:  a) presentation layer  b) application layer  c) ✅ data layer  d) — none</a:t>
            </a:r>
          </a:p>
          <a:p>
            <a:pPr>
              <a:spcBef>
                <a:spcPts val="500"/>
              </a:spcBef>
            </a:pPr>
            <a:r>
              <a:rPr sz="1400" b="1">
                <a:solidFill>
                  <a:srgbClr val="0C2B4A"/>
                </a:solidFill>
              </a:rPr>
              <a:t>5. Nepal's e-gov maturity is reportedly around:  a) emerging  b) enhanced  c) ✅ transactional  d) connected</a:t>
            </a:r>
          </a:p>
          <a:p>
            <a:pPr>
              <a:spcBef>
                <a:spcPts val="500"/>
              </a:spcBef>
            </a:pPr>
            <a:r>
              <a:rPr sz="1400" b="1">
                <a:solidFill>
                  <a:srgbClr val="0C2B4A"/>
                </a:solidFill>
              </a:rPr>
              <a:t>6. The Digital Nepal Framework (2019) is:  a) a bank  b) a wallet  c) a law  d) ✅ a roadmap of ~80 initiatives / 8 sectors</a:t>
            </a:r>
          </a:p>
          <a:p>
            <a:pPr>
              <a:spcBef>
                <a:spcPts val="500"/>
              </a:spcBef>
            </a:pPr>
            <a:r>
              <a:rPr sz="1400" b="1">
                <a:solidFill>
                  <a:srgbClr val="0C2B4A"/>
                </a:solidFill>
              </a:rPr>
              <a:t>7. Nepal's payments regulator (licenses wallets, NepalPay QR) is:  a) NTA  b) ✅ NRB  c) Daraz  d) the ward office</a:t>
            </a:r>
          </a:p>
          <a:p>
            <a:pPr>
              <a:spcBef>
                <a:spcPts val="500"/>
              </a:spcBef>
            </a:pPr>
            <a:r>
              <a:rPr sz="1400" b="1">
                <a:solidFill>
                  <a:srgbClr val="0C2B4A"/>
                </a:solidFill>
              </a:rPr>
              <a:t>8. Nepal's key data-protection gap is:  a) too many laws  b) ✅ no dedicated Data Protection Act  c) no internet  d) no computers</a:t>
            </a:r>
          </a:p>
          <a:p>
            <a:pPr>
              <a:spcBef>
                <a:spcPts val="500"/>
              </a:spcBef>
            </a:pPr>
            <a:r>
              <a:rPr sz="1400" b="1">
                <a:solidFill>
                  <a:srgbClr val="0C2B4A"/>
                </a:solidFill>
              </a:rPr>
              <a:t>9. The digital divide is mainly about:  a) app colours  b) ✅ who is left out (rural/poor/old/etc.)  c) server brands  d) tax rates</a:t>
            </a:r>
          </a:p>
          <a:p>
            <a:pPr>
              <a:spcBef>
                <a:spcPts val="500"/>
              </a:spcBef>
            </a:pPr>
            <a:r>
              <a:rPr sz="1400" b="1">
                <a:solidFill>
                  <a:srgbClr val="0C2B4A"/>
                </a:solidFill>
              </a:rPr>
              <a:t>10. Nepal's reported LDC graduation ~2026 implies:  a) e-commerce ban  b) ✅ loss of some trade preferences  c) closing Daraz  d) wallet tariffs</a:t>
            </a:r>
          </a:p>
          <a:p>
            <a:pPr>
              <a:spcBef>
                <a:spcPts val="500"/>
              </a:spcBef>
            </a:pPr>
            <a:r>
              <a:rPr sz="1400" b="1">
                <a:solidFill>
                  <a:srgbClr val="0C2B4A"/>
                </a:solidFill>
              </a:rPr>
              <a:t>11. 'Great tool, broken access' best describes Nepali:  a) tourism  b) ✅ agriculture  c) banking apps  d) e-procurement</a:t>
            </a:r>
          </a:p>
          <a:p>
            <a:pPr>
              <a:spcBef>
                <a:spcPts val="500"/>
              </a:spcBef>
            </a:pPr>
            <a:r>
              <a:rPr sz="1400" b="1">
                <a:solidFill>
                  <a:srgbClr val="0C2B4A"/>
                </a:solidFill>
              </a:rPr>
              <a:t>12. SMEs are reported to be roughly:  a) 5% of firms  b) foreign-owned  c) all in Kathmandu  d) ✅ 90% of businesses / 50%+ of jobs</a:t>
            </a:r>
          </a:p>
          <a:p>
            <a:pPr lvl="1"/>
            <a:r>
              <a:rPr sz="1250" b="1">
                <a:solidFill>
                  <a:srgbClr val="0F6E56"/>
                </a:solidFill>
              </a:rPr>
              <a:t>ANSWER KEY:  1-b · 2-b · 3-b · 4-c · 5-c · 6-d · 7-b · 8-b · 9-b · 10-b · 11-b · 12-d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e-governance + its 4 goals.   14. Name the G2C/G2B/G2G/G2E types with a Nepal example each.   15. Define digital financial inclusion + 2 benefits.</a:t>
            </a:r>
          </a:p>
          <a:p>
            <a:pPr lvl="1">
              <a:spcBef>
                <a:spcPts val="200"/>
              </a:spcBef>
            </a:pPr>
            <a:r>
              <a:rPr sz="1250" i="1">
                <a:solidFill>
                  <a:srgbClr val="1A1A1A"/>
                </a:solidFill>
              </a:rPr>
              <a:t>16. State Nepal's data-protection gap.   17. What is the Digital Nepal Framework's purpose (and its 8 sectors)?</a:t>
            </a:r>
          </a:p>
          <a:p>
            <a:pPr>
              <a:spcBef>
                <a:spcPts val="500"/>
              </a:spcBef>
            </a:pPr>
            <a:r>
              <a:rPr sz="1400" b="1">
                <a:solidFill>
                  <a:srgbClr val="0C2B4A"/>
                </a:solidFill>
              </a:rPr>
              <a:t>Section C — Applied case (use the lecture characters)</a:t>
            </a:r>
          </a:p>
          <a:p>
            <a:pPr lvl="1">
              <a:spcBef>
                <a:spcPts val="200"/>
              </a:spcBef>
            </a:pPr>
            <a:r>
              <a:rPr sz="1250" i="1">
                <a:solidFill>
                  <a:srgbClr val="1A1A1A"/>
                </a:solidFill>
              </a:rPr>
              <a:t>18. Sita in Humla / Kanchhi Maiya: identify the challenge she faces with a digital service and propose a concrete solution.</a:t>
            </a:r>
          </a:p>
          <a:p>
            <a:pPr lvl="1">
              <a:spcBef>
                <a:spcPts val="200"/>
              </a:spcBef>
            </a:pPr>
            <a:r>
              <a:rPr sz="1250" i="1">
                <a:solidFill>
                  <a:srgbClr val="1A1A1A"/>
                </a:solidFill>
              </a:rPr>
              <a:t>19. Pick ONE sector (trade / tourism / agriculture / SMEs) and assess its digital win vs its gap using the scorecard.</a:t>
            </a:r>
          </a:p>
          <a:p>
            <a:pPr>
              <a:spcBef>
                <a:spcPts val="500"/>
              </a:spcBef>
            </a:pPr>
            <a:r>
              <a:rPr sz="1400" b="1">
                <a:solidFill>
                  <a:srgbClr val="0C2B4A"/>
                </a:solidFill>
              </a:rPr>
              <a:t>Section D — Discussion</a:t>
            </a:r>
          </a:p>
          <a:p>
            <a:pPr lvl="1">
              <a:spcBef>
                <a:spcPts val="200"/>
              </a:spcBef>
            </a:pPr>
            <a:r>
              <a:rPr sz="1250" i="1">
                <a:solidFill>
                  <a:srgbClr val="1A1A1A"/>
                </a:solidFill>
              </a:rPr>
              <a:t>20. 'Can Nepal be a fully digital, cashless, e-governed society by 2035?' Argue using the scorecard, the data-protection gap, and the digital divide.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6 — and End of IT 250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S42–S48 complete: e-governance concepts/goals · process, structure &amp; maturity · Nepal practices &amp; the policy stack · digital financial inclusion &amp; its regulation · public-sector opportunities, challenges &amp; the data-protection gap · trade, tourism, agriculture &amp; SMEs — the 4-sector scorecard.  THE COURSE IS COMPLETE: Units 1–6 done.</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Nepal-localised · policy/figures flagged 'verify current status' / 'reported'. Verdict: real, uneven, foundation-limited progress — a cashless, e-governed 2035 is possible, not guaranteed.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100 /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